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60" r:id="rId4"/>
  </p:sldMasterIdLst>
  <p:notesMasterIdLst>
    <p:notesMasterId r:id="rId18"/>
  </p:notesMasterIdLst>
  <p:handoutMasterIdLst>
    <p:handoutMasterId r:id="rId19"/>
  </p:handoutMasterIdLst>
  <p:sldIdLst>
    <p:sldId id="256" r:id="rId5"/>
    <p:sldId id="271" r:id="rId6"/>
    <p:sldId id="272" r:id="rId7"/>
    <p:sldId id="273" r:id="rId8"/>
    <p:sldId id="274" r:id="rId9"/>
    <p:sldId id="275" r:id="rId10"/>
    <p:sldId id="276" r:id="rId11"/>
    <p:sldId id="277" r:id="rId12"/>
    <p:sldId id="278" r:id="rId13"/>
    <p:sldId id="279" r:id="rId14"/>
    <p:sldId id="280" r:id="rId15"/>
    <p:sldId id="282" r:id="rId16"/>
    <p:sldId id="281"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4726"/>
    <a:srgbClr val="404040"/>
    <a:srgbClr val="FF9B45"/>
    <a:srgbClr val="DD462F"/>
    <a:srgbClr val="F8CFB6"/>
    <a:srgbClr val="F8CAB6"/>
    <a:srgbClr val="923922"/>
    <a:srgbClr val="F5F5F5"/>
    <a:srgbClr val="F2F2F2"/>
    <a:srgbClr val="D2B4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311" autoAdjust="0"/>
    <p:restoredTop sz="94241" autoAdjust="0"/>
  </p:normalViewPr>
  <p:slideViewPr>
    <p:cSldViewPr snapToGrid="0">
      <p:cViewPr>
        <p:scale>
          <a:sx n="107" d="100"/>
          <a:sy n="107" d="100"/>
        </p:scale>
        <p:origin x="-320" y="55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4" d="100"/>
          <a:sy n="84" d="100"/>
        </p:scale>
        <p:origin x="3828" y="9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commentAuthors" Target="commen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0680FBE-A8DF-4758-9AC4-3A9E1039168F}" type="datetimeFigureOut">
              <a:rPr lang="en-US" smtClean="0"/>
              <a:t>2/5/25</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C679768-A2FC-4D08-91F6-8DCE6C566B36}" type="slidenum">
              <a:rPr lang="en-US" smtClean="0"/>
              <a:t>‹#›</a:t>
            </a:fld>
            <a:endParaRPr lang="en-US" dirty="0"/>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13577B-6902-467D-A26C-08A0DD5E4E03}" type="datetimeFigureOut">
              <a:rPr lang="en-US" smtClean="0"/>
              <a:t>2/5/25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61EA0F-A667-4B49-8422-0062BC55E249}" type="slidenum">
              <a:rPr lang="en-US" smtClean="0"/>
              <a:t>‹#›</a:t>
            </a:fld>
            <a:endParaRPr lang="en-US" dirty="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1</a:t>
            </a:fld>
            <a:endParaRPr lang="en-US" dirty="0"/>
          </a:p>
        </p:txBody>
      </p:sp>
    </p:spTree>
    <p:extLst>
      <p:ext uri="{BB962C8B-B14F-4D97-AF65-F5344CB8AC3E}">
        <p14:creationId xmlns:p14="http://schemas.microsoft.com/office/powerpoint/2010/main" val="1011769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le 1"/>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9" name="Rectangle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cxnSp>
        <p:nvCxnSpPr>
          <p:cNvPr id="12" name="Straight Connector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Title 3"/>
          <p:cNvSpPr>
            <a:spLocks noGrp="1"/>
          </p:cNvSpPr>
          <p:nvPr>
            <p:ph type="title"/>
          </p:nvPr>
        </p:nvSpPr>
        <p:spPr>
          <a:xfrm>
            <a:off x="521207" y="448056"/>
            <a:ext cx="6877119" cy="640080"/>
          </a:xfrm>
        </p:spPr>
        <p:txBody>
          <a:bodyPr anchor="b" anchorCtr="0">
            <a:normAutofit/>
          </a:bodyPr>
          <a:lstStyle>
            <a:lvl1pPr>
              <a:defRPr sz="2800">
                <a:solidFill>
                  <a:schemeClr val="bg2">
                    <a:lumMod val="25000"/>
                  </a:schemeClr>
                </a:solidFill>
              </a:defRPr>
            </a:lvl1pPr>
          </a:lstStyle>
          <a:p>
            <a:r>
              <a:rPr lang="en-US"/>
              <a:t>Click to edit Master title style</a:t>
            </a:r>
            <a:endParaRPr lang="en-US" dirty="0"/>
          </a:p>
        </p:txBody>
      </p:sp>
      <p:sp>
        <p:nvSpPr>
          <p:cNvPr id="3" name="Content Placeholder 2"/>
          <p:cNvSpPr>
            <a:spLocks noGrp="1"/>
          </p:cNvSpPr>
          <p:nvPr>
            <p:ph sz="quarter" idx="10"/>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defRPr>
            </a:lvl1pPr>
            <a:lvl2pPr>
              <a:defRPr lang="en-US" sz="1200" smtClean="0">
                <a:solidFill>
                  <a:schemeClr val="tx1">
                    <a:lumMod val="75000"/>
                    <a:lumOff val="25000"/>
                  </a:schemeClr>
                </a:solidFill>
              </a:defRPr>
            </a:lvl2pPr>
            <a:lvl3pPr>
              <a:defRPr lang="en-US" sz="1200" smtClean="0">
                <a:solidFill>
                  <a:schemeClr val="tx1">
                    <a:lumMod val="75000"/>
                    <a:lumOff val="25000"/>
                  </a:schemeClr>
                </a:solidFill>
              </a:defRPr>
            </a:lvl3pPr>
            <a:lvl4pPr>
              <a:defRPr lang="en-US" sz="1200" smtClean="0">
                <a:solidFill>
                  <a:schemeClr val="tx1">
                    <a:lumMod val="75000"/>
                    <a:lumOff val="25000"/>
                  </a:schemeClr>
                </a:solidFill>
              </a:defRPr>
            </a:lvl4pPr>
            <a:lvl5pPr>
              <a:defRPr lang="en-US" sz="1200">
                <a:solidFill>
                  <a:schemeClr val="tx1">
                    <a:lumMod val="75000"/>
                    <a:lumOff val="25000"/>
                  </a:schemeClr>
                </a:solidFill>
              </a:defRPr>
            </a:lvl5pPr>
          </a:lstStyle>
          <a:p>
            <a:pPr marL="0" lvl="0" indent="0">
              <a:lnSpc>
                <a:spcPct val="150000"/>
              </a:lnSpc>
              <a:spcBef>
                <a:spcPts val="1000"/>
              </a:spcBef>
              <a:spcAft>
                <a:spcPts val="1200"/>
              </a:spcAft>
              <a:buNone/>
            </a:pPr>
            <a:r>
              <a:rPr lang="en-US"/>
              <a:t>Edit Master text styles</a:t>
            </a:r>
          </a:p>
          <a:p>
            <a:pPr marL="0" lvl="1" indent="0">
              <a:lnSpc>
                <a:spcPct val="150000"/>
              </a:lnSpc>
              <a:spcBef>
                <a:spcPts val="1000"/>
              </a:spcBef>
              <a:spcAft>
                <a:spcPts val="1200"/>
              </a:spcAft>
              <a:buNone/>
            </a:pPr>
            <a:r>
              <a:rPr lang="en-US"/>
              <a:t>Second level</a:t>
            </a:r>
          </a:p>
          <a:p>
            <a:pPr marL="0" lvl="2" indent="0">
              <a:lnSpc>
                <a:spcPct val="150000"/>
              </a:lnSpc>
              <a:spcBef>
                <a:spcPts val="1000"/>
              </a:spcBef>
              <a:spcAft>
                <a:spcPts val="1200"/>
              </a:spcAft>
              <a:buNone/>
            </a:pPr>
            <a:r>
              <a:rPr lang="en-US"/>
              <a:t>Third level</a:t>
            </a:r>
          </a:p>
          <a:p>
            <a:pPr marL="0" lvl="3" indent="0">
              <a:lnSpc>
                <a:spcPct val="150000"/>
              </a:lnSpc>
              <a:spcBef>
                <a:spcPts val="1000"/>
              </a:spcBef>
              <a:spcAft>
                <a:spcPts val="1200"/>
              </a:spcAft>
              <a:buNone/>
            </a:pPr>
            <a:r>
              <a:rPr lang="en-US"/>
              <a:t>Fourth level</a:t>
            </a:r>
          </a:p>
          <a:p>
            <a:pPr marL="0" lvl="4" indent="0">
              <a:lnSpc>
                <a:spcPct val="150000"/>
              </a:lnSpc>
              <a:spcBef>
                <a:spcPts val="1000"/>
              </a:spcBef>
              <a:spcAft>
                <a:spcPts val="1200"/>
              </a:spcAft>
              <a:buNone/>
            </a:pPr>
            <a:r>
              <a:rPr lang="en-US"/>
              <a:t>Fifth level</a:t>
            </a:r>
            <a:endParaRPr lang="en-US" dirty="0"/>
          </a:p>
        </p:txBody>
      </p:sp>
      <p:sp>
        <p:nvSpPr>
          <p:cNvPr id="6" name="Date Placeholder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fld id="{8BEEBAAA-29B5-4AF5-BC5F-7E580C29002D}" type="datetimeFigureOut">
              <a:rPr lang="en-US" smtClean="0"/>
              <a:pPr/>
              <a:t>2/5/25</a:t>
            </a:fld>
            <a:endParaRPr lang="en-US" dirty="0"/>
          </a:p>
        </p:txBody>
      </p:sp>
      <p:sp>
        <p:nvSpPr>
          <p:cNvPr id="7" name="Footer Placeholder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endParaRPr lang="en-US" dirty="0"/>
          </a:p>
        </p:txBody>
      </p:sp>
      <p:sp>
        <p:nvSpPr>
          <p:cNvPr id="8" name="Slide Number Placeholder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9" name="Rectangle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0" name="Rectangle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le 1"/>
          <p:cNvSpPr>
            <a:spLocks noGrp="1"/>
          </p:cNvSpPr>
          <p:nvPr>
            <p:ph type="title"/>
          </p:nvPr>
        </p:nvSpPr>
        <p:spPr>
          <a:xfrm>
            <a:off x="521208" y="1536192"/>
            <a:ext cx="6876288" cy="640080"/>
          </a:xfrm>
        </p:spPr>
        <p:txBody>
          <a:bodyPr>
            <a:normAutofit/>
          </a:bodyPr>
          <a:lstStyle>
            <a:lvl1pPr>
              <a:defRPr sz="3600">
                <a:solidFill>
                  <a:schemeClr val="bg1"/>
                </a:solidFill>
              </a:defRPr>
            </a:lvl1pPr>
          </a:lstStyle>
          <a:p>
            <a:r>
              <a:rPr lang="en-US"/>
              <a:t>Click to edit Master title style</a:t>
            </a:r>
            <a:endParaRPr lang="en-US" dirty="0"/>
          </a:p>
        </p:txBody>
      </p:sp>
      <p:sp>
        <p:nvSpPr>
          <p:cNvPr id="7" name="Content Placeholder 6"/>
          <p:cNvSpPr>
            <a:spLocks noGrp="1"/>
          </p:cNvSpPr>
          <p:nvPr>
            <p:ph sz="quarter" idx="13"/>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mj-lt"/>
              </a:defRPr>
            </a:lvl1pPr>
            <a:lvl2pPr>
              <a:defRPr lang="en-US" sz="1200" dirty="0" smtClean="0">
                <a:solidFill>
                  <a:schemeClr val="tx1">
                    <a:lumMod val="75000"/>
                    <a:lumOff val="25000"/>
                  </a:schemeClr>
                </a:solidFill>
              </a:defRPr>
            </a:lvl2pPr>
            <a:lvl3pPr>
              <a:defRPr lang="en-US" sz="1200" dirty="0" smtClean="0">
                <a:solidFill>
                  <a:schemeClr val="tx1">
                    <a:lumMod val="75000"/>
                    <a:lumOff val="25000"/>
                  </a:schemeClr>
                </a:solidFill>
              </a:defRPr>
            </a:lvl3pPr>
            <a:lvl4pPr>
              <a:defRPr lang="en-US" sz="1200" dirty="0" smtClean="0">
                <a:solidFill>
                  <a:schemeClr val="tx1">
                    <a:lumMod val="75000"/>
                    <a:lumOff val="25000"/>
                  </a:schemeClr>
                </a:solidFill>
              </a:defRPr>
            </a:lvl4pPr>
            <a:lvl5pPr>
              <a:defRPr lang="en-US" sz="1200" dirty="0">
                <a:solidFill>
                  <a:schemeClr val="tx1">
                    <a:lumMod val="75000"/>
                    <a:lumOff val="25000"/>
                  </a:schemeClr>
                </a:solidFill>
              </a:defRPr>
            </a:lvl5pPr>
          </a:lstStyle>
          <a:p>
            <a:pPr marL="0" lvl="0" indent="0">
              <a:lnSpc>
                <a:spcPct val="150000"/>
              </a:lnSpc>
              <a:spcBef>
                <a:spcPts val="1000"/>
              </a:spcBef>
              <a:spcAft>
                <a:spcPts val="1200"/>
              </a:spcAft>
              <a:buNone/>
            </a:pPr>
            <a:r>
              <a:rPr lang="en-US"/>
              <a:t>Edit Master text styles</a:t>
            </a:r>
          </a:p>
          <a:p>
            <a:pPr marL="0" lvl="1" indent="0">
              <a:lnSpc>
                <a:spcPct val="150000"/>
              </a:lnSpc>
              <a:spcBef>
                <a:spcPts val="1000"/>
              </a:spcBef>
              <a:spcAft>
                <a:spcPts val="1200"/>
              </a:spcAft>
              <a:buNone/>
            </a:pPr>
            <a:r>
              <a:rPr lang="en-US"/>
              <a:t>Second level</a:t>
            </a:r>
          </a:p>
          <a:p>
            <a:pPr marL="0" lvl="2" indent="0">
              <a:lnSpc>
                <a:spcPct val="150000"/>
              </a:lnSpc>
              <a:spcBef>
                <a:spcPts val="1000"/>
              </a:spcBef>
              <a:spcAft>
                <a:spcPts val="1200"/>
              </a:spcAft>
              <a:buNone/>
            </a:pPr>
            <a:r>
              <a:rPr lang="en-US"/>
              <a:t>Third level</a:t>
            </a:r>
          </a:p>
          <a:p>
            <a:pPr marL="0" lvl="3" indent="0">
              <a:lnSpc>
                <a:spcPct val="150000"/>
              </a:lnSpc>
              <a:spcBef>
                <a:spcPts val="1000"/>
              </a:spcBef>
              <a:spcAft>
                <a:spcPts val="1200"/>
              </a:spcAft>
              <a:buNone/>
            </a:pPr>
            <a:r>
              <a:rPr lang="en-US"/>
              <a:t>Fourth level</a:t>
            </a:r>
          </a:p>
          <a:p>
            <a:pPr marL="0" lvl="4" indent="0">
              <a:lnSpc>
                <a:spcPct val="150000"/>
              </a:lnSpc>
              <a:spcBef>
                <a:spcPts val="1000"/>
              </a:spcBef>
              <a:spcAft>
                <a:spcPts val="1200"/>
              </a:spcAft>
              <a:buNone/>
            </a:pPr>
            <a:r>
              <a:rPr lang="en-US"/>
              <a:t>Fifth level</a:t>
            </a:r>
            <a:endParaRPr lang="en-US" dirty="0"/>
          </a:p>
        </p:txBody>
      </p:sp>
    </p:spTree>
    <p:extLst>
      <p:ext uri="{BB962C8B-B14F-4D97-AF65-F5344CB8AC3E}">
        <p14:creationId xmlns:p14="http://schemas.microsoft.com/office/powerpoint/2010/main" val="133565553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sp>
        <p:nvSpPr>
          <p:cNvPr id="2" name="Title Placeholder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r>
              <a:rPr lang="en-US"/>
              <a:t>Click to edit Master title style</a:t>
            </a:r>
            <a:endParaRPr lang="en-US" dirty="0"/>
          </a:p>
        </p:txBody>
      </p:sp>
      <p:sp>
        <p:nvSpPr>
          <p:cNvPr id="3" name="Text Placeholder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fld id="{8BEEBAAA-29B5-4AF5-BC5F-7E580C29002D}" type="datetimeFigureOut">
              <a:rPr lang="en-US" smtClean="0"/>
              <a:pPr/>
              <a:t>2/5/25</a:t>
            </a:fld>
            <a:endParaRPr lang="en-US" dirty="0"/>
          </a:p>
        </p:txBody>
      </p:sp>
      <p:sp>
        <p:nvSpPr>
          <p:cNvPr id="5" name="Footer Placeholder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endParaRPr lang="en-US" dirty="0"/>
          </a:p>
        </p:txBody>
      </p:sp>
      <p:sp>
        <p:nvSpPr>
          <p:cNvPr id="6" name="Slide Number Placeholder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fld id="{9860EDB8-5305-433F-BE41-D7A86D811DB3}" type="slidenum">
              <a:rPr lang="en-US" smtClean="0"/>
              <a:pPr/>
              <a:t>‹#›</a:t>
            </a:fld>
            <a:endParaRPr lang="en-US" dirty="0"/>
          </a:p>
        </p:txBody>
      </p:sp>
      <p:cxnSp>
        <p:nvCxnSpPr>
          <p:cNvPr id="8" name="Straight Connector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txStyles>
    <p:titleStyle>
      <a:lvl1pPr algn="l" defTabSz="914400" rtl="0" eaLnBrk="1" latinLnBrk="0" hangingPunct="1">
        <a:spcBef>
          <a:spcPct val="0"/>
        </a:spcBef>
        <a:buNone/>
        <a:defRPr sz="2800" kern="1200">
          <a:solidFill>
            <a:schemeClr val="tx1"/>
          </a:solidFill>
          <a:latin typeface="+mj-lt"/>
          <a:ea typeface="+mj-ea"/>
          <a:cs typeface="+mj-cs"/>
        </a:defRPr>
      </a:lvl1pPr>
    </p:titleStyle>
    <p:bodyStyle>
      <a:lvl1pPr marL="0" indent="0" algn="l" defTabSz="914400" rtl="0" eaLnBrk="1" latinLnBrk="0" hangingPunct="1">
        <a:lnSpc>
          <a:spcPct val="150000"/>
        </a:lnSpc>
        <a:spcBef>
          <a:spcPts val="1000"/>
        </a:spcBef>
        <a:spcAft>
          <a:spcPts val="1200"/>
        </a:spcAft>
        <a:buFontTx/>
        <a:buNone/>
        <a:defRPr lang="en-US" sz="1200" kern="1200" dirty="0">
          <a:solidFill>
            <a:schemeClr val="tx1"/>
          </a:solidFill>
          <a:latin typeface="+mn-lt"/>
          <a:ea typeface="+mn-ea"/>
          <a:cs typeface="+mn-cs"/>
        </a:defRPr>
      </a:lvl1pPr>
      <a:lvl2pPr marL="228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2pPr>
      <a:lvl3pPr marL="685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3pPr>
      <a:lvl4pPr marL="11430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4pPr>
      <a:lvl5pPr marL="16002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38200" y="1164324"/>
            <a:ext cx="10515600" cy="2387600"/>
          </a:xfrm>
        </p:spPr>
        <p:txBody>
          <a:bodyPr anchor="ctr" anchorCtr="0">
            <a:normAutofit/>
          </a:bodyPr>
          <a:lstStyle/>
          <a:p>
            <a:r>
              <a:rPr lang="en-US" sz="4800" dirty="0">
                <a:solidFill>
                  <a:schemeClr val="bg1"/>
                </a:solidFill>
              </a:rPr>
              <a:t>ECE 157B/272B Homework 2</a:t>
            </a:r>
          </a:p>
        </p:txBody>
      </p:sp>
      <p:sp>
        <p:nvSpPr>
          <p:cNvPr id="3" name="Subtitle 2"/>
          <p:cNvSpPr>
            <a:spLocks noGrp="1"/>
          </p:cNvSpPr>
          <p:nvPr>
            <p:ph type="subTitle" idx="4294967295"/>
          </p:nvPr>
        </p:nvSpPr>
        <p:spPr>
          <a:xfrm>
            <a:off x="855620" y="2933105"/>
            <a:ext cx="9582736" cy="1137793"/>
          </a:xfrm>
        </p:spPr>
        <p:txBody>
          <a:bodyPr>
            <a:normAutofit/>
          </a:bodyPr>
          <a:lstStyle/>
          <a:p>
            <a:pPr marL="0" indent="0">
              <a:buNone/>
            </a:pPr>
            <a:r>
              <a:rPr lang="en-US" sz="2400" dirty="0">
                <a:solidFill>
                  <a:schemeClr val="bg1"/>
                </a:solidFill>
                <a:latin typeface="+mj-lt"/>
              </a:rPr>
              <a:t>YOUR NAME</a:t>
            </a: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dirty="0">
                <a:latin typeface="Segoe UI Light" panose="020B0502040204020203" pitchFamily="34" charset="0"/>
                <a:cs typeface="Segoe UI Light" panose="020B0502040204020203" pitchFamily="34" charset="0"/>
              </a:rPr>
              <a:t>🤗 QA Tasks – “</a:t>
            </a:r>
            <a:r>
              <a:rPr lang="en-US" dirty="0"/>
              <a:t>What dataset is used in this tutorial?”</a:t>
            </a:r>
            <a:endParaRPr lang="en-US" dirty="0">
              <a:latin typeface="Segoe UI Light" panose="020B0502040204020203" pitchFamily="34" charset="0"/>
              <a:cs typeface="Segoe UI Light" panose="020B0502040204020203" pitchFamily="34" charset="0"/>
            </a:endParaRPr>
          </a:p>
        </p:txBody>
      </p:sp>
      <p:pic>
        <p:nvPicPr>
          <p:cNvPr id="3" name="Picture 2">
            <a:extLst>
              <a:ext uri="{FF2B5EF4-FFF2-40B4-BE49-F238E27FC236}">
                <a16:creationId xmlns:a16="http://schemas.microsoft.com/office/drawing/2014/main" id="{EC60DD8E-74E0-4350-8220-6C0D217D7929}"/>
              </a:ext>
            </a:extLst>
          </p:cNvPr>
          <p:cNvPicPr>
            <a:picLocks noChangeAspect="1"/>
          </p:cNvPicPr>
          <p:nvPr/>
        </p:nvPicPr>
        <p:blipFill>
          <a:blip r:embed="rId2"/>
          <a:stretch>
            <a:fillRect/>
          </a:stretch>
        </p:blipFill>
        <p:spPr>
          <a:xfrm>
            <a:off x="1928005" y="4094106"/>
            <a:ext cx="5359675" cy="234962"/>
          </a:xfrm>
          <a:prstGeom prst="rect">
            <a:avLst/>
          </a:prstGeom>
        </p:spPr>
      </p:pic>
      <p:pic>
        <p:nvPicPr>
          <p:cNvPr id="4" name="Picture 3">
            <a:extLst>
              <a:ext uri="{FF2B5EF4-FFF2-40B4-BE49-F238E27FC236}">
                <a16:creationId xmlns:a16="http://schemas.microsoft.com/office/drawing/2014/main" id="{6DCE97C6-76E6-49A6-948E-81D1F6D31D54}"/>
              </a:ext>
            </a:extLst>
          </p:cNvPr>
          <p:cNvPicPr>
            <a:picLocks noChangeAspect="1"/>
          </p:cNvPicPr>
          <p:nvPr/>
        </p:nvPicPr>
        <p:blipFill>
          <a:blip r:embed="rId3"/>
          <a:stretch>
            <a:fillRect/>
          </a:stretch>
        </p:blipFill>
        <p:spPr>
          <a:xfrm>
            <a:off x="1927190" y="2245391"/>
            <a:ext cx="6559887" cy="1289116"/>
          </a:xfrm>
          <a:prstGeom prst="rect">
            <a:avLst/>
          </a:prstGeom>
        </p:spPr>
      </p:pic>
      <p:pic>
        <p:nvPicPr>
          <p:cNvPr id="9" name="Picture 8">
            <a:extLst>
              <a:ext uri="{FF2B5EF4-FFF2-40B4-BE49-F238E27FC236}">
                <a16:creationId xmlns:a16="http://schemas.microsoft.com/office/drawing/2014/main" id="{7E603E89-C3D0-DD7C-70AD-C7CE7A13550D}"/>
              </a:ext>
            </a:extLst>
          </p:cNvPr>
          <p:cNvPicPr>
            <a:picLocks noChangeAspect="1"/>
          </p:cNvPicPr>
          <p:nvPr/>
        </p:nvPicPr>
        <p:blipFill>
          <a:blip r:embed="rId4"/>
          <a:stretch>
            <a:fillRect/>
          </a:stretch>
        </p:blipFill>
        <p:spPr>
          <a:xfrm>
            <a:off x="1927190" y="4928962"/>
            <a:ext cx="7772400" cy="490151"/>
          </a:xfrm>
          <a:prstGeom prst="rect">
            <a:avLst/>
          </a:prstGeom>
        </p:spPr>
      </p:pic>
      <p:sp>
        <p:nvSpPr>
          <p:cNvPr id="7" name="TextBox 6">
            <a:extLst>
              <a:ext uri="{FF2B5EF4-FFF2-40B4-BE49-F238E27FC236}">
                <a16:creationId xmlns:a16="http://schemas.microsoft.com/office/drawing/2014/main" id="{B93DE478-9821-4861-96F0-C318AD38750E}"/>
              </a:ext>
            </a:extLst>
          </p:cNvPr>
          <p:cNvSpPr txBox="1"/>
          <p:nvPr/>
        </p:nvSpPr>
        <p:spPr>
          <a:xfrm rot="19787601">
            <a:off x="2553531" y="2431684"/>
            <a:ext cx="5682343" cy="2308324"/>
          </a:xfrm>
          <a:prstGeom prst="rect">
            <a:avLst/>
          </a:prstGeom>
          <a:noFill/>
        </p:spPr>
        <p:txBody>
          <a:bodyPr wrap="square" rtlCol="0">
            <a:spAutoFit/>
          </a:bodyPr>
          <a:lstStyle/>
          <a:p>
            <a:r>
              <a:rPr lang="en-US" sz="4800" b="1" dirty="0">
                <a:solidFill>
                  <a:srgbClr val="FF0000"/>
                </a:solidFill>
              </a:rPr>
              <a:t>Example Slide. Replace with your own content.</a:t>
            </a:r>
          </a:p>
        </p:txBody>
      </p:sp>
      <p:sp>
        <p:nvSpPr>
          <p:cNvPr id="6" name="TextBox 5">
            <a:extLst>
              <a:ext uri="{FF2B5EF4-FFF2-40B4-BE49-F238E27FC236}">
                <a16:creationId xmlns:a16="http://schemas.microsoft.com/office/drawing/2014/main" id="{47E6351A-BDE3-D887-E851-4807CD300FAC}"/>
              </a:ext>
            </a:extLst>
          </p:cNvPr>
          <p:cNvSpPr txBox="1"/>
          <p:nvPr/>
        </p:nvSpPr>
        <p:spPr>
          <a:xfrm>
            <a:off x="623455" y="1413164"/>
            <a:ext cx="11239994" cy="5586145"/>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endParaRPr lang="en-US" dirty="0">
              <a:solidFill>
                <a:schemeClr val="accent1"/>
              </a:solidFill>
              <a:latin typeface="Segoe UI" panose="020B0502040204020203" pitchFamily="34" charset="0"/>
              <a:cs typeface="Segoe UI" panose="020B0502040204020203" pitchFamily="34" charset="0"/>
            </a:endParaRPr>
          </a:p>
          <a:p>
            <a:pPr lvl="0">
              <a:spcAft>
                <a:spcPts val="600"/>
              </a:spcAft>
              <a:defRPr/>
            </a:pPr>
            <a:r>
              <a:rPr lang="en-US" dirty="0">
                <a:latin typeface="Segoe UI" panose="020B0502040204020203" pitchFamily="34" charset="0"/>
                <a:cs typeface="Segoe UI" panose="020B0502040204020203" pitchFamily="34" charset="0"/>
              </a:rPr>
              <a:t>	</a:t>
            </a:r>
            <a:r>
              <a:rPr lang="en-US" dirty="0">
                <a:solidFill>
                  <a:schemeClr val="accent1"/>
                </a:solidFill>
                <a:latin typeface="Segoe UI" panose="020B0502040204020203" pitchFamily="34" charset="0"/>
                <a:cs typeface="Segoe UI" panose="020B0502040204020203" pitchFamily="34" charset="0"/>
              </a:rPr>
              <a:t> </a:t>
            </a:r>
            <a:r>
              <a:rPr lang="en-US" dirty="0" err="1">
                <a:solidFill>
                  <a:schemeClr val="accent1"/>
                </a:solidFill>
                <a:latin typeface="Segoe UI" panose="020B0502040204020203" pitchFamily="34" charset="0"/>
                <a:cs typeface="Segoe UI" panose="020B0502040204020203" pitchFamily="34" charset="0"/>
              </a:rPr>
              <a:t>SQuAD</a:t>
            </a:r>
            <a:endParaRPr lang="en-US" dirty="0">
              <a:latin typeface="Segoe UI" panose="020B0502040204020203" pitchFamily="34" charset="0"/>
              <a:cs typeface="Segoe UI" panose="020B0502040204020203" pitchFamily="34" charset="0"/>
            </a:endParaRPr>
          </a:p>
          <a:p>
            <a:pPr lvl="0">
              <a:spcAft>
                <a:spcPts val="600"/>
              </a:spcAft>
              <a:defRPr/>
            </a:pPr>
            <a:r>
              <a:rPr lang="en-US" dirty="0">
                <a:latin typeface="Consolas" panose="020B0609020204030204" pitchFamily="49" charset="0"/>
              </a:rPr>
              <a:t>Context: </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Answer:</a:t>
            </a:r>
          </a:p>
          <a:p>
            <a:pPr>
              <a:spcAft>
                <a:spcPts val="600"/>
              </a:spcAft>
              <a:defRPr/>
            </a:pPr>
            <a:r>
              <a:rPr lang="en-US" sz="1600" i="1" dirty="0">
                <a:solidFill>
                  <a:schemeClr val="accent1"/>
                </a:solidFill>
                <a:latin typeface="Segoe UI" panose="020B0502040204020203" pitchFamily="34" charset="0"/>
                <a:cs typeface="Segoe UI" panose="020B0502040204020203" pitchFamily="34" charset="0"/>
              </a:rPr>
              <a:t>	</a:t>
            </a:r>
            <a:r>
              <a:rPr lang="en-US" sz="1600" i="1" dirty="0">
                <a:solidFill>
                  <a:schemeClr val="accent1"/>
                </a:solidFill>
              </a:rPr>
              <a:t>The model’s answer is correct and it’s short and concise.</a:t>
            </a: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4576161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16D6597-23A6-49B1-AE5E-BA6428456E4F}"/>
              </a:ext>
            </a:extLst>
          </p:cNvPr>
          <p:cNvSpPr txBox="1"/>
          <p:nvPr/>
        </p:nvSpPr>
        <p:spPr>
          <a:xfrm>
            <a:off x="623455" y="1413164"/>
            <a:ext cx="11239994" cy="6129883"/>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r>
              <a:rPr lang="en-US" b="0" i="0" dirty="0">
                <a:solidFill>
                  <a:srgbClr val="D4D4D4"/>
                </a:solidFill>
                <a:effectLst/>
                <a:latin typeface="Menlo" panose="020B0609030804020204" pitchFamily="49" charset="0"/>
              </a:rPr>
              <a:t>it comports a dictionary with two fields that are both lists</a:t>
            </a:r>
            <a:endParaRPr lang="en-US" dirty="0">
              <a:latin typeface="Segoe UI" panose="020B0502040204020203" pitchFamily="34" charset="0"/>
              <a:cs typeface="Segoe UI" panose="020B0502040204020203" pitchFamily="34" charset="0"/>
            </a:endParaRPr>
          </a:p>
          <a:p>
            <a:pPr lvl="0">
              <a:spcAft>
                <a:spcPts val="600"/>
              </a:spcAft>
              <a:defRPr/>
            </a:pPr>
            <a:r>
              <a:rPr lang="en-US" dirty="0">
                <a:latin typeface="Consolas" panose="020B0609020204030204" pitchFamily="49" charset="0"/>
              </a:rPr>
              <a:t>Context: </a:t>
            </a:r>
          </a:p>
          <a:p>
            <a:pPr>
              <a:lnSpc>
                <a:spcPts val="1350"/>
              </a:lnSpc>
            </a:pPr>
            <a:r>
              <a:rPr lang="en-US" sz="1000" b="0" dirty="0">
                <a:solidFill>
                  <a:srgbClr val="CE9178"/>
                </a:solidFill>
                <a:effectLst/>
                <a:latin typeface="Menlo" panose="020B0609030804020204" pitchFamily="49" charset="0"/>
              </a:rPr>
              <a:t>The answers field is a bit trickier</a:t>
            </a:r>
            <a:endParaRPr lang="en-US" sz="1000" b="0" dirty="0">
              <a:solidFill>
                <a:srgbClr val="D4D4D4"/>
              </a:solidFill>
              <a:effectLst/>
              <a:latin typeface="Menlo" panose="020B0609030804020204" pitchFamily="49" charset="0"/>
            </a:endParaRPr>
          </a:p>
          <a:p>
            <a:pPr>
              <a:lnSpc>
                <a:spcPts val="1350"/>
              </a:lnSpc>
            </a:pPr>
            <a:r>
              <a:rPr lang="en-US" sz="1000" b="0" dirty="0">
                <a:solidFill>
                  <a:srgbClr val="CE9178"/>
                </a:solidFill>
                <a:effectLst/>
                <a:latin typeface="Menlo" panose="020B0609030804020204" pitchFamily="49" charset="0"/>
              </a:rPr>
              <a:t>as it comports a dictionary with two fields that are both lists. This is the format that will be expected</a:t>
            </a:r>
            <a:endParaRPr lang="en-US" sz="1000" b="0" dirty="0">
              <a:solidFill>
                <a:srgbClr val="D4D4D4"/>
              </a:solidFill>
              <a:effectLst/>
              <a:latin typeface="Menlo" panose="020B0609030804020204" pitchFamily="49" charset="0"/>
            </a:endParaRPr>
          </a:p>
          <a:p>
            <a:pPr>
              <a:lnSpc>
                <a:spcPts val="1350"/>
              </a:lnSpc>
            </a:pPr>
            <a:r>
              <a:rPr lang="en-US" sz="1000" b="0" dirty="0">
                <a:solidFill>
                  <a:srgbClr val="CE9178"/>
                </a:solidFill>
                <a:effectLst/>
                <a:latin typeface="Menlo" panose="020B0609030804020204" pitchFamily="49" charset="0"/>
              </a:rPr>
              <a:t>by the squad metric during evaluation; if you are using your own data, you </a:t>
            </a:r>
            <a:r>
              <a:rPr lang="en-US" sz="1000" b="0" dirty="0" err="1">
                <a:solidFill>
                  <a:srgbClr val="CE9178"/>
                </a:solidFill>
                <a:effectLst/>
                <a:latin typeface="Menlo" panose="020B0609030804020204" pitchFamily="49" charset="0"/>
              </a:rPr>
              <a:t>dont</a:t>
            </a:r>
            <a:r>
              <a:rPr lang="en-US" sz="1000" b="0" dirty="0">
                <a:solidFill>
                  <a:srgbClr val="CE9178"/>
                </a:solidFill>
                <a:effectLst/>
                <a:latin typeface="Menlo" panose="020B0609030804020204" pitchFamily="49" charset="0"/>
              </a:rPr>
              <a:t> necessarily need</a:t>
            </a:r>
            <a:endParaRPr lang="en-US" sz="1000" b="0" dirty="0">
              <a:solidFill>
                <a:srgbClr val="D4D4D4"/>
              </a:solidFill>
              <a:effectLst/>
              <a:latin typeface="Menlo" panose="020B0609030804020204" pitchFamily="49" charset="0"/>
            </a:endParaRPr>
          </a:p>
          <a:p>
            <a:pPr>
              <a:lnSpc>
                <a:spcPts val="1350"/>
              </a:lnSpc>
            </a:pPr>
            <a:r>
              <a:rPr lang="en-US" sz="1000" b="0" dirty="0">
                <a:solidFill>
                  <a:srgbClr val="CE9178"/>
                </a:solidFill>
                <a:effectLst/>
                <a:latin typeface="Menlo" panose="020B0609030804020204" pitchFamily="49" charset="0"/>
              </a:rPr>
              <a:t>to worry about putting the answers in the same format. The text field is rather obvious, and the</a:t>
            </a:r>
            <a:endParaRPr lang="en-US" sz="1000" b="0" dirty="0">
              <a:solidFill>
                <a:srgbClr val="D4D4D4"/>
              </a:solidFill>
              <a:effectLst/>
              <a:latin typeface="Menlo" panose="020B0609030804020204" pitchFamily="49" charset="0"/>
            </a:endParaRPr>
          </a:p>
          <a:p>
            <a:pPr>
              <a:lnSpc>
                <a:spcPts val="1350"/>
              </a:lnSpc>
            </a:pPr>
            <a:r>
              <a:rPr lang="en-US" sz="1000" b="0" dirty="0" err="1">
                <a:solidFill>
                  <a:srgbClr val="CE9178"/>
                </a:solidFill>
                <a:effectLst/>
                <a:latin typeface="Menlo" panose="020B0609030804020204" pitchFamily="49" charset="0"/>
              </a:rPr>
              <a:t>answer_start</a:t>
            </a:r>
            <a:r>
              <a:rPr lang="en-US" sz="1000" b="0" dirty="0">
                <a:solidFill>
                  <a:srgbClr val="CE9178"/>
                </a:solidFill>
                <a:effectLst/>
                <a:latin typeface="Menlo" panose="020B0609030804020204" pitchFamily="49" charset="0"/>
              </a:rPr>
              <a:t> field contains the starting character index of each answer in the context.</a:t>
            </a:r>
            <a:endParaRPr lang="en-US" sz="1000"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Answer:</a:t>
            </a:r>
          </a:p>
          <a:p>
            <a:pPr lvl="0">
              <a:spcAft>
                <a:spcPts val="600"/>
              </a:spcAft>
              <a:defRPr/>
            </a:pPr>
            <a:r>
              <a:rPr lang="en-US" sz="1600" dirty="0">
                <a:latin typeface="Segoe UI" panose="020B0502040204020203" pitchFamily="34" charset="0"/>
                <a:cs typeface="Segoe UI" panose="020B0502040204020203" pitchFamily="34" charset="0"/>
              </a:rPr>
              <a:t>The model’s output is very short and concise, very much exactly what we are looking for. The RAG’s response is also correct but is substantially more detailed and long, probably because of the increased context of the entire PDF. Additionally the RAG is less specific. However, this is probably just due to the focused context that we gave the model we trained, where the answer was directly in the paragraph.</a:t>
            </a: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sp>
        <p:nvSpPr>
          <p:cNvPr id="8" name="Title 7"/>
          <p:cNvSpPr>
            <a:spLocks noGrp="1"/>
          </p:cNvSpPr>
          <p:nvPr>
            <p:ph type="title"/>
          </p:nvPr>
        </p:nvSpPr>
        <p:spPr>
          <a:xfrm>
            <a:off x="521207" y="448056"/>
            <a:ext cx="10612231" cy="640080"/>
          </a:xfrm>
        </p:spPr>
        <p:txBody>
          <a:bodyPr>
            <a:noAutofit/>
          </a:bodyPr>
          <a:lstStyle/>
          <a:p>
            <a:r>
              <a:rPr lang="en-US" sz="2400" dirty="0">
                <a:latin typeface="Segoe UI Light" panose="020B0502040204020203" pitchFamily="34" charset="0"/>
                <a:cs typeface="Segoe UI Light" panose="020B0502040204020203" pitchFamily="34" charset="0"/>
              </a:rPr>
              <a:t>🤗 QA Tasks – “</a:t>
            </a:r>
            <a:r>
              <a:rPr lang="en-US" sz="2400" dirty="0"/>
              <a:t>What is tricky about processing the answer field of the dataset?”</a:t>
            </a:r>
            <a:endParaRPr lang="en-US" sz="2400" dirty="0">
              <a:latin typeface="Segoe UI Light" panose="020B0502040204020203" pitchFamily="34" charset="0"/>
              <a:cs typeface="Segoe UI Light" panose="020B0502040204020203" pitchFamily="34" charset="0"/>
            </a:endParaRPr>
          </a:p>
        </p:txBody>
      </p:sp>
      <p:pic>
        <p:nvPicPr>
          <p:cNvPr id="2" name="Picture 1">
            <a:extLst>
              <a:ext uri="{FF2B5EF4-FFF2-40B4-BE49-F238E27FC236}">
                <a16:creationId xmlns:a16="http://schemas.microsoft.com/office/drawing/2014/main" id="{E51BC8C8-99E9-71A5-4D39-FFBF2734E3C3}"/>
              </a:ext>
            </a:extLst>
          </p:cNvPr>
          <p:cNvPicPr>
            <a:picLocks noChangeAspect="1"/>
          </p:cNvPicPr>
          <p:nvPr/>
        </p:nvPicPr>
        <p:blipFill>
          <a:blip r:embed="rId2"/>
          <a:stretch>
            <a:fillRect/>
          </a:stretch>
        </p:blipFill>
        <p:spPr>
          <a:xfrm>
            <a:off x="623455" y="3297996"/>
            <a:ext cx="4434950" cy="649195"/>
          </a:xfrm>
          <a:prstGeom prst="rect">
            <a:avLst/>
          </a:prstGeom>
        </p:spPr>
      </p:pic>
      <p:pic>
        <p:nvPicPr>
          <p:cNvPr id="4" name="Picture 3">
            <a:extLst>
              <a:ext uri="{FF2B5EF4-FFF2-40B4-BE49-F238E27FC236}">
                <a16:creationId xmlns:a16="http://schemas.microsoft.com/office/drawing/2014/main" id="{64A86223-E014-73BA-F216-B677C8EA314D}"/>
              </a:ext>
            </a:extLst>
          </p:cNvPr>
          <p:cNvPicPr>
            <a:picLocks noChangeAspect="1"/>
          </p:cNvPicPr>
          <p:nvPr/>
        </p:nvPicPr>
        <p:blipFill>
          <a:blip r:embed="rId3"/>
          <a:stretch>
            <a:fillRect/>
          </a:stretch>
        </p:blipFill>
        <p:spPr>
          <a:xfrm>
            <a:off x="623455" y="4362827"/>
            <a:ext cx="6608790" cy="788970"/>
          </a:xfrm>
          <a:prstGeom prst="rect">
            <a:avLst/>
          </a:prstGeom>
        </p:spPr>
      </p:pic>
    </p:spTree>
    <p:extLst>
      <p:ext uri="{BB962C8B-B14F-4D97-AF65-F5344CB8AC3E}">
        <p14:creationId xmlns:p14="http://schemas.microsoft.com/office/powerpoint/2010/main" val="265185241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dirty="0">
                <a:latin typeface="Segoe UI Light" panose="020B0502040204020203" pitchFamily="34" charset="0"/>
                <a:cs typeface="Segoe UI Light" panose="020B0502040204020203" pitchFamily="34" charset="0"/>
              </a:rPr>
              <a:t>🤗 QA Tasks – “</a:t>
            </a:r>
            <a:r>
              <a:rPr lang="en-US" dirty="0"/>
              <a:t>How are the labels for the answer formatted?”</a:t>
            </a:r>
            <a:endParaRPr lang="en-US" dirty="0">
              <a:latin typeface="Segoe UI Light" panose="020B0502040204020203" pitchFamily="34" charset="0"/>
              <a:cs typeface="Segoe UI Light" panose="020B0502040204020203" pitchFamily="34" charset="0"/>
            </a:endParaRPr>
          </a:p>
        </p:txBody>
      </p:sp>
      <p:sp>
        <p:nvSpPr>
          <p:cNvPr id="2" name="TextBox 1">
            <a:extLst>
              <a:ext uri="{FF2B5EF4-FFF2-40B4-BE49-F238E27FC236}">
                <a16:creationId xmlns:a16="http://schemas.microsoft.com/office/drawing/2014/main" id="{710A8523-15E1-F56A-5A8C-A5FFA522615E}"/>
              </a:ext>
            </a:extLst>
          </p:cNvPr>
          <p:cNvSpPr txBox="1"/>
          <p:nvPr/>
        </p:nvSpPr>
        <p:spPr>
          <a:xfrm>
            <a:off x="623455" y="1413164"/>
            <a:ext cx="11239994" cy="6252994"/>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r>
              <a:rPr lang="en-US" b="0" i="0" dirty="0">
                <a:solidFill>
                  <a:srgbClr val="D4D4D4"/>
                </a:solidFill>
                <a:effectLst/>
                <a:latin typeface="Menlo" panose="020B0609030804020204" pitchFamily="49" charset="0"/>
              </a:rPr>
              <a:t>the index of the tokens starting and ending the answer</a:t>
            </a:r>
          </a:p>
          <a:p>
            <a:pPr lvl="0">
              <a:spcAft>
                <a:spcPts val="600"/>
              </a:spcAft>
              <a:defRPr/>
            </a:pPr>
            <a:endParaRPr lang="en-US" dirty="0">
              <a:latin typeface="Segoe UI" panose="020B0502040204020203" pitchFamily="34" charset="0"/>
              <a:cs typeface="Segoe UI" panose="020B0502040204020203" pitchFamily="34" charset="0"/>
            </a:endParaRPr>
          </a:p>
          <a:p>
            <a:pPr>
              <a:lnSpc>
                <a:spcPts val="1350"/>
              </a:lnSpc>
            </a:pPr>
            <a:r>
              <a:rPr lang="en-US" dirty="0">
                <a:latin typeface="Consolas" panose="020B0609020204030204" pitchFamily="49" charset="0"/>
              </a:rPr>
              <a:t>Context: </a:t>
            </a:r>
            <a:r>
              <a:rPr lang="en-US" b="0" dirty="0">
                <a:solidFill>
                  <a:srgbClr val="CE9178"/>
                </a:solidFill>
                <a:effectLst/>
                <a:latin typeface="Menlo" panose="020B0609030804020204" pitchFamily="49" charset="0"/>
              </a:rPr>
              <a:t>The labels will then be the index of the tokens starting and ending the answer, and the model will</a:t>
            </a:r>
            <a:endParaRPr lang="en-US" b="0" dirty="0">
              <a:solidFill>
                <a:srgbClr val="D4D4D4"/>
              </a:solidFill>
              <a:effectLst/>
              <a:latin typeface="Menlo" panose="020B0609030804020204" pitchFamily="49" charset="0"/>
            </a:endParaRPr>
          </a:p>
          <a:p>
            <a:pPr>
              <a:lnSpc>
                <a:spcPts val="1350"/>
              </a:lnSpc>
            </a:pPr>
            <a:r>
              <a:rPr lang="en-US" b="0" dirty="0">
                <a:solidFill>
                  <a:srgbClr val="CE9178"/>
                </a:solidFill>
                <a:effectLst/>
                <a:latin typeface="Menlo" panose="020B0609030804020204" pitchFamily="49" charset="0"/>
              </a:rPr>
              <a:t>be tasked to predicted one start and end logit per token in the input, with the theoretical labels</a:t>
            </a:r>
            <a:endParaRPr lang="en-US" b="0" dirty="0">
              <a:solidFill>
                <a:srgbClr val="D4D4D4"/>
              </a:solidFill>
              <a:effectLst/>
              <a:latin typeface="Menlo" panose="020B0609030804020204" pitchFamily="49" charset="0"/>
            </a:endParaRPr>
          </a:p>
          <a:p>
            <a:pPr>
              <a:lnSpc>
                <a:spcPts val="1350"/>
              </a:lnSpc>
            </a:pPr>
            <a:r>
              <a:rPr lang="en-US" b="0" dirty="0">
                <a:solidFill>
                  <a:srgbClr val="CE9178"/>
                </a:solidFill>
                <a:effectLst/>
                <a:latin typeface="Menlo" panose="020B0609030804020204" pitchFamily="49" charset="0"/>
              </a:rPr>
              <a:t>being as follow:</a:t>
            </a:r>
            <a:endParaRPr lang="en-US" b="0" dirty="0">
              <a:solidFill>
                <a:srgbClr val="D4D4D4"/>
              </a:solidFill>
              <a:effectLst/>
              <a:latin typeface="Menlo" panose="020B060903080402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Answer: Both are equally good here with the RAG being slightly more verbose. Picking one or the other depends on personal preferences regarding the verbosity/readability of the answer. The RAG does also give an example, whereas the model just tells you the answer. </a:t>
            </a: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E2AE9D7D-398B-F590-DC71-64BEA02FADB3}"/>
              </a:ext>
            </a:extLst>
          </p:cNvPr>
          <p:cNvPicPr>
            <a:picLocks noChangeAspect="1"/>
          </p:cNvPicPr>
          <p:nvPr/>
        </p:nvPicPr>
        <p:blipFill>
          <a:blip r:embed="rId2"/>
          <a:stretch>
            <a:fillRect/>
          </a:stretch>
        </p:blipFill>
        <p:spPr>
          <a:xfrm>
            <a:off x="3927764" y="3429000"/>
            <a:ext cx="5285509" cy="773701"/>
          </a:xfrm>
          <a:prstGeom prst="rect">
            <a:avLst/>
          </a:prstGeom>
        </p:spPr>
      </p:pic>
      <p:pic>
        <p:nvPicPr>
          <p:cNvPr id="4" name="Picture 3">
            <a:extLst>
              <a:ext uri="{FF2B5EF4-FFF2-40B4-BE49-F238E27FC236}">
                <a16:creationId xmlns:a16="http://schemas.microsoft.com/office/drawing/2014/main" id="{10FE729B-D671-2A6D-1339-1248C4FBAB10}"/>
              </a:ext>
            </a:extLst>
          </p:cNvPr>
          <p:cNvPicPr>
            <a:picLocks noChangeAspect="1"/>
          </p:cNvPicPr>
          <p:nvPr/>
        </p:nvPicPr>
        <p:blipFill>
          <a:blip r:embed="rId3"/>
          <a:stretch>
            <a:fillRect/>
          </a:stretch>
        </p:blipFill>
        <p:spPr>
          <a:xfrm>
            <a:off x="623455" y="4690553"/>
            <a:ext cx="7772400" cy="754283"/>
          </a:xfrm>
          <a:prstGeom prst="rect">
            <a:avLst/>
          </a:prstGeom>
        </p:spPr>
      </p:pic>
    </p:spTree>
    <p:extLst>
      <p:ext uri="{BB962C8B-B14F-4D97-AF65-F5344CB8AC3E}">
        <p14:creationId xmlns:p14="http://schemas.microsoft.com/office/powerpoint/2010/main" val="40475097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dirty="0">
                <a:latin typeface="Segoe UI Light" panose="020B0502040204020203" pitchFamily="34" charset="0"/>
                <a:cs typeface="Segoe UI Light" panose="020B0502040204020203" pitchFamily="34" charset="0"/>
              </a:rPr>
              <a:t>🤗 QA Tasks – “</a:t>
            </a:r>
            <a:r>
              <a:rPr lang="en-US" dirty="0"/>
              <a:t>What type of tokenizer is needed?”</a:t>
            </a:r>
            <a:endParaRPr lang="en-US" dirty="0">
              <a:latin typeface="Segoe UI Light" panose="020B0502040204020203" pitchFamily="34" charset="0"/>
              <a:cs typeface="Segoe UI Light" panose="020B0502040204020203" pitchFamily="34" charset="0"/>
            </a:endParaRPr>
          </a:p>
        </p:txBody>
      </p:sp>
      <p:sp>
        <p:nvSpPr>
          <p:cNvPr id="2" name="TextBox 1">
            <a:extLst>
              <a:ext uri="{FF2B5EF4-FFF2-40B4-BE49-F238E27FC236}">
                <a16:creationId xmlns:a16="http://schemas.microsoft.com/office/drawing/2014/main" id="{F55E1DFA-8C00-775B-4BC4-1B8EE498751C}"/>
              </a:ext>
            </a:extLst>
          </p:cNvPr>
          <p:cNvSpPr txBox="1"/>
          <p:nvPr/>
        </p:nvSpPr>
        <p:spPr>
          <a:xfrm>
            <a:off x="623455" y="1413164"/>
            <a:ext cx="11239994" cy="5904180"/>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r>
              <a:rPr lang="en-US" b="0" i="0" dirty="0">
                <a:solidFill>
                  <a:srgbClr val="D4D4D4"/>
                </a:solidFill>
                <a:effectLst/>
                <a:latin typeface="Menlo" panose="020B0609030804020204" pitchFamily="49" charset="0"/>
              </a:rPr>
              <a:t>fast</a:t>
            </a:r>
          </a:p>
          <a:p>
            <a:pPr lvl="0">
              <a:spcAft>
                <a:spcPts val="600"/>
              </a:spcAft>
              <a:defRPr/>
            </a:pPr>
            <a:endParaRPr lang="en-US" dirty="0">
              <a:latin typeface="Segoe UI" panose="020B0502040204020203" pitchFamily="34" charset="0"/>
              <a:cs typeface="Segoe UI" panose="020B0502040204020203" pitchFamily="34" charset="0"/>
            </a:endParaRPr>
          </a:p>
          <a:p>
            <a:pPr>
              <a:lnSpc>
                <a:spcPts val="1350"/>
              </a:lnSpc>
            </a:pPr>
            <a:r>
              <a:rPr lang="en-US" dirty="0">
                <a:latin typeface="Consolas" panose="020B0609020204030204" pitchFamily="49" charset="0"/>
              </a:rPr>
              <a:t>Context: </a:t>
            </a:r>
            <a:r>
              <a:rPr lang="en-US" b="0" dirty="0">
                <a:solidFill>
                  <a:srgbClr val="CE9178"/>
                </a:solidFill>
                <a:effectLst/>
                <a:latin typeface="Menlo" panose="020B0609030804020204" pitchFamily="49" charset="0"/>
              </a:rPr>
              <a:t>As mentioned previously, well be fine-tuning a BERT model, but you can use any other model type</a:t>
            </a:r>
            <a:endParaRPr lang="en-US" b="0" dirty="0">
              <a:solidFill>
                <a:srgbClr val="D4D4D4"/>
              </a:solidFill>
              <a:effectLst/>
              <a:latin typeface="Menlo" panose="020B0609030804020204" pitchFamily="49" charset="0"/>
            </a:endParaRPr>
          </a:p>
          <a:p>
            <a:pPr>
              <a:lnSpc>
                <a:spcPts val="1350"/>
              </a:lnSpc>
            </a:pPr>
            <a:r>
              <a:rPr lang="en-US" b="0" dirty="0">
                <a:solidFill>
                  <a:srgbClr val="CE9178"/>
                </a:solidFill>
                <a:effectLst/>
                <a:latin typeface="Menlo" panose="020B0609030804020204" pitchFamily="49" charset="0"/>
              </a:rPr>
              <a:t>as long as it has a fast tokenizer implemented. You can see all the architectures that come with a</a:t>
            </a:r>
            <a:endParaRPr lang="en-US" b="0" dirty="0">
              <a:solidFill>
                <a:srgbClr val="D4D4D4"/>
              </a:solidFill>
              <a:effectLst/>
              <a:latin typeface="Menlo" panose="020B0609030804020204" pitchFamily="49" charset="0"/>
            </a:endParaRPr>
          </a:p>
          <a:p>
            <a:pPr>
              <a:lnSpc>
                <a:spcPts val="1350"/>
              </a:lnSpc>
            </a:pPr>
            <a:r>
              <a:rPr lang="en-US" b="0" dirty="0">
                <a:solidFill>
                  <a:srgbClr val="CE9178"/>
                </a:solidFill>
                <a:effectLst/>
                <a:latin typeface="Menlo" panose="020B0609030804020204" pitchFamily="49" charset="0"/>
              </a:rPr>
              <a:t>fast version in this big table, and to check that the tokenizer object </a:t>
            </a:r>
            <a:r>
              <a:rPr lang="en-US" b="0" dirty="0" err="1">
                <a:solidFill>
                  <a:srgbClr val="CE9178"/>
                </a:solidFill>
                <a:effectLst/>
                <a:latin typeface="Menlo" panose="020B0609030804020204" pitchFamily="49" charset="0"/>
              </a:rPr>
              <a:t>youre</a:t>
            </a:r>
            <a:r>
              <a:rPr lang="en-US" b="0" dirty="0">
                <a:solidFill>
                  <a:srgbClr val="CE9178"/>
                </a:solidFill>
                <a:effectLst/>
                <a:latin typeface="Menlo" panose="020B0609030804020204" pitchFamily="49" charset="0"/>
              </a:rPr>
              <a:t> using is indeed backed</a:t>
            </a:r>
            <a:endParaRPr lang="en-US" b="0" dirty="0">
              <a:solidFill>
                <a:srgbClr val="D4D4D4"/>
              </a:solidFill>
              <a:effectLst/>
              <a:latin typeface="Menlo" panose="020B0609030804020204" pitchFamily="49" charset="0"/>
            </a:endParaRPr>
          </a:p>
          <a:p>
            <a:pPr>
              <a:lnSpc>
                <a:spcPts val="1350"/>
              </a:lnSpc>
            </a:pPr>
            <a:r>
              <a:rPr lang="en-US" b="0" dirty="0">
                <a:solidFill>
                  <a:srgbClr val="CE9178"/>
                </a:solidFill>
                <a:effectLst/>
                <a:latin typeface="Menlo" panose="020B0609030804020204" pitchFamily="49" charset="0"/>
              </a:rPr>
              <a:t>by 🤗 Tokenizers you can look at its </a:t>
            </a:r>
            <a:r>
              <a:rPr lang="en-US" b="0" dirty="0" err="1">
                <a:solidFill>
                  <a:srgbClr val="CE9178"/>
                </a:solidFill>
                <a:effectLst/>
                <a:latin typeface="Menlo" panose="020B0609030804020204" pitchFamily="49" charset="0"/>
              </a:rPr>
              <a:t>is_fast</a:t>
            </a:r>
            <a:r>
              <a:rPr lang="en-US" b="0" dirty="0">
                <a:solidFill>
                  <a:srgbClr val="CE9178"/>
                </a:solidFill>
                <a:effectLst/>
                <a:latin typeface="Menlo" panose="020B0609030804020204" pitchFamily="49" charset="0"/>
              </a:rPr>
              <a:t> attribute:</a:t>
            </a: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p>
          <a:p>
            <a:pPr lvl="0">
              <a:spcAft>
                <a:spcPts val="600"/>
              </a:spcAft>
              <a:defRPr/>
            </a:pPr>
            <a:r>
              <a:rPr lang="en-US" dirty="0">
                <a:latin typeface="Consolas" panose="020B0609020204030204" pitchFamily="49" charset="0"/>
              </a:rPr>
              <a:t>Comment on Both Model’s The model came out with a very simple single word answer, whereas the RAG went into an in depth technical analysis of what is necessary. To be fair, this question was also difficult to answer and it’s subjective as to which answer is preferable, but the RAG’s answer is more </a:t>
            </a:r>
            <a:r>
              <a:rPr lang="en-US">
                <a:latin typeface="Consolas" panose="020B0609020204030204" pitchFamily="49" charset="0"/>
              </a:rPr>
              <a:t>technically complete. </a:t>
            </a:r>
            <a:endParaRPr lang="en-US" dirty="0">
              <a:latin typeface="Consolas" panose="020B0609020204030204" pitchFamily="49"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EB245E73-7731-0067-9401-97170EA55C70}"/>
              </a:ext>
            </a:extLst>
          </p:cNvPr>
          <p:cNvPicPr>
            <a:picLocks noChangeAspect="1"/>
          </p:cNvPicPr>
          <p:nvPr/>
        </p:nvPicPr>
        <p:blipFill>
          <a:blip r:embed="rId2"/>
          <a:stretch>
            <a:fillRect/>
          </a:stretch>
        </p:blipFill>
        <p:spPr>
          <a:xfrm>
            <a:off x="623455" y="4106849"/>
            <a:ext cx="7099300" cy="393700"/>
          </a:xfrm>
          <a:prstGeom prst="rect">
            <a:avLst/>
          </a:prstGeom>
        </p:spPr>
      </p:pic>
      <p:pic>
        <p:nvPicPr>
          <p:cNvPr id="5" name="Picture 4">
            <a:extLst>
              <a:ext uri="{FF2B5EF4-FFF2-40B4-BE49-F238E27FC236}">
                <a16:creationId xmlns:a16="http://schemas.microsoft.com/office/drawing/2014/main" id="{F36678F2-8822-0638-C56A-DC5C79210BE7}"/>
              </a:ext>
            </a:extLst>
          </p:cNvPr>
          <p:cNvPicPr>
            <a:picLocks noChangeAspect="1"/>
          </p:cNvPicPr>
          <p:nvPr/>
        </p:nvPicPr>
        <p:blipFill>
          <a:blip r:embed="rId3"/>
          <a:stretch>
            <a:fillRect/>
          </a:stretch>
        </p:blipFill>
        <p:spPr>
          <a:xfrm>
            <a:off x="7505205" y="3727887"/>
            <a:ext cx="3628233" cy="1117943"/>
          </a:xfrm>
          <a:prstGeom prst="rect">
            <a:avLst/>
          </a:prstGeom>
        </p:spPr>
      </p:pic>
    </p:spTree>
    <p:extLst>
      <p:ext uri="{BB962C8B-B14F-4D97-AF65-F5344CB8AC3E}">
        <p14:creationId xmlns:p14="http://schemas.microsoft.com/office/powerpoint/2010/main" val="3765697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dirty="0">
                <a:latin typeface="Segoe UI Light" panose="020B0502040204020203" pitchFamily="34" charset="0"/>
                <a:cs typeface="Segoe UI Light" panose="020B0502040204020203" pitchFamily="34" charset="0"/>
              </a:rPr>
              <a:t>🤗 QA Tasks – “</a:t>
            </a:r>
            <a:r>
              <a:rPr lang="en-US" dirty="0"/>
              <a:t>How do we deal with long context?”</a:t>
            </a:r>
            <a:endParaRPr lang="en-US" dirty="0">
              <a:latin typeface="Segoe UI Light" panose="020B0502040204020203" pitchFamily="34" charset="0"/>
              <a:cs typeface="Segoe UI Light" panose="020B0502040204020203" pitchFamily="34" charset="0"/>
            </a:endParaRPr>
          </a:p>
        </p:txBody>
      </p:sp>
      <p:sp>
        <p:nvSpPr>
          <p:cNvPr id="2" name="TextBox 1">
            <a:extLst>
              <a:ext uri="{FF2B5EF4-FFF2-40B4-BE49-F238E27FC236}">
                <a16:creationId xmlns:a16="http://schemas.microsoft.com/office/drawing/2014/main" id="{9FE87209-AA51-DBDA-3CE0-47BFBAC79C6F}"/>
              </a:ext>
            </a:extLst>
          </p:cNvPr>
          <p:cNvSpPr txBox="1"/>
          <p:nvPr/>
        </p:nvSpPr>
        <p:spPr>
          <a:xfrm>
            <a:off x="623455" y="1413164"/>
            <a:ext cx="11239994" cy="6237605"/>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endParaRPr lang="en-US" dirty="0">
              <a:solidFill>
                <a:schemeClr val="accent1"/>
              </a:solidFill>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lvl="0">
              <a:spcAft>
                <a:spcPts val="600"/>
              </a:spcAft>
              <a:defRPr/>
            </a:pPr>
            <a:r>
              <a:rPr lang="en-US" dirty="0">
                <a:latin typeface="Consolas" panose="020B0609020204030204" pitchFamily="49" charset="0"/>
              </a:rPr>
              <a:t>Context:  </a:t>
            </a:r>
            <a:r>
              <a:rPr lang="en-US" b="0" dirty="0">
                <a:solidFill>
                  <a:srgbClr val="CE9178"/>
                </a:solidFill>
                <a:effectLst/>
                <a:latin typeface="Menlo" panose="020B0609030804020204" pitchFamily="49" charset="0"/>
              </a:rPr>
              <a:t>In this case the context is not too long, but some of the examples in the dataset have very long</a:t>
            </a:r>
            <a:endParaRPr lang="en-US" b="0" dirty="0">
              <a:solidFill>
                <a:srgbClr val="D4D4D4"/>
              </a:solidFill>
              <a:effectLst/>
              <a:latin typeface="Menlo" panose="020B0609030804020204" pitchFamily="49" charset="0"/>
            </a:endParaRPr>
          </a:p>
          <a:p>
            <a:pPr>
              <a:lnSpc>
                <a:spcPts val="1350"/>
              </a:lnSpc>
            </a:pPr>
            <a:r>
              <a:rPr lang="en-US" b="0" dirty="0">
                <a:solidFill>
                  <a:srgbClr val="CE9178"/>
                </a:solidFill>
                <a:effectLst/>
                <a:latin typeface="Menlo" panose="020B0609030804020204" pitchFamily="49" charset="0"/>
              </a:rPr>
              <a:t>contexts that will exceed the maximum length we set (which is 384 in this case). As we saw in</a:t>
            </a:r>
            <a:endParaRPr lang="en-US" b="0" dirty="0">
              <a:solidFill>
                <a:srgbClr val="D4D4D4"/>
              </a:solidFill>
              <a:effectLst/>
              <a:latin typeface="Menlo" panose="020B0609030804020204" pitchFamily="49" charset="0"/>
            </a:endParaRPr>
          </a:p>
          <a:p>
            <a:pPr>
              <a:lnSpc>
                <a:spcPts val="1350"/>
              </a:lnSpc>
            </a:pPr>
            <a:r>
              <a:rPr lang="en-US" b="0" dirty="0">
                <a:solidFill>
                  <a:srgbClr val="CE9178"/>
                </a:solidFill>
                <a:effectLst/>
                <a:latin typeface="Menlo" panose="020B0609030804020204" pitchFamily="49" charset="0"/>
              </a:rPr>
              <a:t>Chapter 6 when we explored the internals of the question-answering pipeline, we will deal with</a:t>
            </a:r>
            <a:endParaRPr lang="en-US" b="0" dirty="0">
              <a:solidFill>
                <a:srgbClr val="D4D4D4"/>
              </a:solidFill>
              <a:effectLst/>
              <a:latin typeface="Menlo" panose="020B0609030804020204" pitchFamily="49" charset="0"/>
            </a:endParaRPr>
          </a:p>
          <a:p>
            <a:pPr>
              <a:lnSpc>
                <a:spcPts val="1350"/>
              </a:lnSpc>
            </a:pPr>
            <a:r>
              <a:rPr lang="en-US" b="0" dirty="0">
                <a:solidFill>
                  <a:srgbClr val="CE9178"/>
                </a:solidFill>
                <a:effectLst/>
                <a:latin typeface="Menlo" panose="020B0609030804020204" pitchFamily="49" charset="0"/>
              </a:rPr>
              <a:t>long contexts by creating several training features from one sample of our dataset, with a sliding</a:t>
            </a:r>
            <a:endParaRPr lang="en-US" b="0" dirty="0">
              <a:solidFill>
                <a:srgbClr val="D4D4D4"/>
              </a:solidFill>
              <a:effectLst/>
              <a:latin typeface="Menlo" panose="020B0609030804020204" pitchFamily="49" charset="0"/>
            </a:endParaRPr>
          </a:p>
          <a:p>
            <a:pPr>
              <a:lnSpc>
                <a:spcPts val="1350"/>
              </a:lnSpc>
            </a:pPr>
            <a:r>
              <a:rPr lang="en-US" b="0" dirty="0">
                <a:solidFill>
                  <a:srgbClr val="CE9178"/>
                </a:solidFill>
                <a:effectLst/>
                <a:latin typeface="Menlo" panose="020B0609030804020204" pitchFamily="49" charset="0"/>
              </a:rPr>
              <a:t>window between them.</a:t>
            </a:r>
          </a:p>
          <a:p>
            <a:pPr>
              <a:lnSpc>
                <a:spcPts val="1350"/>
              </a:lnSpc>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Answer:</a:t>
            </a: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C85CBD32-CC7A-818F-3023-A4389671CE3D}"/>
              </a:ext>
            </a:extLst>
          </p:cNvPr>
          <p:cNvPicPr>
            <a:picLocks noChangeAspect="1"/>
          </p:cNvPicPr>
          <p:nvPr/>
        </p:nvPicPr>
        <p:blipFill>
          <a:blip r:embed="rId2"/>
          <a:stretch>
            <a:fillRect/>
          </a:stretch>
        </p:blipFill>
        <p:spPr>
          <a:xfrm>
            <a:off x="3844636" y="4328914"/>
            <a:ext cx="5365750" cy="709521"/>
          </a:xfrm>
          <a:prstGeom prst="rect">
            <a:avLst/>
          </a:prstGeom>
        </p:spPr>
      </p:pic>
    </p:spTree>
    <p:extLst>
      <p:ext uri="{BB962C8B-B14F-4D97-AF65-F5344CB8AC3E}">
        <p14:creationId xmlns:p14="http://schemas.microsoft.com/office/powerpoint/2010/main" val="8958016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dirty="0">
                <a:latin typeface="Segoe UI Light" panose="020B0502040204020203" pitchFamily="34" charset="0"/>
                <a:cs typeface="Segoe UI Light" panose="020B0502040204020203" pitchFamily="34" charset="0"/>
              </a:rPr>
              <a:t>🤗 QA Tasks – “</a:t>
            </a:r>
            <a:r>
              <a:rPr lang="en-US" dirty="0"/>
              <a:t>What is the stride parameter?”</a:t>
            </a:r>
            <a:endParaRPr lang="en-US" dirty="0">
              <a:latin typeface="Segoe UI Light" panose="020B0502040204020203" pitchFamily="34" charset="0"/>
              <a:cs typeface="Segoe UI Light" panose="020B0502040204020203" pitchFamily="34" charset="0"/>
            </a:endParaRPr>
          </a:p>
        </p:txBody>
      </p:sp>
      <p:sp>
        <p:nvSpPr>
          <p:cNvPr id="2" name="TextBox 1">
            <a:extLst>
              <a:ext uri="{FF2B5EF4-FFF2-40B4-BE49-F238E27FC236}">
                <a16:creationId xmlns:a16="http://schemas.microsoft.com/office/drawing/2014/main" id="{EE3F6529-EF66-7062-5CD1-B4B9E3B8DE49}"/>
              </a:ext>
            </a:extLst>
          </p:cNvPr>
          <p:cNvSpPr txBox="1"/>
          <p:nvPr/>
        </p:nvSpPr>
        <p:spPr>
          <a:xfrm>
            <a:off x="623455" y="1413164"/>
            <a:ext cx="11239994" cy="5606663"/>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r>
              <a:rPr lang="en-US" b="0" i="0" dirty="0">
                <a:solidFill>
                  <a:srgbClr val="D4D4D4"/>
                </a:solidFill>
                <a:effectLst/>
                <a:latin typeface="Menlo" panose="020B0609030804020204" pitchFamily="49" charset="0"/>
              </a:rPr>
              <a:t>set the number of overlapping tokens between two successive chunks</a:t>
            </a:r>
            <a:endParaRPr lang="en-US" dirty="0">
              <a:latin typeface="Segoe UI" panose="020B0502040204020203" pitchFamily="34" charset="0"/>
              <a:cs typeface="Segoe UI" panose="020B0502040204020203" pitchFamily="34" charset="0"/>
            </a:endParaRPr>
          </a:p>
          <a:p>
            <a:pPr lvl="0">
              <a:spcAft>
                <a:spcPts val="600"/>
              </a:spcAft>
              <a:defRPr/>
            </a:pPr>
            <a:r>
              <a:rPr lang="en-US" dirty="0" err="1">
                <a:latin typeface="Consolas" panose="020B0609020204030204" pitchFamily="49" charset="0"/>
              </a:rPr>
              <a:t>Context:</a:t>
            </a:r>
            <a:r>
              <a:rPr lang="en-US" b="0" dirty="0" err="1">
                <a:solidFill>
                  <a:srgbClr val="CE9178"/>
                </a:solidFill>
                <a:effectLst/>
                <a:latin typeface="Menlo" panose="020B0609030804020204" pitchFamily="49" charset="0"/>
              </a:rPr>
              <a:t>max_length</a:t>
            </a:r>
            <a:r>
              <a:rPr lang="en-US" b="0" dirty="0">
                <a:solidFill>
                  <a:srgbClr val="CE9178"/>
                </a:solidFill>
                <a:effectLst/>
                <a:latin typeface="Menlo" panose="020B0609030804020204" pitchFamily="49" charset="0"/>
              </a:rPr>
              <a:t> to set the maximum length (here 100)</a:t>
            </a:r>
            <a:endParaRPr lang="en-US" b="0" dirty="0">
              <a:solidFill>
                <a:srgbClr val="D4D4D4"/>
              </a:solidFill>
              <a:effectLst/>
              <a:latin typeface="Menlo" panose="020B0609030804020204" pitchFamily="49" charset="0"/>
            </a:endParaRPr>
          </a:p>
          <a:p>
            <a:pPr>
              <a:lnSpc>
                <a:spcPts val="1350"/>
              </a:lnSpc>
            </a:pPr>
            <a:r>
              <a:rPr lang="en-US" b="0" dirty="0">
                <a:solidFill>
                  <a:srgbClr val="CE9178"/>
                </a:solidFill>
                <a:effectLst/>
                <a:latin typeface="Menlo" panose="020B0609030804020204" pitchFamily="49" charset="0"/>
              </a:rPr>
              <a:t>truncation="</a:t>
            </a:r>
            <a:r>
              <a:rPr lang="en-US" b="0" dirty="0" err="1">
                <a:solidFill>
                  <a:srgbClr val="CE9178"/>
                </a:solidFill>
                <a:effectLst/>
                <a:latin typeface="Menlo" panose="020B0609030804020204" pitchFamily="49" charset="0"/>
              </a:rPr>
              <a:t>only_second</a:t>
            </a:r>
            <a:r>
              <a:rPr lang="en-US" b="0" dirty="0">
                <a:solidFill>
                  <a:srgbClr val="CE9178"/>
                </a:solidFill>
                <a:effectLst/>
                <a:latin typeface="Menlo" panose="020B0609030804020204" pitchFamily="49" charset="0"/>
              </a:rPr>
              <a:t>" to truncate the context (which is in the second position) when</a:t>
            </a:r>
            <a:endParaRPr lang="en-US" b="0" dirty="0">
              <a:solidFill>
                <a:srgbClr val="D4D4D4"/>
              </a:solidFill>
              <a:effectLst/>
              <a:latin typeface="Menlo" panose="020B0609030804020204" pitchFamily="49" charset="0"/>
            </a:endParaRPr>
          </a:p>
          <a:p>
            <a:pPr>
              <a:lnSpc>
                <a:spcPts val="1350"/>
              </a:lnSpc>
            </a:pPr>
            <a:r>
              <a:rPr lang="en-US" b="0" dirty="0">
                <a:solidFill>
                  <a:srgbClr val="CE9178"/>
                </a:solidFill>
                <a:effectLst/>
                <a:latin typeface="Menlo" panose="020B0609030804020204" pitchFamily="49" charset="0"/>
              </a:rPr>
              <a:t>the question with its context is too long</a:t>
            </a:r>
            <a:endParaRPr lang="en-US" b="0" dirty="0">
              <a:solidFill>
                <a:srgbClr val="D4D4D4"/>
              </a:solidFill>
              <a:effectLst/>
              <a:latin typeface="Menlo" panose="020B0609030804020204" pitchFamily="49" charset="0"/>
            </a:endParaRPr>
          </a:p>
          <a:p>
            <a:pPr>
              <a:lnSpc>
                <a:spcPts val="1350"/>
              </a:lnSpc>
            </a:pPr>
            <a:r>
              <a:rPr lang="en-US" b="0" dirty="0">
                <a:solidFill>
                  <a:srgbClr val="CE9178"/>
                </a:solidFill>
                <a:effectLst/>
                <a:latin typeface="Menlo" panose="020B0609030804020204" pitchFamily="49" charset="0"/>
              </a:rPr>
              <a:t>stride to set the number of overlapping tokens between two successive chunks (here 50)</a:t>
            </a:r>
            <a:endParaRPr lang="en-US" b="0" dirty="0">
              <a:solidFill>
                <a:srgbClr val="D4D4D4"/>
              </a:solidFill>
              <a:effectLst/>
              <a:latin typeface="Menlo" panose="020B0609030804020204" pitchFamily="49" charset="0"/>
            </a:endParaRPr>
          </a:p>
          <a:p>
            <a:pPr>
              <a:lnSpc>
                <a:spcPts val="1350"/>
              </a:lnSpc>
            </a:pPr>
            <a:r>
              <a:rPr lang="en-US" b="0" dirty="0" err="1">
                <a:solidFill>
                  <a:srgbClr val="CE9178"/>
                </a:solidFill>
                <a:effectLst/>
                <a:latin typeface="Menlo" panose="020B0609030804020204" pitchFamily="49" charset="0"/>
              </a:rPr>
              <a:t>return_overflowing_tokens</a:t>
            </a:r>
            <a:r>
              <a:rPr lang="en-US" b="0" dirty="0">
                <a:solidFill>
                  <a:srgbClr val="CE9178"/>
                </a:solidFill>
                <a:effectLst/>
                <a:latin typeface="Menlo" panose="020B0609030804020204" pitchFamily="49" charset="0"/>
              </a:rPr>
              <a:t>=True to let the tokenizer know we want the overflowing tokens</a:t>
            </a:r>
            <a:endParaRPr lang="en-US" dirty="0">
              <a:solidFill>
                <a:srgbClr val="D4D4D4"/>
              </a:solidFill>
              <a:latin typeface="Menlo" panose="020B0609030804020204" pitchFamily="49" charset="0"/>
            </a:endParaRPr>
          </a:p>
          <a:p>
            <a:pPr>
              <a:lnSpc>
                <a:spcPts val="1350"/>
              </a:lnSpc>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Answer:</a:t>
            </a: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7831F6E5-076F-DD14-DD55-C0DB8C4B2435}"/>
              </a:ext>
            </a:extLst>
          </p:cNvPr>
          <p:cNvPicPr>
            <a:picLocks noChangeAspect="1"/>
          </p:cNvPicPr>
          <p:nvPr/>
        </p:nvPicPr>
        <p:blipFill>
          <a:blip r:embed="rId2"/>
          <a:stretch>
            <a:fillRect/>
          </a:stretch>
        </p:blipFill>
        <p:spPr>
          <a:xfrm>
            <a:off x="3896015" y="3616035"/>
            <a:ext cx="5783447" cy="876877"/>
          </a:xfrm>
          <a:prstGeom prst="rect">
            <a:avLst/>
          </a:prstGeom>
        </p:spPr>
      </p:pic>
    </p:spTree>
    <p:extLst>
      <p:ext uri="{BB962C8B-B14F-4D97-AF65-F5344CB8AC3E}">
        <p14:creationId xmlns:p14="http://schemas.microsoft.com/office/powerpoint/2010/main" val="8870226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sz="2100" dirty="0">
                <a:latin typeface="Segoe UI Light" panose="020B0502040204020203" pitchFamily="34" charset="0"/>
                <a:cs typeface="Segoe UI Light" panose="020B0502040204020203" pitchFamily="34" charset="0"/>
              </a:rPr>
              <a:t>🤗 QA Tasks – “</a:t>
            </a:r>
            <a:r>
              <a:rPr lang="en-US" sz="2100" dirty="0"/>
              <a:t>What will be the label if the answer got truncated in the splitting process?”</a:t>
            </a:r>
            <a:endParaRPr lang="en-US" sz="2100" dirty="0">
              <a:latin typeface="Segoe UI Light" panose="020B0502040204020203" pitchFamily="34" charset="0"/>
              <a:cs typeface="Segoe UI Light" panose="020B0502040204020203" pitchFamily="34" charset="0"/>
            </a:endParaRPr>
          </a:p>
        </p:txBody>
      </p:sp>
      <p:sp>
        <p:nvSpPr>
          <p:cNvPr id="2" name="TextBox 1">
            <a:extLst>
              <a:ext uri="{FF2B5EF4-FFF2-40B4-BE49-F238E27FC236}">
                <a16:creationId xmlns:a16="http://schemas.microsoft.com/office/drawing/2014/main" id="{C1825C0F-831A-0BFB-DAF0-F04A04618F1F}"/>
              </a:ext>
            </a:extLst>
          </p:cNvPr>
          <p:cNvSpPr txBox="1"/>
          <p:nvPr/>
        </p:nvSpPr>
        <p:spPr>
          <a:xfrm>
            <a:off x="623455" y="1413164"/>
            <a:ext cx="11239994" cy="6940361"/>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r>
              <a:rPr lang="en-US" b="0" i="0" dirty="0" err="1">
                <a:solidFill>
                  <a:srgbClr val="D4D4D4"/>
                </a:solidFill>
                <a:effectLst/>
                <a:latin typeface="Menlo" panose="020B0609030804020204" pitchFamily="49" charset="0"/>
              </a:rPr>
              <a:t>theindex</a:t>
            </a:r>
            <a:endParaRPr lang="en-US" dirty="0">
              <a:latin typeface="Segoe UI" panose="020B0502040204020203" pitchFamily="34" charset="0"/>
              <a:cs typeface="Segoe UI" panose="020B0502040204020203" pitchFamily="34" charset="0"/>
            </a:endParaRPr>
          </a:p>
          <a:p>
            <a:pPr>
              <a:spcAft>
                <a:spcPts val="600"/>
              </a:spcAft>
              <a:defRPr/>
            </a:pPr>
            <a:r>
              <a:rPr lang="en-US" dirty="0">
                <a:latin typeface="Consolas" panose="020B0609020204030204" pitchFamily="49" charset="0"/>
              </a:rPr>
              <a:t>Context: </a:t>
            </a:r>
            <a:r>
              <a:rPr lang="en-US" b="0" dirty="0">
                <a:solidFill>
                  <a:srgbClr val="CE9178"/>
                </a:solidFill>
                <a:effectLst/>
                <a:latin typeface="Menlo" panose="020B0609030804020204" pitchFamily="49" charset="0"/>
              </a:rPr>
              <a:t>As we can see, our example has been in split into four inputs, each of them containing the </a:t>
            </a:r>
            <a:r>
              <a:rPr lang="en-US" b="0" dirty="0" err="1">
                <a:solidFill>
                  <a:srgbClr val="CE9178"/>
                </a:solidFill>
                <a:effectLst/>
                <a:latin typeface="Menlo" panose="020B0609030804020204" pitchFamily="49" charset="0"/>
              </a:rPr>
              <a:t>questionand</a:t>
            </a:r>
            <a:r>
              <a:rPr lang="en-US" b="0" dirty="0">
                <a:solidFill>
                  <a:srgbClr val="CE9178"/>
                </a:solidFill>
                <a:effectLst/>
                <a:latin typeface="Menlo" panose="020B0609030804020204" pitchFamily="49" charset="0"/>
              </a:rPr>
              <a:t> some part of the context. Note that the answer to the question (“Bernadette Soubirous”) </a:t>
            </a:r>
            <a:r>
              <a:rPr lang="en-US" b="0" dirty="0" err="1">
                <a:solidFill>
                  <a:srgbClr val="CE9178"/>
                </a:solidFill>
                <a:effectLst/>
                <a:latin typeface="Menlo" panose="020B0609030804020204" pitchFamily="49" charset="0"/>
              </a:rPr>
              <a:t>onlyappears</a:t>
            </a:r>
            <a:r>
              <a:rPr lang="en-US" b="0" dirty="0">
                <a:solidFill>
                  <a:srgbClr val="CE9178"/>
                </a:solidFill>
                <a:effectLst/>
                <a:latin typeface="Menlo" panose="020B0609030804020204" pitchFamily="49" charset="0"/>
              </a:rPr>
              <a:t> in the third and last inputs, so by dealing with long contexts in this way we will create </a:t>
            </a:r>
            <a:r>
              <a:rPr lang="en-US" b="0" dirty="0" err="1">
                <a:solidFill>
                  <a:srgbClr val="CE9178"/>
                </a:solidFill>
                <a:effectLst/>
                <a:latin typeface="Menlo" panose="020B0609030804020204" pitchFamily="49" charset="0"/>
              </a:rPr>
              <a:t>sometraining</a:t>
            </a:r>
            <a:r>
              <a:rPr lang="en-US" b="0" dirty="0">
                <a:solidFill>
                  <a:srgbClr val="CE9178"/>
                </a:solidFill>
                <a:effectLst/>
                <a:latin typeface="Menlo" panose="020B0609030804020204" pitchFamily="49" charset="0"/>
              </a:rPr>
              <a:t> examples where the answer is not included in the context. For those examples, the </a:t>
            </a:r>
            <a:r>
              <a:rPr lang="en-US" b="0" dirty="0" err="1">
                <a:solidFill>
                  <a:srgbClr val="CE9178"/>
                </a:solidFill>
                <a:effectLst/>
                <a:latin typeface="Menlo" panose="020B0609030804020204" pitchFamily="49" charset="0"/>
              </a:rPr>
              <a:t>labelswill</a:t>
            </a:r>
            <a:r>
              <a:rPr lang="en-US" b="0" dirty="0">
                <a:solidFill>
                  <a:srgbClr val="CE9178"/>
                </a:solidFill>
                <a:effectLst/>
                <a:latin typeface="Menlo" panose="020B0609030804020204" pitchFamily="49" charset="0"/>
              </a:rPr>
              <a:t> be </a:t>
            </a:r>
            <a:r>
              <a:rPr lang="en-US" b="0" dirty="0" err="1">
                <a:solidFill>
                  <a:srgbClr val="CE9178"/>
                </a:solidFill>
                <a:effectLst/>
                <a:latin typeface="Menlo" panose="020B0609030804020204" pitchFamily="49" charset="0"/>
              </a:rPr>
              <a:t>start_position</a:t>
            </a:r>
            <a:r>
              <a:rPr lang="en-US" b="0" dirty="0">
                <a:solidFill>
                  <a:srgbClr val="CE9178"/>
                </a:solidFill>
                <a:effectLst/>
                <a:latin typeface="Menlo" panose="020B0609030804020204" pitchFamily="49" charset="0"/>
              </a:rPr>
              <a:t> = </a:t>
            </a:r>
            <a:r>
              <a:rPr lang="en-US" b="0" dirty="0" err="1">
                <a:solidFill>
                  <a:srgbClr val="CE9178"/>
                </a:solidFill>
                <a:effectLst/>
                <a:latin typeface="Menlo" panose="020B0609030804020204" pitchFamily="49" charset="0"/>
              </a:rPr>
              <a:t>end_position</a:t>
            </a:r>
            <a:r>
              <a:rPr lang="en-US" b="0" dirty="0">
                <a:solidFill>
                  <a:srgbClr val="CE9178"/>
                </a:solidFill>
                <a:effectLst/>
                <a:latin typeface="Menlo" panose="020B0609030804020204" pitchFamily="49" charset="0"/>
              </a:rPr>
              <a:t> = 0 (so we predict the [CLS] token). We will also </a:t>
            </a:r>
            <a:r>
              <a:rPr lang="en-US" b="0" dirty="0" err="1">
                <a:solidFill>
                  <a:srgbClr val="CE9178"/>
                </a:solidFill>
                <a:effectLst/>
                <a:latin typeface="Menlo" panose="020B0609030804020204" pitchFamily="49" charset="0"/>
              </a:rPr>
              <a:t>setthose</a:t>
            </a:r>
            <a:r>
              <a:rPr lang="en-US" b="0" dirty="0">
                <a:solidFill>
                  <a:srgbClr val="CE9178"/>
                </a:solidFill>
                <a:effectLst/>
                <a:latin typeface="Menlo" panose="020B0609030804020204" pitchFamily="49" charset="0"/>
              </a:rPr>
              <a:t> labels in the unfortunate case where the answer has been truncated so that we only have </a:t>
            </a:r>
            <a:r>
              <a:rPr lang="en-US" b="0" dirty="0" err="1">
                <a:solidFill>
                  <a:srgbClr val="CE9178"/>
                </a:solidFill>
                <a:effectLst/>
                <a:latin typeface="Menlo" panose="020B0609030804020204" pitchFamily="49" charset="0"/>
              </a:rPr>
              <a:t>thestart</a:t>
            </a:r>
            <a:r>
              <a:rPr lang="en-US" b="0" dirty="0">
                <a:solidFill>
                  <a:srgbClr val="CE9178"/>
                </a:solidFill>
                <a:effectLst/>
                <a:latin typeface="Menlo" panose="020B0609030804020204" pitchFamily="49" charset="0"/>
              </a:rPr>
              <a:t> (or end) of it. For the examples where the answer is fully in the context, the labels will be </a:t>
            </a:r>
            <a:r>
              <a:rPr lang="en-US" b="0" dirty="0" err="1">
                <a:solidFill>
                  <a:srgbClr val="CE9178"/>
                </a:solidFill>
                <a:effectLst/>
                <a:latin typeface="Menlo" panose="020B0609030804020204" pitchFamily="49" charset="0"/>
              </a:rPr>
              <a:t>theindex</a:t>
            </a:r>
            <a:r>
              <a:rPr lang="en-US" b="0" dirty="0">
                <a:solidFill>
                  <a:srgbClr val="CE9178"/>
                </a:solidFill>
                <a:effectLst/>
                <a:latin typeface="Menlo" panose="020B0609030804020204" pitchFamily="49" charset="0"/>
              </a:rPr>
              <a:t> of the token where the answer starts and the index of the token where the answer ends.</a:t>
            </a: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Answer:</a:t>
            </a: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622EBC9D-2BF5-3484-BE73-2444FF6E7E64}"/>
              </a:ext>
            </a:extLst>
          </p:cNvPr>
          <p:cNvPicPr>
            <a:picLocks noChangeAspect="1"/>
          </p:cNvPicPr>
          <p:nvPr/>
        </p:nvPicPr>
        <p:blipFill>
          <a:blip r:embed="rId2"/>
          <a:stretch>
            <a:fillRect/>
          </a:stretch>
        </p:blipFill>
        <p:spPr>
          <a:xfrm>
            <a:off x="623455" y="5209886"/>
            <a:ext cx="7404100" cy="469900"/>
          </a:xfrm>
          <a:prstGeom prst="rect">
            <a:avLst/>
          </a:prstGeom>
        </p:spPr>
      </p:pic>
    </p:spTree>
    <p:extLst>
      <p:ext uri="{BB962C8B-B14F-4D97-AF65-F5344CB8AC3E}">
        <p14:creationId xmlns:p14="http://schemas.microsoft.com/office/powerpoint/2010/main" val="18826403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sz="2400" dirty="0">
                <a:latin typeface="Segoe UI Light" panose="020B0502040204020203" pitchFamily="34" charset="0"/>
                <a:cs typeface="Segoe UI Light" panose="020B0502040204020203" pitchFamily="34" charset="0"/>
              </a:rPr>
              <a:t>🤗 QA Tasks – “</a:t>
            </a:r>
            <a:r>
              <a:rPr lang="en-US" sz="2400" dirty="0"/>
              <a:t>What is the purpose of </a:t>
            </a:r>
            <a:r>
              <a:rPr lang="en-US" sz="2400" dirty="0" err="1"/>
              <a:t>overflow_to_sample_mapping</a:t>
            </a:r>
            <a:r>
              <a:rPr lang="en-US" sz="2400" dirty="0"/>
              <a:t>?”</a:t>
            </a:r>
            <a:endParaRPr lang="en-US" sz="2400" dirty="0">
              <a:latin typeface="Segoe UI Light" panose="020B0502040204020203" pitchFamily="34" charset="0"/>
              <a:cs typeface="Segoe UI Light" panose="020B0502040204020203" pitchFamily="34" charset="0"/>
            </a:endParaRPr>
          </a:p>
        </p:txBody>
      </p:sp>
      <p:sp>
        <p:nvSpPr>
          <p:cNvPr id="2" name="TextBox 1">
            <a:extLst>
              <a:ext uri="{FF2B5EF4-FFF2-40B4-BE49-F238E27FC236}">
                <a16:creationId xmlns:a16="http://schemas.microsoft.com/office/drawing/2014/main" id="{9514F6C5-9639-129D-F0C4-544EE44A08A0}"/>
              </a:ext>
            </a:extLst>
          </p:cNvPr>
          <p:cNvSpPr txBox="1"/>
          <p:nvPr/>
        </p:nvSpPr>
        <p:spPr>
          <a:xfrm>
            <a:off x="623455" y="1413164"/>
            <a:ext cx="11239994" cy="5832366"/>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r>
              <a:rPr lang="en-US" b="0" i="0" dirty="0">
                <a:solidFill>
                  <a:srgbClr val="D4D4D4"/>
                </a:solidFill>
                <a:effectLst/>
                <a:latin typeface="Menlo" panose="020B0609030804020204" pitchFamily="49" charset="0"/>
              </a:rPr>
              <a:t>tokenize several texts at the same time</a:t>
            </a:r>
            <a:endParaRPr lang="en-US" dirty="0">
              <a:latin typeface="Segoe UI" panose="020B0502040204020203" pitchFamily="34" charset="0"/>
              <a:cs typeface="Segoe UI" panose="020B0502040204020203" pitchFamily="34" charset="0"/>
            </a:endParaRPr>
          </a:p>
          <a:p>
            <a:pPr>
              <a:spcAft>
                <a:spcPts val="600"/>
              </a:spcAft>
              <a:defRPr/>
            </a:pPr>
            <a:r>
              <a:rPr lang="en-US" dirty="0">
                <a:latin typeface="Consolas" panose="020B0609020204030204" pitchFamily="49" charset="0"/>
              </a:rPr>
              <a:t>Context: </a:t>
            </a:r>
            <a:r>
              <a:rPr lang="en-US" b="0" dirty="0">
                <a:solidFill>
                  <a:srgbClr val="CE9178"/>
                </a:solidFill>
                <a:effectLst/>
                <a:latin typeface="Menlo" panose="020B0609030804020204" pitchFamily="49" charset="0"/>
              </a:rPr>
              <a:t>As we can see, we get back the usual input IDs, token type IDs, and attention mask, as well as </a:t>
            </a:r>
            <a:r>
              <a:rPr lang="en-US" b="0" dirty="0" err="1">
                <a:solidFill>
                  <a:srgbClr val="CE9178"/>
                </a:solidFill>
                <a:effectLst/>
                <a:latin typeface="Menlo" panose="020B0609030804020204" pitchFamily="49" charset="0"/>
              </a:rPr>
              <a:t>theoset</a:t>
            </a:r>
            <a:r>
              <a:rPr lang="en-US" b="0" dirty="0">
                <a:solidFill>
                  <a:srgbClr val="CE9178"/>
                </a:solidFill>
                <a:effectLst/>
                <a:latin typeface="Menlo" panose="020B0609030804020204" pitchFamily="49" charset="0"/>
              </a:rPr>
              <a:t> mapping we required and an extra key, </a:t>
            </a:r>
            <a:r>
              <a:rPr lang="en-US" b="0" dirty="0" err="1">
                <a:solidFill>
                  <a:srgbClr val="CE9178"/>
                </a:solidFill>
                <a:effectLst/>
                <a:latin typeface="Menlo" panose="020B0609030804020204" pitchFamily="49" charset="0"/>
              </a:rPr>
              <a:t>overflow_to_sample_mapping</a:t>
            </a:r>
            <a:r>
              <a:rPr lang="en-US" b="0" dirty="0">
                <a:solidFill>
                  <a:srgbClr val="CE9178"/>
                </a:solidFill>
                <a:effectLst/>
                <a:latin typeface="Menlo" panose="020B0609030804020204" pitchFamily="49" charset="0"/>
              </a:rPr>
              <a:t>. The </a:t>
            </a:r>
            <a:r>
              <a:rPr lang="en-US" b="0" dirty="0" err="1">
                <a:solidFill>
                  <a:srgbClr val="CE9178"/>
                </a:solidFill>
                <a:effectLst/>
                <a:latin typeface="Menlo" panose="020B0609030804020204" pitchFamily="49" charset="0"/>
              </a:rPr>
              <a:t>correspondingvalue</a:t>
            </a:r>
            <a:r>
              <a:rPr lang="en-US" b="0" dirty="0">
                <a:solidFill>
                  <a:srgbClr val="CE9178"/>
                </a:solidFill>
                <a:effectLst/>
                <a:latin typeface="Menlo" panose="020B0609030804020204" pitchFamily="49" charset="0"/>
              </a:rPr>
              <a:t> will be of use to us when we tokenize several texts at the same time (which we should do </a:t>
            </a:r>
            <a:r>
              <a:rPr lang="en-US" b="0" dirty="0" err="1">
                <a:solidFill>
                  <a:srgbClr val="CE9178"/>
                </a:solidFill>
                <a:effectLst/>
                <a:latin typeface="Menlo" panose="020B0609030804020204" pitchFamily="49" charset="0"/>
              </a:rPr>
              <a:t>tobenefit</a:t>
            </a:r>
            <a:r>
              <a:rPr lang="en-US" b="0" dirty="0">
                <a:solidFill>
                  <a:srgbClr val="CE9178"/>
                </a:solidFill>
                <a:effectLst/>
                <a:latin typeface="Menlo" panose="020B0609030804020204" pitchFamily="49" charset="0"/>
              </a:rPr>
              <a:t> from the fact that our tokenizer is backed by Rust). Since one sample can give </a:t>
            </a:r>
            <a:r>
              <a:rPr lang="en-US" b="0" dirty="0" err="1">
                <a:solidFill>
                  <a:srgbClr val="CE9178"/>
                </a:solidFill>
                <a:effectLst/>
                <a:latin typeface="Menlo" panose="020B0609030804020204" pitchFamily="49" charset="0"/>
              </a:rPr>
              <a:t>severalfeatures</a:t>
            </a:r>
            <a:r>
              <a:rPr lang="en-US" b="0" dirty="0">
                <a:solidFill>
                  <a:srgbClr val="CE9178"/>
                </a:solidFill>
                <a:effectLst/>
                <a:latin typeface="Menlo" panose="020B0609030804020204" pitchFamily="49" charset="0"/>
              </a:rPr>
              <a:t>, it maps each feature to the example it originated from. Because here we only </a:t>
            </a:r>
            <a:r>
              <a:rPr lang="en-US" b="0" dirty="0" err="1">
                <a:solidFill>
                  <a:srgbClr val="CE9178"/>
                </a:solidFill>
                <a:effectLst/>
                <a:latin typeface="Menlo" panose="020B0609030804020204" pitchFamily="49" charset="0"/>
              </a:rPr>
              <a:t>tokenizedone</a:t>
            </a:r>
            <a:r>
              <a:rPr lang="en-US" b="0" dirty="0">
                <a:solidFill>
                  <a:srgbClr val="CE9178"/>
                </a:solidFill>
                <a:effectLst/>
                <a:latin typeface="Menlo" panose="020B0609030804020204" pitchFamily="49" charset="0"/>
              </a:rPr>
              <a:t> example, we get a list of 0s:</a:t>
            </a: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Answer:</a:t>
            </a: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9274E908-D525-A82D-A381-59B4375D946F}"/>
              </a:ext>
            </a:extLst>
          </p:cNvPr>
          <p:cNvPicPr>
            <a:picLocks noChangeAspect="1"/>
          </p:cNvPicPr>
          <p:nvPr/>
        </p:nvPicPr>
        <p:blipFill>
          <a:blip r:embed="rId2"/>
          <a:stretch>
            <a:fillRect/>
          </a:stretch>
        </p:blipFill>
        <p:spPr>
          <a:xfrm>
            <a:off x="3853652" y="3823854"/>
            <a:ext cx="4836611" cy="938447"/>
          </a:xfrm>
          <a:prstGeom prst="rect">
            <a:avLst/>
          </a:prstGeom>
        </p:spPr>
      </p:pic>
    </p:spTree>
    <p:extLst>
      <p:ext uri="{BB962C8B-B14F-4D97-AF65-F5344CB8AC3E}">
        <p14:creationId xmlns:p14="http://schemas.microsoft.com/office/powerpoint/2010/main" val="24196432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dirty="0">
                <a:latin typeface="Segoe UI Light" panose="020B0502040204020203" pitchFamily="34" charset="0"/>
                <a:cs typeface="Segoe UI Light" panose="020B0502040204020203" pitchFamily="34" charset="0"/>
              </a:rPr>
              <a:t>🤗 QA Tasks – “</a:t>
            </a:r>
            <a:r>
              <a:rPr lang="en-US" dirty="0"/>
              <a:t>What is the post-process trying to do?”</a:t>
            </a:r>
            <a:endParaRPr lang="en-US" dirty="0">
              <a:latin typeface="Segoe UI Light" panose="020B0502040204020203" pitchFamily="34" charset="0"/>
              <a:cs typeface="Segoe UI Light" panose="020B0502040204020203" pitchFamily="34" charset="0"/>
            </a:endParaRPr>
          </a:p>
        </p:txBody>
      </p:sp>
      <p:sp>
        <p:nvSpPr>
          <p:cNvPr id="2" name="TextBox 1">
            <a:extLst>
              <a:ext uri="{FF2B5EF4-FFF2-40B4-BE49-F238E27FC236}">
                <a16:creationId xmlns:a16="http://schemas.microsoft.com/office/drawing/2014/main" id="{994EEAE9-57AA-371F-A338-3ACD81871E1B}"/>
              </a:ext>
            </a:extLst>
          </p:cNvPr>
          <p:cNvSpPr txBox="1"/>
          <p:nvPr/>
        </p:nvSpPr>
        <p:spPr>
          <a:xfrm>
            <a:off x="623455" y="1413164"/>
            <a:ext cx="11239994" cy="6145272"/>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r>
              <a:rPr lang="en-US" b="0" i="0" dirty="0">
                <a:solidFill>
                  <a:srgbClr val="D4D4D4"/>
                </a:solidFill>
                <a:effectLst/>
                <a:latin typeface="Menlo" panose="020B0609030804020204" pitchFamily="49" charset="0"/>
              </a:rPr>
              <a:t>what we did there</a:t>
            </a:r>
            <a:endParaRPr lang="en-US" dirty="0">
              <a:solidFill>
                <a:schemeClr val="accent1"/>
              </a:solidFill>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a:lnSpc>
                <a:spcPts val="1350"/>
              </a:lnSpc>
            </a:pPr>
            <a:r>
              <a:rPr lang="en-US" dirty="0">
                <a:latin typeface="Consolas" panose="020B0609020204030204" pitchFamily="49" charset="0"/>
              </a:rPr>
              <a:t>Context: </a:t>
            </a:r>
            <a:r>
              <a:rPr lang="en-US" b="0" dirty="0">
                <a:solidFill>
                  <a:srgbClr val="CE9178"/>
                </a:solidFill>
                <a:effectLst/>
                <a:latin typeface="Menlo" panose="020B0609030804020204" pitchFamily="49" charset="0"/>
              </a:rPr>
              <a:t>The model will output logits for the start and end positions of the answer in the input IDs, as </a:t>
            </a:r>
            <a:r>
              <a:rPr lang="en-US" b="0" dirty="0" err="1">
                <a:solidFill>
                  <a:srgbClr val="CE9178"/>
                </a:solidFill>
                <a:effectLst/>
                <a:latin typeface="Menlo" panose="020B0609030804020204" pitchFamily="49" charset="0"/>
              </a:rPr>
              <a:t>wesaw</a:t>
            </a:r>
            <a:r>
              <a:rPr lang="en-US" b="0" dirty="0">
                <a:solidFill>
                  <a:srgbClr val="CE9178"/>
                </a:solidFill>
                <a:effectLst/>
                <a:latin typeface="Menlo" panose="020B0609030804020204" pitchFamily="49" charset="0"/>
              </a:rPr>
              <a:t> during our exploration of the question-answering pipeline. The post-processing step will </a:t>
            </a:r>
            <a:r>
              <a:rPr lang="en-US" b="0" dirty="0" err="1">
                <a:solidFill>
                  <a:srgbClr val="CE9178"/>
                </a:solidFill>
                <a:effectLst/>
                <a:latin typeface="Menlo" panose="020B0609030804020204" pitchFamily="49" charset="0"/>
              </a:rPr>
              <a:t>besimilar</a:t>
            </a:r>
            <a:r>
              <a:rPr lang="en-US" b="0" dirty="0">
                <a:solidFill>
                  <a:srgbClr val="CE9178"/>
                </a:solidFill>
                <a:effectLst/>
                <a:latin typeface="Menlo" panose="020B0609030804020204" pitchFamily="49" charset="0"/>
              </a:rPr>
              <a:t> to what we did there, so </a:t>
            </a:r>
            <a:r>
              <a:rPr lang="en-US" b="0" dirty="0" err="1">
                <a:solidFill>
                  <a:srgbClr val="CE9178"/>
                </a:solidFill>
                <a:effectLst/>
                <a:latin typeface="Menlo" panose="020B0609030804020204" pitchFamily="49" charset="0"/>
              </a:rPr>
              <a:t>hereʼs</a:t>
            </a:r>
            <a:r>
              <a:rPr lang="en-US" b="0" dirty="0">
                <a:solidFill>
                  <a:srgbClr val="CE9178"/>
                </a:solidFill>
                <a:effectLst/>
                <a:latin typeface="Menlo" panose="020B0609030804020204" pitchFamily="49" charset="0"/>
              </a:rPr>
              <a:t> a quick reminder of the actions we </a:t>
            </a:r>
            <a:r>
              <a:rPr lang="en-US" b="0" dirty="0" err="1">
                <a:solidFill>
                  <a:srgbClr val="CE9178"/>
                </a:solidFill>
                <a:effectLst/>
                <a:latin typeface="Menlo" panose="020B0609030804020204" pitchFamily="49" charset="0"/>
              </a:rPr>
              <a:t>took:We</a:t>
            </a:r>
            <a:r>
              <a:rPr lang="en-US" b="0" dirty="0">
                <a:solidFill>
                  <a:srgbClr val="CE9178"/>
                </a:solidFill>
                <a:effectLst/>
                <a:latin typeface="Menlo" panose="020B0609030804020204" pitchFamily="49" charset="0"/>
              </a:rPr>
              <a:t> masked the start and end logits corresponding to tokens outside of the </a:t>
            </a:r>
            <a:r>
              <a:rPr lang="en-US" b="0" dirty="0" err="1">
                <a:solidFill>
                  <a:srgbClr val="CE9178"/>
                </a:solidFill>
                <a:effectLst/>
                <a:latin typeface="Menlo" panose="020B0609030804020204" pitchFamily="49" charset="0"/>
              </a:rPr>
              <a:t>context.We</a:t>
            </a:r>
            <a:r>
              <a:rPr lang="en-US" b="0" dirty="0">
                <a:solidFill>
                  <a:srgbClr val="CE9178"/>
                </a:solidFill>
                <a:effectLst/>
                <a:latin typeface="Menlo" panose="020B0609030804020204" pitchFamily="49" charset="0"/>
              </a:rPr>
              <a:t> then converted the start and end logits into probabilities using a </a:t>
            </a:r>
            <a:r>
              <a:rPr lang="en-US" b="0" dirty="0" err="1">
                <a:solidFill>
                  <a:srgbClr val="CE9178"/>
                </a:solidFill>
                <a:effectLst/>
                <a:latin typeface="Menlo" panose="020B0609030804020204" pitchFamily="49" charset="0"/>
              </a:rPr>
              <a:t>somax.We</a:t>
            </a:r>
            <a:r>
              <a:rPr lang="en-US" b="0" dirty="0">
                <a:solidFill>
                  <a:srgbClr val="CE9178"/>
                </a:solidFill>
                <a:effectLst/>
                <a:latin typeface="Menlo" panose="020B0609030804020204" pitchFamily="49" charset="0"/>
              </a:rPr>
              <a:t> attributed a score to each (</a:t>
            </a:r>
            <a:r>
              <a:rPr lang="en-US" b="0" dirty="0" err="1">
                <a:solidFill>
                  <a:srgbClr val="CE9178"/>
                </a:solidFill>
                <a:effectLst/>
                <a:latin typeface="Menlo" panose="020B0609030804020204" pitchFamily="49" charset="0"/>
              </a:rPr>
              <a:t>start_token</a:t>
            </a:r>
            <a:r>
              <a:rPr lang="en-US" b="0" dirty="0">
                <a:solidFill>
                  <a:srgbClr val="CE9178"/>
                </a:solidFill>
                <a:effectLst/>
                <a:latin typeface="Menlo" panose="020B0609030804020204" pitchFamily="49" charset="0"/>
              </a:rPr>
              <a:t>, </a:t>
            </a:r>
            <a:r>
              <a:rPr lang="en-US" b="0" dirty="0" err="1">
                <a:solidFill>
                  <a:srgbClr val="CE9178"/>
                </a:solidFill>
                <a:effectLst/>
                <a:latin typeface="Menlo" panose="020B0609030804020204" pitchFamily="49" charset="0"/>
              </a:rPr>
              <a:t>end_token</a:t>
            </a:r>
            <a:r>
              <a:rPr lang="en-US" b="0" dirty="0">
                <a:solidFill>
                  <a:srgbClr val="CE9178"/>
                </a:solidFill>
                <a:effectLst/>
                <a:latin typeface="Menlo" panose="020B0609030804020204" pitchFamily="49" charset="0"/>
              </a:rPr>
              <a:t>) pair by taking the product of </a:t>
            </a:r>
            <a:r>
              <a:rPr lang="en-US" b="0" dirty="0" err="1">
                <a:solidFill>
                  <a:srgbClr val="CE9178"/>
                </a:solidFill>
                <a:effectLst/>
                <a:latin typeface="Menlo" panose="020B0609030804020204" pitchFamily="49" charset="0"/>
              </a:rPr>
              <a:t>thecorresponding</a:t>
            </a:r>
            <a:r>
              <a:rPr lang="en-US" b="0" dirty="0">
                <a:solidFill>
                  <a:srgbClr val="CE9178"/>
                </a:solidFill>
                <a:effectLst/>
                <a:latin typeface="Menlo" panose="020B0609030804020204" pitchFamily="49" charset="0"/>
              </a:rPr>
              <a:t> two </a:t>
            </a:r>
            <a:r>
              <a:rPr lang="en-US" b="0" dirty="0" err="1">
                <a:solidFill>
                  <a:srgbClr val="CE9178"/>
                </a:solidFill>
                <a:effectLst/>
                <a:latin typeface="Menlo" panose="020B0609030804020204" pitchFamily="49" charset="0"/>
              </a:rPr>
              <a:t>probabilities.We</a:t>
            </a:r>
            <a:r>
              <a:rPr lang="en-US" b="0" dirty="0">
                <a:solidFill>
                  <a:srgbClr val="CE9178"/>
                </a:solidFill>
                <a:effectLst/>
                <a:latin typeface="Menlo" panose="020B0609030804020204" pitchFamily="49" charset="0"/>
              </a:rPr>
              <a:t> looked for the pair with the maximum score that yielded a valid answer (e.g., a</a:t>
            </a:r>
            <a:endParaRPr lang="en-US" b="0" dirty="0">
              <a:solidFill>
                <a:srgbClr val="D4D4D4"/>
              </a:solidFill>
              <a:effectLst/>
              <a:latin typeface="Menlo" panose="020B0609030804020204" pitchFamily="49" charset="0"/>
            </a:endParaRPr>
          </a:p>
          <a:p>
            <a:pPr>
              <a:lnSpc>
                <a:spcPts val="1350"/>
              </a:lnSpc>
            </a:pPr>
            <a:r>
              <a:rPr lang="en-US" b="0" dirty="0" err="1">
                <a:solidFill>
                  <a:srgbClr val="CE9178"/>
                </a:solidFill>
                <a:effectLst/>
                <a:latin typeface="Menlo" panose="020B0609030804020204" pitchFamily="49" charset="0"/>
              </a:rPr>
              <a:t>start_token</a:t>
            </a:r>
            <a:r>
              <a:rPr lang="en-US" b="0" dirty="0">
                <a:solidFill>
                  <a:srgbClr val="CE9178"/>
                </a:solidFill>
                <a:effectLst/>
                <a:latin typeface="Menlo" panose="020B0609030804020204" pitchFamily="49" charset="0"/>
              </a:rPr>
              <a:t> lower than </a:t>
            </a:r>
            <a:r>
              <a:rPr lang="en-US" b="0" dirty="0" err="1">
                <a:solidFill>
                  <a:srgbClr val="CE9178"/>
                </a:solidFill>
                <a:effectLst/>
                <a:latin typeface="Menlo" panose="020B0609030804020204" pitchFamily="49" charset="0"/>
              </a:rPr>
              <a:t>end_token</a:t>
            </a:r>
            <a:r>
              <a:rPr lang="en-US" b="0" dirty="0">
                <a:solidFill>
                  <a:srgbClr val="CE9178"/>
                </a:solidFill>
                <a:effectLst/>
                <a:latin typeface="Menlo" panose="020B0609030804020204" pitchFamily="49" charset="0"/>
              </a:rPr>
              <a:t>)</a:t>
            </a:r>
            <a:endParaRPr lang="en-US" b="0" dirty="0">
              <a:solidFill>
                <a:srgbClr val="CE9178"/>
              </a:solidFill>
              <a:effectLst/>
              <a:latin typeface="Consolas" panose="020B0609020204030204" pitchFamily="49" charset="0"/>
            </a:endParaRPr>
          </a:p>
          <a:p>
            <a:pPr>
              <a:lnSpc>
                <a:spcPts val="1350"/>
              </a:lnSpc>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Answer:</a:t>
            </a: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C7D6AFE2-17E0-B4AE-C268-F9FB9D20981E}"/>
              </a:ext>
            </a:extLst>
          </p:cNvPr>
          <p:cNvPicPr>
            <a:picLocks noChangeAspect="1"/>
          </p:cNvPicPr>
          <p:nvPr/>
        </p:nvPicPr>
        <p:blipFill>
          <a:blip r:embed="rId2"/>
          <a:stretch>
            <a:fillRect/>
          </a:stretch>
        </p:blipFill>
        <p:spPr>
          <a:xfrm>
            <a:off x="3855027" y="4159827"/>
            <a:ext cx="5105400" cy="990600"/>
          </a:xfrm>
          <a:prstGeom prst="rect">
            <a:avLst/>
          </a:prstGeom>
        </p:spPr>
      </p:pic>
    </p:spTree>
    <p:extLst>
      <p:ext uri="{BB962C8B-B14F-4D97-AF65-F5344CB8AC3E}">
        <p14:creationId xmlns:p14="http://schemas.microsoft.com/office/powerpoint/2010/main" val="2078386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sz="2400" dirty="0">
                <a:latin typeface="Segoe UI Light" panose="020B0502040204020203" pitchFamily="34" charset="0"/>
                <a:cs typeface="Segoe UI Light" panose="020B0502040204020203" pitchFamily="34" charset="0"/>
              </a:rPr>
              <a:t>🤗 QA Tasks – “</a:t>
            </a:r>
            <a:r>
              <a:rPr lang="en-US" sz="2400" dirty="0"/>
              <a:t>What do you need to push the trained model to the Hub?”</a:t>
            </a:r>
            <a:endParaRPr lang="en-US" sz="2400" dirty="0">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10FF06AA-81E0-289F-DDB0-05E6DBF6DF54}"/>
              </a:ext>
            </a:extLst>
          </p:cNvPr>
          <p:cNvSpPr txBox="1"/>
          <p:nvPr/>
        </p:nvSpPr>
        <p:spPr>
          <a:xfrm>
            <a:off x="623455" y="1413164"/>
            <a:ext cx="11239994" cy="5355312"/>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r>
              <a:rPr lang="en-US" b="0" i="0" dirty="0">
                <a:solidFill>
                  <a:srgbClr val="D4D4D4"/>
                </a:solidFill>
                <a:effectLst/>
                <a:latin typeface="Menlo" panose="020B0609030804020204" pitchFamily="49" charset="0"/>
              </a:rPr>
              <a:t>log in to Hugging Face</a:t>
            </a:r>
            <a:endParaRPr lang="en-US" dirty="0">
              <a:solidFill>
                <a:schemeClr val="accent1"/>
              </a:solidFill>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a:spcAft>
                <a:spcPts val="600"/>
              </a:spcAft>
              <a:defRPr/>
            </a:pPr>
            <a:r>
              <a:rPr lang="en-US" dirty="0">
                <a:latin typeface="Consolas" panose="020B0609020204030204" pitchFamily="49" charset="0"/>
              </a:rPr>
              <a:t>Context: </a:t>
            </a:r>
            <a:r>
              <a:rPr lang="en-US" b="0" dirty="0">
                <a:solidFill>
                  <a:srgbClr val="CE9178"/>
                </a:solidFill>
                <a:effectLst/>
                <a:latin typeface="Menlo" panose="020B0609030804020204" pitchFamily="49" charset="0"/>
              </a:rPr>
              <a:t>To be able to push our model to the Hub, </a:t>
            </a:r>
            <a:r>
              <a:rPr lang="en-US" b="0" dirty="0" err="1">
                <a:solidFill>
                  <a:srgbClr val="CE9178"/>
                </a:solidFill>
                <a:effectLst/>
                <a:latin typeface="Menlo" panose="020B0609030804020204" pitchFamily="49" charset="0"/>
              </a:rPr>
              <a:t>weʼll</a:t>
            </a:r>
            <a:r>
              <a:rPr lang="en-US" b="0" dirty="0">
                <a:solidFill>
                  <a:srgbClr val="CE9178"/>
                </a:solidFill>
                <a:effectLst/>
                <a:latin typeface="Menlo" panose="020B0609030804020204" pitchFamily="49" charset="0"/>
              </a:rPr>
              <a:t> need to log in to Hugging Face. If </a:t>
            </a:r>
            <a:r>
              <a:rPr lang="en-US" b="0" dirty="0" err="1">
                <a:solidFill>
                  <a:srgbClr val="CE9178"/>
                </a:solidFill>
                <a:effectLst/>
                <a:latin typeface="Menlo" panose="020B0609030804020204" pitchFamily="49" charset="0"/>
              </a:rPr>
              <a:t>youʼre</a:t>
            </a:r>
            <a:r>
              <a:rPr lang="en-US" b="0" dirty="0">
                <a:solidFill>
                  <a:srgbClr val="CE9178"/>
                </a:solidFill>
                <a:effectLst/>
                <a:latin typeface="Menlo" panose="020B0609030804020204" pitchFamily="49" charset="0"/>
              </a:rPr>
              <a:t> running </a:t>
            </a:r>
            <a:r>
              <a:rPr lang="en-US" b="0" dirty="0" err="1">
                <a:solidFill>
                  <a:srgbClr val="CE9178"/>
                </a:solidFill>
                <a:effectLst/>
                <a:latin typeface="Menlo" panose="020B0609030804020204" pitchFamily="49" charset="0"/>
              </a:rPr>
              <a:t>thiscode</a:t>
            </a:r>
            <a:r>
              <a:rPr lang="en-US" b="0" dirty="0">
                <a:solidFill>
                  <a:srgbClr val="CE9178"/>
                </a:solidFill>
                <a:effectLst/>
                <a:latin typeface="Menlo" panose="020B0609030804020204" pitchFamily="49" charset="0"/>
              </a:rPr>
              <a:t> in a notebook, you can do so with the following utility function, which displays a widget </a:t>
            </a:r>
            <a:r>
              <a:rPr lang="en-US" b="0" dirty="0" err="1">
                <a:solidFill>
                  <a:srgbClr val="CE9178"/>
                </a:solidFill>
                <a:effectLst/>
                <a:latin typeface="Menlo" panose="020B0609030804020204" pitchFamily="49" charset="0"/>
              </a:rPr>
              <a:t>whereyou</a:t>
            </a:r>
            <a:r>
              <a:rPr lang="en-US" b="0" dirty="0">
                <a:solidFill>
                  <a:srgbClr val="CE9178"/>
                </a:solidFill>
                <a:effectLst/>
                <a:latin typeface="Menlo" panose="020B0609030804020204" pitchFamily="49" charset="0"/>
              </a:rPr>
              <a:t> can enter your login credentials:</a:t>
            </a: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Answer:</a:t>
            </a: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0B3A9A4F-BD63-0764-2A7F-FB3E1A730554}"/>
              </a:ext>
            </a:extLst>
          </p:cNvPr>
          <p:cNvPicPr>
            <a:picLocks noChangeAspect="1"/>
          </p:cNvPicPr>
          <p:nvPr/>
        </p:nvPicPr>
        <p:blipFill>
          <a:blip r:embed="rId2"/>
          <a:stretch>
            <a:fillRect/>
          </a:stretch>
        </p:blipFill>
        <p:spPr>
          <a:xfrm>
            <a:off x="3832514" y="3429000"/>
            <a:ext cx="3695700" cy="990600"/>
          </a:xfrm>
          <a:prstGeom prst="rect">
            <a:avLst/>
          </a:prstGeom>
        </p:spPr>
      </p:pic>
    </p:spTree>
    <p:extLst>
      <p:ext uri="{BB962C8B-B14F-4D97-AF65-F5344CB8AC3E}">
        <p14:creationId xmlns:p14="http://schemas.microsoft.com/office/powerpoint/2010/main" val="9507097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BDDD2FD-EAF1-8C8B-4466-89FF6DF5A324}"/>
              </a:ext>
            </a:extLst>
          </p:cNvPr>
          <p:cNvSpPr>
            <a:spLocks noGrp="1"/>
          </p:cNvSpPr>
          <p:nvPr>
            <p:ph sz="quarter" idx="10"/>
          </p:nvPr>
        </p:nvSpPr>
        <p:spPr>
          <a:xfrm>
            <a:off x="539496" y="1435608"/>
            <a:ext cx="11188216" cy="4974336"/>
          </a:xfrm>
        </p:spPr>
        <p:txBody>
          <a:bodyPr/>
          <a:lstStyle/>
          <a:p>
            <a:endParaRPr lang="en-US" dirty="0"/>
          </a:p>
        </p:txBody>
      </p:sp>
      <p:sp>
        <p:nvSpPr>
          <p:cNvPr id="4" name="Title 7">
            <a:extLst>
              <a:ext uri="{FF2B5EF4-FFF2-40B4-BE49-F238E27FC236}">
                <a16:creationId xmlns:a16="http://schemas.microsoft.com/office/drawing/2014/main" id="{F7D9CEBF-7612-D267-FF0E-25B4E63041E8}"/>
              </a:ext>
            </a:extLst>
          </p:cNvPr>
          <p:cNvSpPr>
            <a:spLocks noGrp="1"/>
          </p:cNvSpPr>
          <p:nvPr>
            <p:ph type="title"/>
          </p:nvPr>
        </p:nvSpPr>
        <p:spPr>
          <a:xfrm>
            <a:off x="521207" y="448056"/>
            <a:ext cx="10612231" cy="640080"/>
          </a:xfrm>
        </p:spPr>
        <p:txBody>
          <a:bodyPr>
            <a:noAutofit/>
          </a:bodyPr>
          <a:lstStyle/>
          <a:p>
            <a:r>
              <a:rPr lang="en-US" sz="1600" dirty="0"/>
              <a:t>Compare the precision and relevance of answers provided by the BERT and RAG models. Which model performed better overall, and why do you think that is the case? What are the strengths and weaknesses for both models?</a:t>
            </a:r>
            <a:endParaRPr lang="en-US" sz="24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4551090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16D6597-23A6-49B1-AE5E-BA6428456E4F}"/>
              </a:ext>
            </a:extLst>
          </p:cNvPr>
          <p:cNvSpPr txBox="1"/>
          <p:nvPr/>
        </p:nvSpPr>
        <p:spPr>
          <a:xfrm>
            <a:off x="623455" y="1413164"/>
            <a:ext cx="2008534" cy="5016758"/>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The BERT model that is used: </a:t>
            </a:r>
          </a:p>
          <a:p>
            <a:pPr lvl="0">
              <a:spcAft>
                <a:spcPts val="600"/>
              </a:spcAft>
              <a:defRPr/>
            </a:pPr>
            <a:r>
              <a:rPr lang="en-US" dirty="0">
                <a:latin typeface="Segoe UI" panose="020B0502040204020203" pitchFamily="34" charset="0"/>
                <a:cs typeface="Segoe UI" panose="020B0502040204020203" pitchFamily="34" charset="0"/>
              </a:rPr>
              <a:t>	</a:t>
            </a:r>
            <a:endParaRPr lang="en-US" dirty="0">
              <a:solidFill>
                <a:schemeClr val="accent1"/>
              </a:solidFill>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lvl="0">
              <a:spcAft>
                <a:spcPts val="600"/>
              </a:spcAft>
              <a:defRPr/>
            </a:pPr>
            <a:r>
              <a:rPr lang="en-US" dirty="0"/>
              <a:t>The attention layer and head that performs noun modifier:</a:t>
            </a:r>
          </a:p>
          <a:p>
            <a:pPr lvl="0">
              <a:spcAft>
                <a:spcPts val="600"/>
              </a:spcAft>
              <a:defRPr/>
            </a:pPr>
            <a:r>
              <a:rPr lang="en-US" dirty="0">
                <a:solidFill>
                  <a:schemeClr val="accent1"/>
                </a:solidFill>
                <a:latin typeface="Consolas" panose="020B0609020204030204" pitchFamily="49" charset="0"/>
              </a:rPr>
              <a:t>Layer </a:t>
            </a:r>
            <a:r>
              <a:rPr lang="en-US" b="1" dirty="0">
                <a:solidFill>
                  <a:schemeClr val="accent1"/>
                </a:solidFill>
                <a:latin typeface="Consolas" panose="020B0609020204030204" pitchFamily="49" charset="0"/>
              </a:rPr>
              <a:t>X</a:t>
            </a:r>
            <a:r>
              <a:rPr lang="en-US" dirty="0">
                <a:solidFill>
                  <a:schemeClr val="accent1"/>
                </a:solidFill>
                <a:latin typeface="Consolas" panose="020B0609020204030204" pitchFamily="49" charset="0"/>
              </a:rPr>
              <a:t> Head </a:t>
            </a:r>
            <a:r>
              <a:rPr lang="en-US" b="1" dirty="0">
                <a:solidFill>
                  <a:schemeClr val="accent1"/>
                </a:solidFill>
                <a:latin typeface="Consolas" panose="020B0609020204030204" pitchFamily="49" charset="0"/>
              </a:rPr>
              <a:t>A</a:t>
            </a:r>
          </a:p>
          <a:p>
            <a:pPr lvl="0">
              <a:spcAft>
                <a:spcPts val="600"/>
              </a:spcAft>
              <a:defRPr/>
            </a:pPr>
            <a:endParaRPr lang="en-US" dirty="0">
              <a:latin typeface="Consolas" panose="020B0609020204030204" pitchFamily="49" charset="0"/>
            </a:endParaRPr>
          </a:p>
        </p:txBody>
      </p:sp>
      <p:sp>
        <p:nvSpPr>
          <p:cNvPr id="8" name="Title 7"/>
          <p:cNvSpPr>
            <a:spLocks noGrp="1"/>
          </p:cNvSpPr>
          <p:nvPr>
            <p:ph type="title"/>
          </p:nvPr>
        </p:nvSpPr>
        <p:spPr>
          <a:xfrm>
            <a:off x="521207" y="448056"/>
            <a:ext cx="10612231" cy="640080"/>
          </a:xfrm>
        </p:spPr>
        <p:txBody>
          <a:bodyPr>
            <a:noAutofit/>
          </a:bodyPr>
          <a:lstStyle/>
          <a:p>
            <a:r>
              <a:rPr lang="en-US" sz="2400" dirty="0">
                <a:latin typeface="Segoe UI Light" panose="020B0502040204020203" pitchFamily="34" charset="0"/>
                <a:cs typeface="Segoe UI Light" panose="020B0502040204020203" pitchFamily="34" charset="0"/>
              </a:rPr>
              <a:t>BERT Attention Head Visualization Tasks</a:t>
            </a:r>
          </a:p>
        </p:txBody>
      </p:sp>
      <p:sp>
        <p:nvSpPr>
          <p:cNvPr id="2" name="Rectangle 1">
            <a:extLst>
              <a:ext uri="{FF2B5EF4-FFF2-40B4-BE49-F238E27FC236}">
                <a16:creationId xmlns:a16="http://schemas.microsoft.com/office/drawing/2014/main" id="{2A9AF8C5-F6AF-4E04-AD55-C4FB5A50F1D8}"/>
              </a:ext>
            </a:extLst>
          </p:cNvPr>
          <p:cNvSpPr/>
          <p:nvPr/>
        </p:nvSpPr>
        <p:spPr>
          <a:xfrm>
            <a:off x="3048000" y="1413164"/>
            <a:ext cx="3995351" cy="1985159"/>
          </a:xfrm>
          <a:prstGeom prst="rect">
            <a:avLst/>
          </a:prstGeom>
        </p:spPr>
        <p:txBody>
          <a:bodyPr wrap="square">
            <a:spAutoFit/>
          </a:bodyPr>
          <a:lstStyle/>
          <a:p>
            <a:pPr lvl="0">
              <a:spcAft>
                <a:spcPts val="600"/>
              </a:spcAft>
              <a:defRPr/>
            </a:pPr>
            <a:r>
              <a:rPr lang="en-US" dirty="0"/>
              <a:t>Screenshots of the attention for sentence </a:t>
            </a:r>
          </a:p>
          <a:p>
            <a:pPr>
              <a:spcAft>
                <a:spcPts val="600"/>
              </a:spcAft>
              <a:defRPr/>
            </a:pPr>
            <a:r>
              <a:rPr lang="en-US" dirty="0"/>
              <a:t>“The complicated language in the huge new law has muddied the fight.”</a:t>
            </a:r>
          </a:p>
          <a:p>
            <a:pPr>
              <a:spcAft>
                <a:spcPts val="600"/>
              </a:spcAft>
              <a:defRPr/>
            </a:pPr>
            <a:endParaRPr lang="en-US" dirty="0"/>
          </a:p>
          <a:p>
            <a:pPr>
              <a:spcAft>
                <a:spcPts val="600"/>
              </a:spcAft>
              <a:defRPr/>
            </a:pPr>
            <a:endParaRPr lang="en-US" dirty="0"/>
          </a:p>
        </p:txBody>
      </p:sp>
      <p:sp>
        <p:nvSpPr>
          <p:cNvPr id="3" name="Rectangle 2">
            <a:extLst>
              <a:ext uri="{FF2B5EF4-FFF2-40B4-BE49-F238E27FC236}">
                <a16:creationId xmlns:a16="http://schemas.microsoft.com/office/drawing/2014/main" id="{256DD1A5-9DFC-4C8A-A08F-5D861CB76BB2}"/>
              </a:ext>
            </a:extLst>
          </p:cNvPr>
          <p:cNvSpPr/>
          <p:nvPr/>
        </p:nvSpPr>
        <p:spPr>
          <a:xfrm>
            <a:off x="7904206" y="1413164"/>
            <a:ext cx="4193059" cy="1554272"/>
          </a:xfrm>
          <a:prstGeom prst="rect">
            <a:avLst/>
          </a:prstGeom>
        </p:spPr>
        <p:txBody>
          <a:bodyPr wrap="square">
            <a:spAutoFit/>
          </a:bodyPr>
          <a:lstStyle/>
          <a:p>
            <a:pPr lvl="0">
              <a:spcAft>
                <a:spcPts val="600"/>
              </a:spcAft>
              <a:defRPr/>
            </a:pPr>
            <a:r>
              <a:rPr lang="en-US" dirty="0"/>
              <a:t>Screenshots of the attention for sentence </a:t>
            </a:r>
          </a:p>
          <a:p>
            <a:pPr>
              <a:spcAft>
                <a:spcPts val="600"/>
              </a:spcAft>
              <a:defRPr/>
            </a:pPr>
            <a:r>
              <a:rPr lang="en-US" dirty="0"/>
              <a:t>“</a:t>
            </a:r>
            <a:r>
              <a:rPr lang="en-US"/>
              <a:t>The 45-year-old </a:t>
            </a:r>
            <a:r>
              <a:rPr lang="en-US" dirty="0"/>
              <a:t>former General Electric Co. executive figures it will be easier this time.”</a:t>
            </a:r>
          </a:p>
        </p:txBody>
      </p:sp>
      <p:cxnSp>
        <p:nvCxnSpPr>
          <p:cNvPr id="6" name="Straight Connector 5">
            <a:extLst>
              <a:ext uri="{FF2B5EF4-FFF2-40B4-BE49-F238E27FC236}">
                <a16:creationId xmlns:a16="http://schemas.microsoft.com/office/drawing/2014/main" id="{510DAD0C-C3F2-4C73-A23D-F7D69B28CFBE}"/>
              </a:ext>
            </a:extLst>
          </p:cNvPr>
          <p:cNvCxnSpPr/>
          <p:nvPr/>
        </p:nvCxnSpPr>
        <p:spPr>
          <a:xfrm>
            <a:off x="2792628" y="1413164"/>
            <a:ext cx="0" cy="4985980"/>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E207B70-1F79-46D5-9847-938A09B29498}"/>
              </a:ext>
            </a:extLst>
          </p:cNvPr>
          <p:cNvCxnSpPr/>
          <p:nvPr/>
        </p:nvCxnSpPr>
        <p:spPr>
          <a:xfrm>
            <a:off x="7455245" y="1413164"/>
            <a:ext cx="0" cy="498598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689763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F10001108_Welcome to Powerpoint 2016_CLR_v2" id="{CAB9082A-965C-42BE-8170-C940D3319B60}" vid="{82B84162-888A-4FD2-BEC9-B29B6DB2C73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8a52e8c320b9a064ae3583ae3861c9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88020cb39231a0945110f9cd888b521a"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D7FC771-7DFE-49DA-B577-71181BFBCB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950072C5-DDE0-4258-BA7A-4D4B80DFA632}">
  <ds:schemaRefs>
    <ds:schemaRef ds:uri="http://schemas.microsoft.com/office/infopath/2007/PartnerControls"/>
    <ds:schemaRef ds:uri="http://schemas.microsoft.com/office/2006/documentManagement/types"/>
    <ds:schemaRef ds:uri="http://purl.org/dc/dcmitype/"/>
    <ds:schemaRef ds:uri="http://schemas.microsoft.com/office/2006/metadata/properties"/>
    <ds:schemaRef ds:uri="71af3243-3dd4-4a8d-8c0d-dd76da1f02a5"/>
    <ds:schemaRef ds:uri="http://www.w3.org/XML/1998/namespace"/>
    <ds:schemaRef ds:uri="http://purl.org/dc/elements/1.1/"/>
    <ds:schemaRef ds:uri="http://schemas.openxmlformats.org/package/2006/metadata/core-properties"/>
    <ds:schemaRef ds:uri="16c05727-aa75-4e4a-9b5f-8a80a1165891"/>
    <ds:schemaRef ds:uri="http://purl.org/dc/terms/"/>
  </ds:schemaRefs>
</ds:datastoreItem>
</file>

<file path=customXml/itemProps3.xml><?xml version="1.0" encoding="utf-8"?>
<ds:datastoreItem xmlns:ds="http://schemas.openxmlformats.org/officeDocument/2006/customXml" ds:itemID="{7EE8C63A-4744-4DE4-BB49-0FF0B5375C6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Welcome to PowerPoint</Template>
  <TotalTime>0</TotalTime>
  <Words>1510</Words>
  <Application>Microsoft Macintosh PowerPoint</Application>
  <PresentationFormat>Widescreen</PresentationFormat>
  <Paragraphs>162</Paragraphs>
  <Slides>13</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Arial</vt:lpstr>
      <vt:lpstr>Calibri</vt:lpstr>
      <vt:lpstr>Consolas</vt:lpstr>
      <vt:lpstr>Menlo</vt:lpstr>
      <vt:lpstr>Segoe UI</vt:lpstr>
      <vt:lpstr>Segoe UI Light</vt:lpstr>
      <vt:lpstr>WelcomeDoc</vt:lpstr>
      <vt:lpstr>ECE 157B/272B Homework 2</vt:lpstr>
      <vt:lpstr>🤗 QA Tasks – “What dataset is used in this tutorial?”</vt:lpstr>
      <vt:lpstr>🤗 QA Tasks – “What is tricky about processing the answer field of the dataset?”</vt:lpstr>
      <vt:lpstr>🤗 QA Tasks – “How are the labels for the answer formatted?”</vt:lpstr>
      <vt:lpstr>🤗 QA Tasks – “What type of tokenizer is needed?”</vt:lpstr>
      <vt:lpstr>🤗 QA Tasks – “How do we deal with long context?”</vt:lpstr>
      <vt:lpstr>🤗 QA Tasks – “What is the stride parameter?”</vt:lpstr>
      <vt:lpstr>🤗 QA Tasks – “What will be the label if the answer got truncated in the splitting process?”</vt:lpstr>
      <vt:lpstr>🤗 QA Tasks – “What is the purpose of overflow_to_sample_mapping?”</vt:lpstr>
      <vt:lpstr>🤗 QA Tasks – “What is the post-process trying to do?”</vt:lpstr>
      <vt:lpstr>🤗 QA Tasks – “What do you need to push the trained model to the Hub?”</vt:lpstr>
      <vt:lpstr>Compare the precision and relevance of answers provided by the BERT and RAG models. Which model performed better overall, and why do you think that is the case? What are the strengths and weaknesses for both models?</vt:lpstr>
      <vt:lpstr>BERT Attention Head Visualization Tasks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cp:lastModifiedBy/>
  <cp:revision>1</cp:revision>
  <dcterms:created xsi:type="dcterms:W3CDTF">2023-01-24T21:25:40Z</dcterms:created>
  <dcterms:modified xsi:type="dcterms:W3CDTF">2025-02-05T22:25:13Z</dcterms:modified>
  <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
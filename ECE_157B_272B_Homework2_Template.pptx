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18"/>
  </p:notesMasterIdLst>
  <p:handoutMasterIdLst>
    <p:handoutMasterId r:id="rId19"/>
  </p:handoutMasterIdLst>
  <p:sldIdLst>
    <p:sldId id="256" r:id="rId5"/>
    <p:sldId id="271" r:id="rId6"/>
    <p:sldId id="272" r:id="rId7"/>
    <p:sldId id="273" r:id="rId8"/>
    <p:sldId id="274" r:id="rId9"/>
    <p:sldId id="275" r:id="rId10"/>
    <p:sldId id="276" r:id="rId11"/>
    <p:sldId id="277" r:id="rId12"/>
    <p:sldId id="278" r:id="rId13"/>
    <p:sldId id="279" r:id="rId14"/>
    <p:sldId id="280" r:id="rId15"/>
    <p:sldId id="282"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28" autoAdjust="0"/>
    <p:restoredTop sz="94241" autoAdjust="0"/>
  </p:normalViewPr>
  <p:slideViewPr>
    <p:cSldViewPr snapToGrid="0">
      <p:cViewPr varScale="1">
        <p:scale>
          <a:sx n="83" d="100"/>
          <a:sy n="83" d="100"/>
        </p:scale>
        <p:origin x="224" y="80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2/6/25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2/6/25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2/6/25</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2/6/25</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ECE 157B/272B Homework 2</a:t>
            </a:r>
          </a:p>
        </p:txBody>
      </p:sp>
      <p:sp>
        <p:nvSpPr>
          <p:cNvPr id="3" name="Subtitle 2"/>
          <p:cNvSpPr>
            <a:spLocks noGrp="1"/>
          </p:cNvSpPr>
          <p:nvPr>
            <p:ph type="subTitle" idx="4294967295"/>
          </p:nvPr>
        </p:nvSpPr>
        <p:spPr>
          <a:xfrm>
            <a:off x="855620" y="2933105"/>
            <a:ext cx="9582736" cy="1137793"/>
          </a:xfrm>
        </p:spPr>
        <p:txBody>
          <a:bodyPr>
            <a:normAutofit/>
          </a:bodyPr>
          <a:lstStyle/>
          <a:p>
            <a:pPr marL="0" indent="0">
              <a:buNone/>
            </a:pPr>
            <a:r>
              <a:rPr lang="en-US" sz="2400" dirty="0">
                <a:solidFill>
                  <a:schemeClr val="bg1"/>
                </a:solidFill>
                <a:latin typeface="+mj-lt"/>
              </a:rPr>
              <a:t>Edward Ding</a:t>
            </a: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10612231" cy="640080"/>
          </a:xfrm>
        </p:spPr>
        <p:txBody>
          <a:bodyPr>
            <a:noAutofit/>
          </a:bodyPr>
          <a:lstStyle/>
          <a:p>
            <a:r>
              <a:rPr lang="en-US" dirty="0">
                <a:latin typeface="Segoe UI Light" panose="020B0502040204020203" pitchFamily="34" charset="0"/>
                <a:cs typeface="Segoe UI Light" panose="020B0502040204020203" pitchFamily="34" charset="0"/>
              </a:rPr>
              <a:t>🤗 QA Tasks – “</a:t>
            </a:r>
            <a:r>
              <a:rPr lang="en-US" dirty="0"/>
              <a:t>What dataset is used in this tutorial?”</a:t>
            </a:r>
            <a:endParaRPr lang="en-US" dirty="0">
              <a:latin typeface="Segoe UI Light" panose="020B0502040204020203" pitchFamily="34" charset="0"/>
              <a:cs typeface="Segoe UI Light" panose="020B0502040204020203" pitchFamily="34" charset="0"/>
            </a:endParaRPr>
          </a:p>
        </p:txBody>
      </p:sp>
      <p:pic>
        <p:nvPicPr>
          <p:cNvPr id="3" name="Picture 2">
            <a:extLst>
              <a:ext uri="{FF2B5EF4-FFF2-40B4-BE49-F238E27FC236}">
                <a16:creationId xmlns:a16="http://schemas.microsoft.com/office/drawing/2014/main" id="{EC60DD8E-74E0-4350-8220-6C0D217D7929}"/>
              </a:ext>
            </a:extLst>
          </p:cNvPr>
          <p:cNvPicPr>
            <a:picLocks noChangeAspect="1"/>
          </p:cNvPicPr>
          <p:nvPr/>
        </p:nvPicPr>
        <p:blipFill>
          <a:blip r:embed="rId2"/>
          <a:stretch>
            <a:fillRect/>
          </a:stretch>
        </p:blipFill>
        <p:spPr>
          <a:xfrm>
            <a:off x="1928005" y="4094106"/>
            <a:ext cx="5359675" cy="234962"/>
          </a:xfrm>
          <a:prstGeom prst="rect">
            <a:avLst/>
          </a:prstGeom>
        </p:spPr>
      </p:pic>
      <p:pic>
        <p:nvPicPr>
          <p:cNvPr id="4" name="Picture 3">
            <a:extLst>
              <a:ext uri="{FF2B5EF4-FFF2-40B4-BE49-F238E27FC236}">
                <a16:creationId xmlns:a16="http://schemas.microsoft.com/office/drawing/2014/main" id="{6DCE97C6-76E6-49A6-948E-81D1F6D31D54}"/>
              </a:ext>
            </a:extLst>
          </p:cNvPr>
          <p:cNvPicPr>
            <a:picLocks noChangeAspect="1"/>
          </p:cNvPicPr>
          <p:nvPr/>
        </p:nvPicPr>
        <p:blipFill>
          <a:blip r:embed="rId3"/>
          <a:stretch>
            <a:fillRect/>
          </a:stretch>
        </p:blipFill>
        <p:spPr>
          <a:xfrm>
            <a:off x="1927190" y="2245391"/>
            <a:ext cx="6559887" cy="1289116"/>
          </a:xfrm>
          <a:prstGeom prst="rect">
            <a:avLst/>
          </a:prstGeom>
        </p:spPr>
      </p:pic>
      <p:pic>
        <p:nvPicPr>
          <p:cNvPr id="9" name="Picture 8">
            <a:extLst>
              <a:ext uri="{FF2B5EF4-FFF2-40B4-BE49-F238E27FC236}">
                <a16:creationId xmlns:a16="http://schemas.microsoft.com/office/drawing/2014/main" id="{7E603E89-C3D0-DD7C-70AD-C7CE7A13550D}"/>
              </a:ext>
            </a:extLst>
          </p:cNvPr>
          <p:cNvPicPr>
            <a:picLocks noChangeAspect="1"/>
          </p:cNvPicPr>
          <p:nvPr/>
        </p:nvPicPr>
        <p:blipFill>
          <a:blip r:embed="rId4"/>
          <a:stretch>
            <a:fillRect/>
          </a:stretch>
        </p:blipFill>
        <p:spPr>
          <a:xfrm>
            <a:off x="1927190" y="4928962"/>
            <a:ext cx="7772400" cy="490151"/>
          </a:xfrm>
          <a:prstGeom prst="rect">
            <a:avLst/>
          </a:prstGeom>
        </p:spPr>
      </p:pic>
      <p:sp>
        <p:nvSpPr>
          <p:cNvPr id="7" name="TextBox 6">
            <a:extLst>
              <a:ext uri="{FF2B5EF4-FFF2-40B4-BE49-F238E27FC236}">
                <a16:creationId xmlns:a16="http://schemas.microsoft.com/office/drawing/2014/main" id="{B93DE478-9821-4861-96F0-C318AD38750E}"/>
              </a:ext>
            </a:extLst>
          </p:cNvPr>
          <p:cNvSpPr txBox="1"/>
          <p:nvPr/>
        </p:nvSpPr>
        <p:spPr>
          <a:xfrm rot="19787601">
            <a:off x="2553531" y="2431684"/>
            <a:ext cx="5682343" cy="2308324"/>
          </a:xfrm>
          <a:prstGeom prst="rect">
            <a:avLst/>
          </a:prstGeom>
          <a:noFill/>
        </p:spPr>
        <p:txBody>
          <a:bodyPr wrap="square" rtlCol="0">
            <a:spAutoFit/>
          </a:bodyPr>
          <a:lstStyle/>
          <a:p>
            <a:r>
              <a:rPr lang="en-US" sz="4800" b="1" dirty="0">
                <a:solidFill>
                  <a:srgbClr val="FF0000"/>
                </a:solidFill>
              </a:rPr>
              <a:t>Example Slide. Replace with your own content.</a:t>
            </a:r>
          </a:p>
        </p:txBody>
      </p:sp>
      <p:sp>
        <p:nvSpPr>
          <p:cNvPr id="6" name="TextBox 5">
            <a:extLst>
              <a:ext uri="{FF2B5EF4-FFF2-40B4-BE49-F238E27FC236}">
                <a16:creationId xmlns:a16="http://schemas.microsoft.com/office/drawing/2014/main" id="{47E6351A-BDE3-D887-E851-4807CD300FAC}"/>
              </a:ext>
            </a:extLst>
          </p:cNvPr>
          <p:cNvSpPr txBox="1"/>
          <p:nvPr/>
        </p:nvSpPr>
        <p:spPr>
          <a:xfrm>
            <a:off x="623455" y="1413164"/>
            <a:ext cx="11239994" cy="5586145"/>
          </a:xfrm>
          <a:prstGeom prst="rect">
            <a:avLst/>
          </a:prstGeom>
          <a:noFill/>
        </p:spPr>
        <p:txBody>
          <a:bodyPr wrap="square" rtlCol="0">
            <a:spAutoFit/>
          </a:bodyPr>
          <a:lstStyle/>
          <a:p>
            <a:pPr lvl="0">
              <a:spcAft>
                <a:spcPts val="600"/>
              </a:spcAft>
              <a:defRPr/>
            </a:pPr>
            <a:r>
              <a:rPr lang="en-US" dirty="0">
                <a:latin typeface="Segoe UI" panose="020B0502040204020203" pitchFamily="34" charset="0"/>
                <a:cs typeface="Segoe UI" panose="020B0502040204020203" pitchFamily="34" charset="0"/>
              </a:rPr>
              <a:t>My answer: </a:t>
            </a:r>
            <a:endParaRPr lang="en-US" dirty="0">
              <a:solidFill>
                <a:schemeClr val="accent1"/>
              </a:solidFill>
              <a:latin typeface="Segoe UI" panose="020B0502040204020203" pitchFamily="34" charset="0"/>
              <a:cs typeface="Segoe UI" panose="020B0502040204020203" pitchFamily="34" charset="0"/>
            </a:endParaRPr>
          </a:p>
          <a:p>
            <a:pPr lvl="0">
              <a:spcAft>
                <a:spcPts val="600"/>
              </a:spcAft>
              <a:defRPr/>
            </a:pPr>
            <a:r>
              <a:rPr lang="en-US" dirty="0">
                <a:latin typeface="Segoe UI" panose="020B0502040204020203" pitchFamily="34" charset="0"/>
                <a:cs typeface="Segoe UI" panose="020B0502040204020203" pitchFamily="34" charset="0"/>
              </a:rPr>
              <a:t>	</a:t>
            </a:r>
            <a:r>
              <a:rPr lang="en-US" dirty="0">
                <a:solidFill>
                  <a:schemeClr val="accent1"/>
                </a:solidFill>
                <a:latin typeface="Segoe UI" panose="020B0502040204020203" pitchFamily="34" charset="0"/>
                <a:cs typeface="Segoe UI" panose="020B0502040204020203" pitchFamily="34" charset="0"/>
              </a:rPr>
              <a:t> </a:t>
            </a:r>
            <a:r>
              <a:rPr lang="en-US" dirty="0" err="1">
                <a:solidFill>
                  <a:schemeClr val="accent1"/>
                </a:solidFill>
                <a:latin typeface="Segoe UI" panose="020B0502040204020203" pitchFamily="34" charset="0"/>
                <a:cs typeface="Segoe UI" panose="020B0502040204020203" pitchFamily="34" charset="0"/>
              </a:rPr>
              <a:t>SQuAD</a:t>
            </a:r>
            <a:endParaRPr lang="en-US" dirty="0">
              <a:latin typeface="Segoe UI" panose="020B0502040204020203" pitchFamily="34" charset="0"/>
              <a:cs typeface="Segoe UI" panose="020B0502040204020203" pitchFamily="34" charset="0"/>
            </a:endParaRPr>
          </a:p>
          <a:p>
            <a:pPr lvl="0">
              <a:spcAft>
                <a:spcPts val="600"/>
              </a:spcAft>
              <a:defRPr/>
            </a:pPr>
            <a:r>
              <a:rPr lang="en-US" dirty="0">
                <a:latin typeface="Consolas" panose="020B0609020204030204" pitchFamily="49" charset="0"/>
              </a:rPr>
              <a:t>Context: </a:t>
            </a: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Model Output Screenshot:</a:t>
            </a: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a:spcAft>
                <a:spcPts val="600"/>
              </a:spcAft>
              <a:defRPr/>
            </a:pPr>
            <a:r>
              <a:rPr lang="en-US" dirty="0">
                <a:latin typeface="Consolas" panose="020B0609020204030204" pitchFamily="49" charset="0"/>
              </a:rPr>
              <a:t>RAG Output Screenshot:</a:t>
            </a:r>
            <a:endParaRPr lang="en-US" sz="1600" dirty="0">
              <a:latin typeface="Segoe UI" panose="020B0502040204020203" pitchFamily="34" charset="0"/>
              <a:cs typeface="Segoe UI" panose="020B0502040204020203" pitchFamily="34" charset="0"/>
            </a:endParaRP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Comment on Both Model’s Answer:</a:t>
            </a:r>
          </a:p>
          <a:p>
            <a:pPr>
              <a:spcAft>
                <a:spcPts val="600"/>
              </a:spcAft>
              <a:defRPr/>
            </a:pPr>
            <a:r>
              <a:rPr lang="en-US" sz="1600" i="1" dirty="0">
                <a:solidFill>
                  <a:schemeClr val="accent1"/>
                </a:solidFill>
                <a:latin typeface="Segoe UI" panose="020B0502040204020203" pitchFamily="34" charset="0"/>
                <a:cs typeface="Segoe UI" panose="020B0502040204020203" pitchFamily="34" charset="0"/>
              </a:rPr>
              <a:t>	</a:t>
            </a:r>
            <a:r>
              <a:rPr lang="en-US" sz="1600" i="1" dirty="0">
                <a:solidFill>
                  <a:schemeClr val="accent1"/>
                </a:solidFill>
              </a:rPr>
              <a:t>The model’s answer is correct and it’s short and concise.</a:t>
            </a: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6D6597-23A6-49B1-AE5E-BA6428456E4F}"/>
              </a:ext>
            </a:extLst>
          </p:cNvPr>
          <p:cNvSpPr txBox="1"/>
          <p:nvPr/>
        </p:nvSpPr>
        <p:spPr>
          <a:xfrm>
            <a:off x="623455" y="1413164"/>
            <a:ext cx="11239994" cy="6129883"/>
          </a:xfrm>
          <a:prstGeom prst="rect">
            <a:avLst/>
          </a:prstGeom>
          <a:noFill/>
        </p:spPr>
        <p:txBody>
          <a:bodyPr wrap="square" rtlCol="0">
            <a:spAutoFit/>
          </a:bodyPr>
          <a:lstStyle/>
          <a:p>
            <a:pPr lvl="0">
              <a:spcAft>
                <a:spcPts val="600"/>
              </a:spcAft>
              <a:defRPr/>
            </a:pPr>
            <a:r>
              <a:rPr lang="en-US" dirty="0">
                <a:latin typeface="Segoe UI" panose="020B0502040204020203" pitchFamily="34" charset="0"/>
                <a:cs typeface="Segoe UI" panose="020B0502040204020203" pitchFamily="34" charset="0"/>
              </a:rPr>
              <a:t>My answer: </a:t>
            </a:r>
            <a:r>
              <a:rPr lang="en-US" b="0" i="0" dirty="0">
                <a:solidFill>
                  <a:srgbClr val="D4D4D4"/>
                </a:solidFill>
                <a:effectLst/>
                <a:latin typeface="Menlo" panose="020B0609030804020204" pitchFamily="49" charset="0"/>
              </a:rPr>
              <a:t>it comports a dictionary with two fields that are both lists</a:t>
            </a:r>
            <a:endParaRPr lang="en-US" dirty="0">
              <a:latin typeface="Segoe UI" panose="020B0502040204020203" pitchFamily="34" charset="0"/>
              <a:cs typeface="Segoe UI" panose="020B0502040204020203" pitchFamily="34" charset="0"/>
            </a:endParaRPr>
          </a:p>
          <a:p>
            <a:pPr lvl="0">
              <a:spcAft>
                <a:spcPts val="600"/>
              </a:spcAft>
              <a:defRPr/>
            </a:pPr>
            <a:r>
              <a:rPr lang="en-US" dirty="0">
                <a:latin typeface="Consolas" panose="020B0609020204030204" pitchFamily="49" charset="0"/>
              </a:rPr>
              <a:t>Context: </a:t>
            </a:r>
          </a:p>
          <a:p>
            <a:pPr>
              <a:lnSpc>
                <a:spcPts val="1350"/>
              </a:lnSpc>
            </a:pPr>
            <a:r>
              <a:rPr lang="en-US" sz="1000" b="0" dirty="0">
                <a:solidFill>
                  <a:srgbClr val="CE9178"/>
                </a:solidFill>
                <a:effectLst/>
                <a:latin typeface="Menlo" panose="020B0609030804020204" pitchFamily="49" charset="0"/>
              </a:rPr>
              <a:t>The answers field is a bit trickier</a:t>
            </a:r>
            <a:endParaRPr lang="en-US" sz="1000" b="0" dirty="0">
              <a:solidFill>
                <a:srgbClr val="D4D4D4"/>
              </a:solidFill>
              <a:effectLst/>
              <a:latin typeface="Menlo" panose="020B0609030804020204" pitchFamily="49" charset="0"/>
            </a:endParaRPr>
          </a:p>
          <a:p>
            <a:pPr>
              <a:lnSpc>
                <a:spcPts val="1350"/>
              </a:lnSpc>
            </a:pPr>
            <a:r>
              <a:rPr lang="en-US" sz="1000" b="0" dirty="0">
                <a:solidFill>
                  <a:srgbClr val="CE9178"/>
                </a:solidFill>
                <a:effectLst/>
                <a:latin typeface="Menlo" panose="020B0609030804020204" pitchFamily="49" charset="0"/>
              </a:rPr>
              <a:t>as it comports a dictionary with two fields that are both lists. This is the format that will be expected</a:t>
            </a:r>
            <a:endParaRPr lang="en-US" sz="1000" b="0" dirty="0">
              <a:solidFill>
                <a:srgbClr val="D4D4D4"/>
              </a:solidFill>
              <a:effectLst/>
              <a:latin typeface="Menlo" panose="020B0609030804020204" pitchFamily="49" charset="0"/>
            </a:endParaRPr>
          </a:p>
          <a:p>
            <a:pPr>
              <a:lnSpc>
                <a:spcPts val="1350"/>
              </a:lnSpc>
            </a:pPr>
            <a:r>
              <a:rPr lang="en-US" sz="1000" b="0" dirty="0">
                <a:solidFill>
                  <a:srgbClr val="CE9178"/>
                </a:solidFill>
                <a:effectLst/>
                <a:latin typeface="Menlo" panose="020B0609030804020204" pitchFamily="49" charset="0"/>
              </a:rPr>
              <a:t>by the squad metric during evaluation; if you are using your own data, you </a:t>
            </a:r>
            <a:r>
              <a:rPr lang="en-US" sz="1000" b="0" dirty="0" err="1">
                <a:solidFill>
                  <a:srgbClr val="CE9178"/>
                </a:solidFill>
                <a:effectLst/>
                <a:latin typeface="Menlo" panose="020B0609030804020204" pitchFamily="49" charset="0"/>
              </a:rPr>
              <a:t>dont</a:t>
            </a:r>
            <a:r>
              <a:rPr lang="en-US" sz="1000" b="0" dirty="0">
                <a:solidFill>
                  <a:srgbClr val="CE9178"/>
                </a:solidFill>
                <a:effectLst/>
                <a:latin typeface="Menlo" panose="020B0609030804020204" pitchFamily="49" charset="0"/>
              </a:rPr>
              <a:t> necessarily need</a:t>
            </a:r>
            <a:endParaRPr lang="en-US" sz="1000" b="0" dirty="0">
              <a:solidFill>
                <a:srgbClr val="D4D4D4"/>
              </a:solidFill>
              <a:effectLst/>
              <a:latin typeface="Menlo" panose="020B0609030804020204" pitchFamily="49" charset="0"/>
            </a:endParaRPr>
          </a:p>
          <a:p>
            <a:pPr>
              <a:lnSpc>
                <a:spcPts val="1350"/>
              </a:lnSpc>
            </a:pPr>
            <a:r>
              <a:rPr lang="en-US" sz="1000" b="0" dirty="0">
                <a:solidFill>
                  <a:srgbClr val="CE9178"/>
                </a:solidFill>
                <a:effectLst/>
                <a:latin typeface="Menlo" panose="020B0609030804020204" pitchFamily="49" charset="0"/>
              </a:rPr>
              <a:t>to worry about putting the answers in the same format. The text field is rather obvious, and the</a:t>
            </a:r>
            <a:endParaRPr lang="en-US" sz="1000" b="0" dirty="0">
              <a:solidFill>
                <a:srgbClr val="D4D4D4"/>
              </a:solidFill>
              <a:effectLst/>
              <a:latin typeface="Menlo" panose="020B0609030804020204" pitchFamily="49" charset="0"/>
            </a:endParaRPr>
          </a:p>
          <a:p>
            <a:pPr>
              <a:lnSpc>
                <a:spcPts val="1350"/>
              </a:lnSpc>
            </a:pPr>
            <a:r>
              <a:rPr lang="en-US" sz="1000" b="0" dirty="0" err="1">
                <a:solidFill>
                  <a:srgbClr val="CE9178"/>
                </a:solidFill>
                <a:effectLst/>
                <a:latin typeface="Menlo" panose="020B0609030804020204" pitchFamily="49" charset="0"/>
              </a:rPr>
              <a:t>answer_start</a:t>
            </a:r>
            <a:r>
              <a:rPr lang="en-US" sz="1000" b="0" dirty="0">
                <a:solidFill>
                  <a:srgbClr val="CE9178"/>
                </a:solidFill>
                <a:effectLst/>
                <a:latin typeface="Menlo" panose="020B0609030804020204" pitchFamily="49" charset="0"/>
              </a:rPr>
              <a:t> field contains the starting character index of each answer in the context.</a:t>
            </a:r>
            <a:endParaRPr lang="en-US" sz="1000" dirty="0">
              <a:latin typeface="Consolas" panose="020B0609020204030204" pitchFamily="49" charset="0"/>
            </a:endParaRPr>
          </a:p>
          <a:p>
            <a:pPr lvl="0">
              <a:spcAft>
                <a:spcPts val="600"/>
              </a:spcAft>
              <a:defRPr/>
            </a:pPr>
            <a:r>
              <a:rPr lang="en-US" dirty="0">
                <a:latin typeface="Consolas" panose="020B0609020204030204" pitchFamily="49" charset="0"/>
              </a:rPr>
              <a:t>Model Output Screenshot:</a:t>
            </a: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a:spcAft>
                <a:spcPts val="600"/>
              </a:spcAft>
              <a:defRPr/>
            </a:pPr>
            <a:r>
              <a:rPr lang="en-US" dirty="0">
                <a:latin typeface="Consolas" panose="020B0609020204030204" pitchFamily="49" charset="0"/>
              </a:rPr>
              <a:t>RAG Output Screenshot:</a:t>
            </a:r>
            <a:endParaRPr lang="en-US" sz="1600" dirty="0">
              <a:latin typeface="Segoe UI" panose="020B0502040204020203" pitchFamily="34" charset="0"/>
              <a:cs typeface="Segoe UI" panose="020B0502040204020203" pitchFamily="34" charset="0"/>
            </a:endParaRP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Comment on Both Model’s Answer:</a:t>
            </a:r>
          </a:p>
          <a:p>
            <a:pPr lvl="0">
              <a:spcAft>
                <a:spcPts val="600"/>
              </a:spcAft>
              <a:defRPr/>
            </a:pPr>
            <a:r>
              <a:rPr lang="en-US" sz="1600" dirty="0">
                <a:latin typeface="Segoe UI" panose="020B0502040204020203" pitchFamily="34" charset="0"/>
                <a:cs typeface="Segoe UI" panose="020B0502040204020203" pitchFamily="34" charset="0"/>
              </a:rPr>
              <a:t>The model’s output is very short and concise, very much exactly what we are looking for. The RAG’s response is also correct but is substantially more detailed and long, probably because of the increased context of the entire PDF. Additionally the RAG is less specific. However, this is probably just due to the focused context that we gave the model we trained, where the answer was directly in the paragraph.</a:t>
            </a: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p:txBody>
      </p:sp>
      <p:sp>
        <p:nvSpPr>
          <p:cNvPr id="8" name="Title 7"/>
          <p:cNvSpPr>
            <a:spLocks noGrp="1"/>
          </p:cNvSpPr>
          <p:nvPr>
            <p:ph type="title"/>
          </p:nvPr>
        </p:nvSpPr>
        <p:spPr>
          <a:xfrm>
            <a:off x="521207" y="448056"/>
            <a:ext cx="10612231" cy="640080"/>
          </a:xfrm>
        </p:spPr>
        <p:txBody>
          <a:bodyPr>
            <a:noAutofit/>
          </a:bodyPr>
          <a:lstStyle/>
          <a:p>
            <a:r>
              <a:rPr lang="en-US" sz="2400" dirty="0">
                <a:latin typeface="Segoe UI Light" panose="020B0502040204020203" pitchFamily="34" charset="0"/>
                <a:cs typeface="Segoe UI Light" panose="020B0502040204020203" pitchFamily="34" charset="0"/>
              </a:rPr>
              <a:t>🤗 QA Tasks – “</a:t>
            </a:r>
            <a:r>
              <a:rPr lang="en-US" sz="2400" dirty="0"/>
              <a:t>What is tricky about processing the answer field of the dataset?”</a:t>
            </a:r>
            <a:endParaRPr lang="en-US" sz="2400" dirty="0">
              <a:latin typeface="Segoe UI Light" panose="020B0502040204020203" pitchFamily="34" charset="0"/>
              <a:cs typeface="Segoe UI Light" panose="020B0502040204020203" pitchFamily="34" charset="0"/>
            </a:endParaRPr>
          </a:p>
        </p:txBody>
      </p:sp>
      <p:pic>
        <p:nvPicPr>
          <p:cNvPr id="2" name="Picture 1">
            <a:extLst>
              <a:ext uri="{FF2B5EF4-FFF2-40B4-BE49-F238E27FC236}">
                <a16:creationId xmlns:a16="http://schemas.microsoft.com/office/drawing/2014/main" id="{E51BC8C8-99E9-71A5-4D39-FFBF2734E3C3}"/>
              </a:ext>
            </a:extLst>
          </p:cNvPr>
          <p:cNvPicPr>
            <a:picLocks noChangeAspect="1"/>
          </p:cNvPicPr>
          <p:nvPr/>
        </p:nvPicPr>
        <p:blipFill>
          <a:blip r:embed="rId2"/>
          <a:stretch>
            <a:fillRect/>
          </a:stretch>
        </p:blipFill>
        <p:spPr>
          <a:xfrm>
            <a:off x="623455" y="3297996"/>
            <a:ext cx="4434950" cy="649195"/>
          </a:xfrm>
          <a:prstGeom prst="rect">
            <a:avLst/>
          </a:prstGeom>
        </p:spPr>
      </p:pic>
      <p:pic>
        <p:nvPicPr>
          <p:cNvPr id="4" name="Picture 3">
            <a:extLst>
              <a:ext uri="{FF2B5EF4-FFF2-40B4-BE49-F238E27FC236}">
                <a16:creationId xmlns:a16="http://schemas.microsoft.com/office/drawing/2014/main" id="{64A86223-E014-73BA-F216-B677C8EA314D}"/>
              </a:ext>
            </a:extLst>
          </p:cNvPr>
          <p:cNvPicPr>
            <a:picLocks noChangeAspect="1"/>
          </p:cNvPicPr>
          <p:nvPr/>
        </p:nvPicPr>
        <p:blipFill>
          <a:blip r:embed="rId3"/>
          <a:stretch>
            <a:fillRect/>
          </a:stretch>
        </p:blipFill>
        <p:spPr>
          <a:xfrm>
            <a:off x="623455" y="4362827"/>
            <a:ext cx="6608790" cy="788970"/>
          </a:xfrm>
          <a:prstGeom prst="rect">
            <a:avLst/>
          </a:prstGeom>
        </p:spPr>
      </p:pic>
    </p:spTree>
    <p:extLst>
      <p:ext uri="{BB962C8B-B14F-4D97-AF65-F5344CB8AC3E}">
        <p14:creationId xmlns:p14="http://schemas.microsoft.com/office/powerpoint/2010/main" val="26518524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10612231" cy="640080"/>
          </a:xfrm>
        </p:spPr>
        <p:txBody>
          <a:bodyPr>
            <a:noAutofit/>
          </a:bodyPr>
          <a:lstStyle/>
          <a:p>
            <a:r>
              <a:rPr lang="en-US" dirty="0">
                <a:latin typeface="Segoe UI Light" panose="020B0502040204020203" pitchFamily="34" charset="0"/>
                <a:cs typeface="Segoe UI Light" panose="020B0502040204020203" pitchFamily="34" charset="0"/>
              </a:rPr>
              <a:t>🤗 QA Tasks – “</a:t>
            </a:r>
            <a:r>
              <a:rPr lang="en-US" dirty="0"/>
              <a:t>How are the labels for the answer formatted?”</a:t>
            </a:r>
            <a:endParaRPr lang="en-US" dirty="0">
              <a:latin typeface="Segoe UI Light" panose="020B0502040204020203" pitchFamily="34" charset="0"/>
              <a:cs typeface="Segoe UI Light" panose="020B0502040204020203" pitchFamily="34" charset="0"/>
            </a:endParaRPr>
          </a:p>
        </p:txBody>
      </p:sp>
      <p:sp>
        <p:nvSpPr>
          <p:cNvPr id="2" name="TextBox 1">
            <a:extLst>
              <a:ext uri="{FF2B5EF4-FFF2-40B4-BE49-F238E27FC236}">
                <a16:creationId xmlns:a16="http://schemas.microsoft.com/office/drawing/2014/main" id="{710A8523-15E1-F56A-5A8C-A5FFA522615E}"/>
              </a:ext>
            </a:extLst>
          </p:cNvPr>
          <p:cNvSpPr txBox="1"/>
          <p:nvPr/>
        </p:nvSpPr>
        <p:spPr>
          <a:xfrm>
            <a:off x="623455" y="1413164"/>
            <a:ext cx="11239994" cy="6252994"/>
          </a:xfrm>
          <a:prstGeom prst="rect">
            <a:avLst/>
          </a:prstGeom>
          <a:noFill/>
        </p:spPr>
        <p:txBody>
          <a:bodyPr wrap="square" rtlCol="0">
            <a:spAutoFit/>
          </a:bodyPr>
          <a:lstStyle/>
          <a:p>
            <a:pPr lvl="0">
              <a:spcAft>
                <a:spcPts val="600"/>
              </a:spcAft>
              <a:defRPr/>
            </a:pPr>
            <a:r>
              <a:rPr lang="en-US" dirty="0">
                <a:latin typeface="Segoe UI" panose="020B0502040204020203" pitchFamily="34" charset="0"/>
                <a:cs typeface="Segoe UI" panose="020B0502040204020203" pitchFamily="34" charset="0"/>
              </a:rPr>
              <a:t>My answer: </a:t>
            </a:r>
            <a:r>
              <a:rPr lang="en-US" b="0" i="0" dirty="0">
                <a:solidFill>
                  <a:srgbClr val="D4D4D4"/>
                </a:solidFill>
                <a:effectLst/>
                <a:latin typeface="Menlo" panose="020B0609030804020204" pitchFamily="49" charset="0"/>
              </a:rPr>
              <a:t>the index of the tokens starting and ending the answer</a:t>
            </a:r>
          </a:p>
          <a:p>
            <a:pPr lvl="0">
              <a:spcAft>
                <a:spcPts val="600"/>
              </a:spcAft>
              <a:defRPr/>
            </a:pPr>
            <a:endParaRPr lang="en-US" dirty="0">
              <a:latin typeface="Segoe UI" panose="020B0502040204020203" pitchFamily="34" charset="0"/>
              <a:cs typeface="Segoe UI" panose="020B0502040204020203" pitchFamily="34" charset="0"/>
            </a:endParaRPr>
          </a:p>
          <a:p>
            <a:pPr>
              <a:lnSpc>
                <a:spcPts val="1350"/>
              </a:lnSpc>
            </a:pPr>
            <a:r>
              <a:rPr lang="en-US" dirty="0">
                <a:latin typeface="Consolas" panose="020B0609020204030204" pitchFamily="49" charset="0"/>
              </a:rPr>
              <a:t>Context: </a:t>
            </a:r>
            <a:r>
              <a:rPr lang="en-US" b="0" dirty="0">
                <a:solidFill>
                  <a:srgbClr val="CE9178"/>
                </a:solidFill>
                <a:effectLst/>
                <a:latin typeface="Menlo" panose="020B0609030804020204" pitchFamily="49" charset="0"/>
              </a:rPr>
              <a:t>The labels will then be the index of the tokens starting and ending the answer, and the model will</a:t>
            </a:r>
            <a:endParaRPr lang="en-US" b="0" dirty="0">
              <a:solidFill>
                <a:srgbClr val="D4D4D4"/>
              </a:solidFill>
              <a:effectLst/>
              <a:latin typeface="Menlo" panose="020B0609030804020204" pitchFamily="49" charset="0"/>
            </a:endParaRPr>
          </a:p>
          <a:p>
            <a:pPr>
              <a:lnSpc>
                <a:spcPts val="1350"/>
              </a:lnSpc>
            </a:pPr>
            <a:r>
              <a:rPr lang="en-US" b="0" dirty="0">
                <a:solidFill>
                  <a:srgbClr val="CE9178"/>
                </a:solidFill>
                <a:effectLst/>
                <a:latin typeface="Menlo" panose="020B0609030804020204" pitchFamily="49" charset="0"/>
              </a:rPr>
              <a:t>be tasked to predicted one start and end logit per token in the input, with the theoretical labels</a:t>
            </a:r>
            <a:endParaRPr lang="en-US" b="0" dirty="0">
              <a:solidFill>
                <a:srgbClr val="D4D4D4"/>
              </a:solidFill>
              <a:effectLst/>
              <a:latin typeface="Menlo" panose="020B0609030804020204" pitchFamily="49" charset="0"/>
            </a:endParaRPr>
          </a:p>
          <a:p>
            <a:pPr>
              <a:lnSpc>
                <a:spcPts val="1350"/>
              </a:lnSpc>
            </a:pPr>
            <a:r>
              <a:rPr lang="en-US" b="0" dirty="0">
                <a:solidFill>
                  <a:srgbClr val="CE9178"/>
                </a:solidFill>
                <a:effectLst/>
                <a:latin typeface="Menlo" panose="020B0609030804020204" pitchFamily="49" charset="0"/>
              </a:rPr>
              <a:t>being as follow:</a:t>
            </a:r>
            <a:endParaRPr lang="en-US" b="0" dirty="0">
              <a:solidFill>
                <a:srgbClr val="D4D4D4"/>
              </a:solidFill>
              <a:effectLst/>
              <a:latin typeface="Menlo" panose="020B0609030804020204" pitchFamily="49" charset="0"/>
            </a:endParaRPr>
          </a:p>
          <a:p>
            <a:pPr lvl="0">
              <a:spcAft>
                <a:spcPts val="600"/>
              </a:spcAft>
              <a:defRPr/>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Model Output Screenshot:</a:t>
            </a: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a:spcAft>
                <a:spcPts val="600"/>
              </a:spcAft>
              <a:defRPr/>
            </a:pPr>
            <a:r>
              <a:rPr lang="en-US" dirty="0">
                <a:latin typeface="Consolas" panose="020B0609020204030204" pitchFamily="49" charset="0"/>
              </a:rPr>
              <a:t>RAG Output Screenshot:</a:t>
            </a:r>
            <a:endParaRPr lang="en-US" sz="1600" dirty="0">
              <a:latin typeface="Segoe UI" panose="020B0502040204020203" pitchFamily="34" charset="0"/>
              <a:cs typeface="Segoe UI" panose="020B0502040204020203" pitchFamily="34" charset="0"/>
            </a:endParaRP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Comment on Both Model’s Answer: Both are equally good here with the RAG being slightly more verbose. Picking one or the other depends on personal preferences regarding the verbosity/readability of the answer. The RAG does also give an example, whereas the model just tells you the answer. </a:t>
            </a: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E2AE9D7D-398B-F590-DC71-64BEA02FADB3}"/>
              </a:ext>
            </a:extLst>
          </p:cNvPr>
          <p:cNvPicPr>
            <a:picLocks noChangeAspect="1"/>
          </p:cNvPicPr>
          <p:nvPr/>
        </p:nvPicPr>
        <p:blipFill>
          <a:blip r:embed="rId2"/>
          <a:stretch>
            <a:fillRect/>
          </a:stretch>
        </p:blipFill>
        <p:spPr>
          <a:xfrm>
            <a:off x="3927764" y="3429000"/>
            <a:ext cx="5285509" cy="773701"/>
          </a:xfrm>
          <a:prstGeom prst="rect">
            <a:avLst/>
          </a:prstGeom>
        </p:spPr>
      </p:pic>
      <p:pic>
        <p:nvPicPr>
          <p:cNvPr id="4" name="Picture 3">
            <a:extLst>
              <a:ext uri="{FF2B5EF4-FFF2-40B4-BE49-F238E27FC236}">
                <a16:creationId xmlns:a16="http://schemas.microsoft.com/office/drawing/2014/main" id="{10FE729B-D671-2A6D-1339-1248C4FBAB10}"/>
              </a:ext>
            </a:extLst>
          </p:cNvPr>
          <p:cNvPicPr>
            <a:picLocks noChangeAspect="1"/>
          </p:cNvPicPr>
          <p:nvPr/>
        </p:nvPicPr>
        <p:blipFill>
          <a:blip r:embed="rId3"/>
          <a:stretch>
            <a:fillRect/>
          </a:stretch>
        </p:blipFill>
        <p:spPr>
          <a:xfrm>
            <a:off x="623455" y="4690553"/>
            <a:ext cx="7772400" cy="754283"/>
          </a:xfrm>
          <a:prstGeom prst="rect">
            <a:avLst/>
          </a:prstGeom>
        </p:spPr>
      </p:pic>
    </p:spTree>
    <p:extLst>
      <p:ext uri="{BB962C8B-B14F-4D97-AF65-F5344CB8AC3E}">
        <p14:creationId xmlns:p14="http://schemas.microsoft.com/office/powerpoint/2010/main" val="40475097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10612231" cy="640080"/>
          </a:xfrm>
        </p:spPr>
        <p:txBody>
          <a:bodyPr>
            <a:noAutofit/>
          </a:bodyPr>
          <a:lstStyle/>
          <a:p>
            <a:r>
              <a:rPr lang="en-US" dirty="0">
                <a:latin typeface="Segoe UI Light" panose="020B0502040204020203" pitchFamily="34" charset="0"/>
                <a:cs typeface="Segoe UI Light" panose="020B0502040204020203" pitchFamily="34" charset="0"/>
              </a:rPr>
              <a:t>🤗 QA Tasks – “</a:t>
            </a:r>
            <a:r>
              <a:rPr lang="en-US" dirty="0"/>
              <a:t>What type of tokenizer is needed?”</a:t>
            </a:r>
            <a:endParaRPr lang="en-US" dirty="0">
              <a:latin typeface="Segoe UI Light" panose="020B0502040204020203" pitchFamily="34" charset="0"/>
              <a:cs typeface="Segoe UI Light" panose="020B0502040204020203" pitchFamily="34" charset="0"/>
            </a:endParaRPr>
          </a:p>
        </p:txBody>
      </p:sp>
      <p:sp>
        <p:nvSpPr>
          <p:cNvPr id="2" name="TextBox 1">
            <a:extLst>
              <a:ext uri="{FF2B5EF4-FFF2-40B4-BE49-F238E27FC236}">
                <a16:creationId xmlns:a16="http://schemas.microsoft.com/office/drawing/2014/main" id="{F55E1DFA-8C00-775B-4BC4-1B8EE498751C}"/>
              </a:ext>
            </a:extLst>
          </p:cNvPr>
          <p:cNvSpPr txBox="1"/>
          <p:nvPr/>
        </p:nvSpPr>
        <p:spPr>
          <a:xfrm>
            <a:off x="623455" y="1413164"/>
            <a:ext cx="11239994" cy="5904180"/>
          </a:xfrm>
          <a:prstGeom prst="rect">
            <a:avLst/>
          </a:prstGeom>
          <a:noFill/>
        </p:spPr>
        <p:txBody>
          <a:bodyPr wrap="square" rtlCol="0">
            <a:spAutoFit/>
          </a:bodyPr>
          <a:lstStyle/>
          <a:p>
            <a:pPr lvl="0">
              <a:spcAft>
                <a:spcPts val="600"/>
              </a:spcAft>
              <a:defRPr/>
            </a:pPr>
            <a:r>
              <a:rPr lang="en-US" dirty="0">
                <a:latin typeface="Segoe UI" panose="020B0502040204020203" pitchFamily="34" charset="0"/>
                <a:cs typeface="Segoe UI" panose="020B0502040204020203" pitchFamily="34" charset="0"/>
              </a:rPr>
              <a:t>My answer: </a:t>
            </a:r>
            <a:r>
              <a:rPr lang="en-US" b="0" i="0" dirty="0">
                <a:solidFill>
                  <a:srgbClr val="D4D4D4"/>
                </a:solidFill>
                <a:effectLst/>
                <a:latin typeface="Menlo" panose="020B0609030804020204" pitchFamily="49" charset="0"/>
              </a:rPr>
              <a:t>fast</a:t>
            </a:r>
          </a:p>
          <a:p>
            <a:pPr lvl="0">
              <a:spcAft>
                <a:spcPts val="600"/>
              </a:spcAft>
              <a:defRPr/>
            </a:pPr>
            <a:endParaRPr lang="en-US" dirty="0">
              <a:latin typeface="Segoe UI" panose="020B0502040204020203" pitchFamily="34" charset="0"/>
              <a:cs typeface="Segoe UI" panose="020B0502040204020203" pitchFamily="34" charset="0"/>
            </a:endParaRPr>
          </a:p>
          <a:p>
            <a:pPr>
              <a:lnSpc>
                <a:spcPts val="1350"/>
              </a:lnSpc>
            </a:pPr>
            <a:r>
              <a:rPr lang="en-US" dirty="0">
                <a:latin typeface="Consolas" panose="020B0609020204030204" pitchFamily="49" charset="0"/>
              </a:rPr>
              <a:t>Context: </a:t>
            </a:r>
            <a:r>
              <a:rPr lang="en-US" b="0" dirty="0">
                <a:solidFill>
                  <a:srgbClr val="CE9178"/>
                </a:solidFill>
                <a:effectLst/>
                <a:latin typeface="Menlo" panose="020B0609030804020204" pitchFamily="49" charset="0"/>
              </a:rPr>
              <a:t>As mentioned previously, well be fine-tuning a BERT model, but you can use any other model type</a:t>
            </a:r>
            <a:endParaRPr lang="en-US" b="0" dirty="0">
              <a:solidFill>
                <a:srgbClr val="D4D4D4"/>
              </a:solidFill>
              <a:effectLst/>
              <a:latin typeface="Menlo" panose="020B0609030804020204" pitchFamily="49" charset="0"/>
            </a:endParaRPr>
          </a:p>
          <a:p>
            <a:pPr>
              <a:lnSpc>
                <a:spcPts val="1350"/>
              </a:lnSpc>
            </a:pPr>
            <a:r>
              <a:rPr lang="en-US" b="0" dirty="0">
                <a:solidFill>
                  <a:srgbClr val="CE9178"/>
                </a:solidFill>
                <a:effectLst/>
                <a:latin typeface="Menlo" panose="020B0609030804020204" pitchFamily="49" charset="0"/>
              </a:rPr>
              <a:t>as long as it has a fast tokenizer implemented. You can see all the architectures that come with a</a:t>
            </a:r>
            <a:endParaRPr lang="en-US" b="0" dirty="0">
              <a:solidFill>
                <a:srgbClr val="D4D4D4"/>
              </a:solidFill>
              <a:effectLst/>
              <a:latin typeface="Menlo" panose="020B0609030804020204" pitchFamily="49" charset="0"/>
            </a:endParaRPr>
          </a:p>
          <a:p>
            <a:pPr>
              <a:lnSpc>
                <a:spcPts val="1350"/>
              </a:lnSpc>
            </a:pPr>
            <a:r>
              <a:rPr lang="en-US" b="0" dirty="0">
                <a:solidFill>
                  <a:srgbClr val="CE9178"/>
                </a:solidFill>
                <a:effectLst/>
                <a:latin typeface="Menlo" panose="020B0609030804020204" pitchFamily="49" charset="0"/>
              </a:rPr>
              <a:t>fast version in this big table, and to check that the tokenizer object </a:t>
            </a:r>
            <a:r>
              <a:rPr lang="en-US" b="0" dirty="0" err="1">
                <a:solidFill>
                  <a:srgbClr val="CE9178"/>
                </a:solidFill>
                <a:effectLst/>
                <a:latin typeface="Menlo" panose="020B0609030804020204" pitchFamily="49" charset="0"/>
              </a:rPr>
              <a:t>youre</a:t>
            </a:r>
            <a:r>
              <a:rPr lang="en-US" b="0" dirty="0">
                <a:solidFill>
                  <a:srgbClr val="CE9178"/>
                </a:solidFill>
                <a:effectLst/>
                <a:latin typeface="Menlo" panose="020B0609030804020204" pitchFamily="49" charset="0"/>
              </a:rPr>
              <a:t> using is indeed backed</a:t>
            </a:r>
            <a:endParaRPr lang="en-US" b="0" dirty="0">
              <a:solidFill>
                <a:srgbClr val="D4D4D4"/>
              </a:solidFill>
              <a:effectLst/>
              <a:latin typeface="Menlo" panose="020B0609030804020204" pitchFamily="49" charset="0"/>
            </a:endParaRPr>
          </a:p>
          <a:p>
            <a:pPr>
              <a:lnSpc>
                <a:spcPts val="1350"/>
              </a:lnSpc>
            </a:pPr>
            <a:r>
              <a:rPr lang="en-US" b="0" dirty="0">
                <a:solidFill>
                  <a:srgbClr val="CE9178"/>
                </a:solidFill>
                <a:effectLst/>
                <a:latin typeface="Menlo" panose="020B0609030804020204" pitchFamily="49" charset="0"/>
              </a:rPr>
              <a:t>by 🤗 Tokenizers you can look at its </a:t>
            </a:r>
            <a:r>
              <a:rPr lang="en-US" b="0" dirty="0" err="1">
                <a:solidFill>
                  <a:srgbClr val="CE9178"/>
                </a:solidFill>
                <a:effectLst/>
                <a:latin typeface="Menlo" panose="020B0609030804020204" pitchFamily="49" charset="0"/>
              </a:rPr>
              <a:t>is_fast</a:t>
            </a:r>
            <a:r>
              <a:rPr lang="en-US" b="0" dirty="0">
                <a:solidFill>
                  <a:srgbClr val="CE9178"/>
                </a:solidFill>
                <a:effectLst/>
                <a:latin typeface="Menlo" panose="020B0609030804020204" pitchFamily="49" charset="0"/>
              </a:rPr>
              <a:t> attribute:</a:t>
            </a: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Model Output Screenshot:</a:t>
            </a: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a:spcAft>
                <a:spcPts val="600"/>
              </a:spcAft>
              <a:defRPr/>
            </a:pPr>
            <a:r>
              <a:rPr lang="en-US" dirty="0">
                <a:latin typeface="Consolas" panose="020B0609020204030204" pitchFamily="49" charset="0"/>
              </a:rPr>
              <a:t>RAG Output Screenshot:</a:t>
            </a:r>
          </a:p>
          <a:p>
            <a:pPr lvl="0">
              <a:spcAft>
                <a:spcPts val="600"/>
              </a:spcAft>
              <a:defRPr/>
            </a:pPr>
            <a:r>
              <a:rPr lang="en-US" dirty="0">
                <a:latin typeface="Consolas" panose="020B0609020204030204" pitchFamily="49" charset="0"/>
              </a:rPr>
              <a:t>Comment on Both Model’s The model came out with a very simple single word answer, whereas the RAG went into an in depth technical analysis of what is necessary. To be fair, this question was also difficult to answer and it’s subjective as to which answer is preferable, but the RAG’s answer is more technically complete. </a:t>
            </a: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EB245E73-7731-0067-9401-97170EA55C70}"/>
              </a:ext>
            </a:extLst>
          </p:cNvPr>
          <p:cNvPicPr>
            <a:picLocks noChangeAspect="1"/>
          </p:cNvPicPr>
          <p:nvPr/>
        </p:nvPicPr>
        <p:blipFill>
          <a:blip r:embed="rId2"/>
          <a:stretch>
            <a:fillRect/>
          </a:stretch>
        </p:blipFill>
        <p:spPr>
          <a:xfrm>
            <a:off x="623455" y="4106849"/>
            <a:ext cx="7099300" cy="393700"/>
          </a:xfrm>
          <a:prstGeom prst="rect">
            <a:avLst/>
          </a:prstGeom>
        </p:spPr>
      </p:pic>
      <p:pic>
        <p:nvPicPr>
          <p:cNvPr id="5" name="Picture 4">
            <a:extLst>
              <a:ext uri="{FF2B5EF4-FFF2-40B4-BE49-F238E27FC236}">
                <a16:creationId xmlns:a16="http://schemas.microsoft.com/office/drawing/2014/main" id="{F36678F2-8822-0638-C56A-DC5C79210BE7}"/>
              </a:ext>
            </a:extLst>
          </p:cNvPr>
          <p:cNvPicPr>
            <a:picLocks noChangeAspect="1"/>
          </p:cNvPicPr>
          <p:nvPr/>
        </p:nvPicPr>
        <p:blipFill>
          <a:blip r:embed="rId3"/>
          <a:stretch>
            <a:fillRect/>
          </a:stretch>
        </p:blipFill>
        <p:spPr>
          <a:xfrm>
            <a:off x="7505205" y="3727887"/>
            <a:ext cx="3628233" cy="1117943"/>
          </a:xfrm>
          <a:prstGeom prst="rect">
            <a:avLst/>
          </a:prstGeom>
        </p:spPr>
      </p:pic>
    </p:spTree>
    <p:extLst>
      <p:ext uri="{BB962C8B-B14F-4D97-AF65-F5344CB8AC3E}">
        <p14:creationId xmlns:p14="http://schemas.microsoft.com/office/powerpoint/2010/main" val="3765697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10612231" cy="640080"/>
          </a:xfrm>
        </p:spPr>
        <p:txBody>
          <a:bodyPr>
            <a:noAutofit/>
          </a:bodyPr>
          <a:lstStyle/>
          <a:p>
            <a:r>
              <a:rPr lang="en-US" dirty="0">
                <a:latin typeface="Segoe UI Light" panose="020B0502040204020203" pitchFamily="34" charset="0"/>
                <a:cs typeface="Segoe UI Light" panose="020B0502040204020203" pitchFamily="34" charset="0"/>
              </a:rPr>
              <a:t>🤗 QA Tasks – “</a:t>
            </a:r>
            <a:r>
              <a:rPr lang="en-US" dirty="0"/>
              <a:t>How do we deal with long context?”</a:t>
            </a:r>
            <a:endParaRPr lang="en-US" dirty="0">
              <a:latin typeface="Segoe UI Light" panose="020B0502040204020203" pitchFamily="34" charset="0"/>
              <a:cs typeface="Segoe UI Light" panose="020B0502040204020203" pitchFamily="34" charset="0"/>
            </a:endParaRPr>
          </a:p>
        </p:txBody>
      </p:sp>
      <p:sp>
        <p:nvSpPr>
          <p:cNvPr id="2" name="TextBox 1">
            <a:extLst>
              <a:ext uri="{FF2B5EF4-FFF2-40B4-BE49-F238E27FC236}">
                <a16:creationId xmlns:a16="http://schemas.microsoft.com/office/drawing/2014/main" id="{9FE87209-AA51-DBDA-3CE0-47BFBAC79C6F}"/>
              </a:ext>
            </a:extLst>
          </p:cNvPr>
          <p:cNvSpPr txBox="1"/>
          <p:nvPr/>
        </p:nvSpPr>
        <p:spPr>
          <a:xfrm>
            <a:off x="623455" y="1413164"/>
            <a:ext cx="11239994" cy="6360716"/>
          </a:xfrm>
          <a:prstGeom prst="rect">
            <a:avLst/>
          </a:prstGeom>
          <a:noFill/>
        </p:spPr>
        <p:txBody>
          <a:bodyPr wrap="square" rtlCol="0">
            <a:spAutoFit/>
          </a:bodyPr>
          <a:lstStyle/>
          <a:p>
            <a:pPr lvl="0">
              <a:spcAft>
                <a:spcPts val="600"/>
              </a:spcAft>
              <a:defRPr/>
            </a:pPr>
            <a:r>
              <a:rPr lang="en-US" dirty="0">
                <a:latin typeface="Segoe UI" panose="020B0502040204020203" pitchFamily="34" charset="0"/>
                <a:cs typeface="Segoe UI" panose="020B0502040204020203" pitchFamily="34" charset="0"/>
              </a:rPr>
              <a:t>My answer:  by creating several training features from one sample of our dataset</a:t>
            </a:r>
            <a:endParaRPr lang="en-US" dirty="0">
              <a:solidFill>
                <a:schemeClr val="accent1"/>
              </a:solidFill>
              <a:latin typeface="Segoe UI" panose="020B0502040204020203" pitchFamily="34" charset="0"/>
              <a:cs typeface="Segoe UI" panose="020B0502040204020203" pitchFamily="34" charset="0"/>
            </a:endParaRPr>
          </a:p>
          <a:p>
            <a:pPr lvl="0">
              <a:spcAft>
                <a:spcPts val="600"/>
              </a:spcAft>
              <a:defRPr/>
            </a:pPr>
            <a:endParaRPr lang="en-US" dirty="0">
              <a:latin typeface="Segoe UI" panose="020B0502040204020203" pitchFamily="34" charset="0"/>
              <a:cs typeface="Segoe UI" panose="020B0502040204020203" pitchFamily="34" charset="0"/>
            </a:endParaRPr>
          </a:p>
          <a:p>
            <a:pPr lvl="0">
              <a:spcAft>
                <a:spcPts val="600"/>
              </a:spcAft>
              <a:defRPr/>
            </a:pPr>
            <a:r>
              <a:rPr lang="en-US" dirty="0">
                <a:latin typeface="Consolas" panose="020B0609020204030204" pitchFamily="49" charset="0"/>
              </a:rPr>
              <a:t>Context:  </a:t>
            </a:r>
            <a:r>
              <a:rPr lang="en-US" b="0" dirty="0">
                <a:solidFill>
                  <a:srgbClr val="CE9178"/>
                </a:solidFill>
                <a:effectLst/>
                <a:latin typeface="Menlo" panose="020B0609030804020204" pitchFamily="49" charset="0"/>
              </a:rPr>
              <a:t>In this case the context is not too long, but some of the examples in the dataset have very long</a:t>
            </a:r>
            <a:endParaRPr lang="en-US" b="0" dirty="0">
              <a:solidFill>
                <a:srgbClr val="D4D4D4"/>
              </a:solidFill>
              <a:effectLst/>
              <a:latin typeface="Menlo" panose="020B0609030804020204" pitchFamily="49" charset="0"/>
            </a:endParaRPr>
          </a:p>
          <a:p>
            <a:pPr>
              <a:lnSpc>
                <a:spcPts val="1350"/>
              </a:lnSpc>
            </a:pPr>
            <a:r>
              <a:rPr lang="en-US" b="0" dirty="0">
                <a:solidFill>
                  <a:srgbClr val="CE9178"/>
                </a:solidFill>
                <a:effectLst/>
                <a:latin typeface="Menlo" panose="020B0609030804020204" pitchFamily="49" charset="0"/>
              </a:rPr>
              <a:t>contexts that will exceed the maximum length we set (which is 384 in this case). As we saw in</a:t>
            </a:r>
            <a:endParaRPr lang="en-US" b="0" dirty="0">
              <a:solidFill>
                <a:srgbClr val="D4D4D4"/>
              </a:solidFill>
              <a:effectLst/>
              <a:latin typeface="Menlo" panose="020B0609030804020204" pitchFamily="49" charset="0"/>
            </a:endParaRPr>
          </a:p>
          <a:p>
            <a:pPr>
              <a:lnSpc>
                <a:spcPts val="1350"/>
              </a:lnSpc>
            </a:pPr>
            <a:r>
              <a:rPr lang="en-US" b="0" dirty="0">
                <a:solidFill>
                  <a:srgbClr val="CE9178"/>
                </a:solidFill>
                <a:effectLst/>
                <a:latin typeface="Menlo" panose="020B0609030804020204" pitchFamily="49" charset="0"/>
              </a:rPr>
              <a:t>Chapter 6 when we explored the internals of the question-answering pipeline, we will deal with</a:t>
            </a:r>
            <a:endParaRPr lang="en-US" b="0" dirty="0">
              <a:solidFill>
                <a:srgbClr val="D4D4D4"/>
              </a:solidFill>
              <a:effectLst/>
              <a:latin typeface="Menlo" panose="020B0609030804020204" pitchFamily="49" charset="0"/>
            </a:endParaRPr>
          </a:p>
          <a:p>
            <a:pPr>
              <a:lnSpc>
                <a:spcPts val="1350"/>
              </a:lnSpc>
            </a:pPr>
            <a:r>
              <a:rPr lang="en-US" b="0" dirty="0">
                <a:solidFill>
                  <a:srgbClr val="CE9178"/>
                </a:solidFill>
                <a:effectLst/>
                <a:latin typeface="Menlo" panose="020B0609030804020204" pitchFamily="49" charset="0"/>
              </a:rPr>
              <a:t>long contexts by creating several training features from one sample of our dataset, with a sliding</a:t>
            </a:r>
            <a:endParaRPr lang="en-US" b="0" dirty="0">
              <a:solidFill>
                <a:srgbClr val="D4D4D4"/>
              </a:solidFill>
              <a:effectLst/>
              <a:latin typeface="Menlo" panose="020B0609030804020204" pitchFamily="49" charset="0"/>
            </a:endParaRPr>
          </a:p>
          <a:p>
            <a:pPr>
              <a:lnSpc>
                <a:spcPts val="1350"/>
              </a:lnSpc>
            </a:pPr>
            <a:r>
              <a:rPr lang="en-US" b="0" dirty="0">
                <a:solidFill>
                  <a:srgbClr val="CE9178"/>
                </a:solidFill>
                <a:effectLst/>
                <a:latin typeface="Menlo" panose="020B0609030804020204" pitchFamily="49" charset="0"/>
              </a:rPr>
              <a:t>window between them.</a:t>
            </a:r>
          </a:p>
          <a:p>
            <a:pPr>
              <a:lnSpc>
                <a:spcPts val="1350"/>
              </a:lnSpc>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Model Output Screenshot:</a:t>
            </a: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a:spcAft>
                <a:spcPts val="600"/>
              </a:spcAft>
              <a:defRPr/>
            </a:pPr>
            <a:r>
              <a:rPr lang="en-US" dirty="0">
                <a:latin typeface="Consolas" panose="020B0609020204030204" pitchFamily="49" charset="0"/>
              </a:rPr>
              <a:t>RAG Output Screenshot:</a:t>
            </a:r>
          </a:p>
          <a:p>
            <a:pPr lvl="0">
              <a:spcAft>
                <a:spcPts val="600"/>
              </a:spcAft>
              <a:defRPr/>
            </a:pPr>
            <a:r>
              <a:rPr lang="en-US" dirty="0">
                <a:latin typeface="Consolas" panose="020B0609020204030204" pitchFamily="49" charset="0"/>
              </a:rPr>
              <a:t>Comment on Both Model’s Answer: Once again the RAG outperforms the model, although the model effectively extracts the best answer from the context given, the context of having the entire PDF wins here as the RAG is able to articulate the implementation, such as the sliding window concept of context. </a:t>
            </a: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C85CBD32-CC7A-818F-3023-A4389671CE3D}"/>
              </a:ext>
            </a:extLst>
          </p:cNvPr>
          <p:cNvPicPr>
            <a:picLocks noChangeAspect="1"/>
          </p:cNvPicPr>
          <p:nvPr/>
        </p:nvPicPr>
        <p:blipFill>
          <a:blip r:embed="rId2"/>
          <a:stretch>
            <a:fillRect/>
          </a:stretch>
        </p:blipFill>
        <p:spPr>
          <a:xfrm>
            <a:off x="4037610" y="3752893"/>
            <a:ext cx="5365750" cy="709521"/>
          </a:xfrm>
          <a:prstGeom prst="rect">
            <a:avLst/>
          </a:prstGeom>
        </p:spPr>
      </p:pic>
      <p:pic>
        <p:nvPicPr>
          <p:cNvPr id="4" name="Picture 3">
            <a:extLst>
              <a:ext uri="{FF2B5EF4-FFF2-40B4-BE49-F238E27FC236}">
                <a16:creationId xmlns:a16="http://schemas.microsoft.com/office/drawing/2014/main" id="{2BB4B642-817E-8DE0-D2A3-9866D0E3BB7D}"/>
              </a:ext>
            </a:extLst>
          </p:cNvPr>
          <p:cNvPicPr>
            <a:picLocks noChangeAspect="1"/>
          </p:cNvPicPr>
          <p:nvPr/>
        </p:nvPicPr>
        <p:blipFill>
          <a:blip r:embed="rId3"/>
          <a:stretch>
            <a:fillRect/>
          </a:stretch>
        </p:blipFill>
        <p:spPr>
          <a:xfrm>
            <a:off x="3710544" y="4495498"/>
            <a:ext cx="5065816" cy="1062971"/>
          </a:xfrm>
          <a:prstGeom prst="rect">
            <a:avLst/>
          </a:prstGeom>
        </p:spPr>
      </p:pic>
    </p:spTree>
    <p:extLst>
      <p:ext uri="{BB962C8B-B14F-4D97-AF65-F5344CB8AC3E}">
        <p14:creationId xmlns:p14="http://schemas.microsoft.com/office/powerpoint/2010/main" val="8958016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10612231" cy="640080"/>
          </a:xfrm>
        </p:spPr>
        <p:txBody>
          <a:bodyPr>
            <a:noAutofit/>
          </a:bodyPr>
          <a:lstStyle/>
          <a:p>
            <a:r>
              <a:rPr lang="en-US" dirty="0">
                <a:latin typeface="Segoe UI Light" panose="020B0502040204020203" pitchFamily="34" charset="0"/>
                <a:cs typeface="Segoe UI Light" panose="020B0502040204020203" pitchFamily="34" charset="0"/>
              </a:rPr>
              <a:t>🤗 QA Tasks – “</a:t>
            </a:r>
            <a:r>
              <a:rPr lang="en-US" dirty="0"/>
              <a:t>What is the stride parameter?”</a:t>
            </a:r>
            <a:endParaRPr lang="en-US" dirty="0">
              <a:latin typeface="Segoe UI Light" panose="020B0502040204020203" pitchFamily="34" charset="0"/>
              <a:cs typeface="Segoe UI Light" panose="020B0502040204020203" pitchFamily="34" charset="0"/>
            </a:endParaRPr>
          </a:p>
        </p:txBody>
      </p:sp>
      <p:sp>
        <p:nvSpPr>
          <p:cNvPr id="2" name="TextBox 1">
            <a:extLst>
              <a:ext uri="{FF2B5EF4-FFF2-40B4-BE49-F238E27FC236}">
                <a16:creationId xmlns:a16="http://schemas.microsoft.com/office/drawing/2014/main" id="{EE3F6529-EF66-7062-5CD1-B4B9E3B8DE49}"/>
              </a:ext>
            </a:extLst>
          </p:cNvPr>
          <p:cNvSpPr txBox="1"/>
          <p:nvPr/>
        </p:nvSpPr>
        <p:spPr>
          <a:xfrm>
            <a:off x="623455" y="1413164"/>
            <a:ext cx="11239994" cy="5129609"/>
          </a:xfrm>
          <a:prstGeom prst="rect">
            <a:avLst/>
          </a:prstGeom>
          <a:noFill/>
        </p:spPr>
        <p:txBody>
          <a:bodyPr wrap="square" rtlCol="0">
            <a:spAutoFit/>
          </a:bodyPr>
          <a:lstStyle/>
          <a:p>
            <a:pPr lvl="0">
              <a:spcAft>
                <a:spcPts val="600"/>
              </a:spcAft>
              <a:defRPr/>
            </a:pPr>
            <a:r>
              <a:rPr lang="en-US" dirty="0">
                <a:latin typeface="Segoe UI" panose="020B0502040204020203" pitchFamily="34" charset="0"/>
                <a:cs typeface="Segoe UI" panose="020B0502040204020203" pitchFamily="34" charset="0"/>
              </a:rPr>
              <a:t>My answer: </a:t>
            </a:r>
            <a:r>
              <a:rPr lang="en-US" b="0" i="0" dirty="0">
                <a:solidFill>
                  <a:srgbClr val="D4D4D4"/>
                </a:solidFill>
                <a:effectLst/>
                <a:latin typeface="Menlo" panose="020B0609030804020204" pitchFamily="49" charset="0"/>
              </a:rPr>
              <a:t>set the number of overlapping tokens between two successive chunks</a:t>
            </a:r>
            <a:endParaRPr lang="en-US" dirty="0">
              <a:latin typeface="Segoe UI" panose="020B0502040204020203" pitchFamily="34" charset="0"/>
              <a:cs typeface="Segoe UI" panose="020B0502040204020203" pitchFamily="34" charset="0"/>
            </a:endParaRPr>
          </a:p>
          <a:p>
            <a:pPr lvl="0">
              <a:spcAft>
                <a:spcPts val="600"/>
              </a:spcAft>
              <a:defRPr/>
            </a:pPr>
            <a:r>
              <a:rPr lang="en-US" dirty="0" err="1">
                <a:latin typeface="Consolas" panose="020B0609020204030204" pitchFamily="49" charset="0"/>
              </a:rPr>
              <a:t>Context:</a:t>
            </a:r>
            <a:r>
              <a:rPr lang="en-US" b="0" dirty="0" err="1">
                <a:solidFill>
                  <a:srgbClr val="CE9178"/>
                </a:solidFill>
                <a:effectLst/>
                <a:latin typeface="Menlo" panose="020B0609030804020204" pitchFamily="49" charset="0"/>
              </a:rPr>
              <a:t>max_length</a:t>
            </a:r>
            <a:r>
              <a:rPr lang="en-US" b="0" dirty="0">
                <a:solidFill>
                  <a:srgbClr val="CE9178"/>
                </a:solidFill>
                <a:effectLst/>
                <a:latin typeface="Menlo" panose="020B0609030804020204" pitchFamily="49" charset="0"/>
              </a:rPr>
              <a:t> to set the maximum length (here 100)</a:t>
            </a:r>
            <a:endParaRPr lang="en-US" b="0" dirty="0">
              <a:solidFill>
                <a:srgbClr val="D4D4D4"/>
              </a:solidFill>
              <a:effectLst/>
              <a:latin typeface="Menlo" panose="020B0609030804020204" pitchFamily="49" charset="0"/>
            </a:endParaRPr>
          </a:p>
          <a:p>
            <a:pPr>
              <a:lnSpc>
                <a:spcPts val="1350"/>
              </a:lnSpc>
            </a:pPr>
            <a:r>
              <a:rPr lang="en-US" b="0" dirty="0">
                <a:solidFill>
                  <a:srgbClr val="CE9178"/>
                </a:solidFill>
                <a:effectLst/>
                <a:latin typeface="Menlo" panose="020B0609030804020204" pitchFamily="49" charset="0"/>
              </a:rPr>
              <a:t>truncation="</a:t>
            </a:r>
            <a:r>
              <a:rPr lang="en-US" b="0" dirty="0" err="1">
                <a:solidFill>
                  <a:srgbClr val="CE9178"/>
                </a:solidFill>
                <a:effectLst/>
                <a:latin typeface="Menlo" panose="020B0609030804020204" pitchFamily="49" charset="0"/>
              </a:rPr>
              <a:t>only_second</a:t>
            </a:r>
            <a:r>
              <a:rPr lang="en-US" b="0" dirty="0">
                <a:solidFill>
                  <a:srgbClr val="CE9178"/>
                </a:solidFill>
                <a:effectLst/>
                <a:latin typeface="Menlo" panose="020B0609030804020204" pitchFamily="49" charset="0"/>
              </a:rPr>
              <a:t>" to truncate the context (which is in the second position) when</a:t>
            </a:r>
            <a:endParaRPr lang="en-US" b="0" dirty="0">
              <a:solidFill>
                <a:srgbClr val="D4D4D4"/>
              </a:solidFill>
              <a:effectLst/>
              <a:latin typeface="Menlo" panose="020B0609030804020204" pitchFamily="49" charset="0"/>
            </a:endParaRPr>
          </a:p>
          <a:p>
            <a:pPr>
              <a:lnSpc>
                <a:spcPts val="1350"/>
              </a:lnSpc>
            </a:pPr>
            <a:r>
              <a:rPr lang="en-US" b="0" dirty="0">
                <a:solidFill>
                  <a:srgbClr val="CE9178"/>
                </a:solidFill>
                <a:effectLst/>
                <a:latin typeface="Menlo" panose="020B0609030804020204" pitchFamily="49" charset="0"/>
              </a:rPr>
              <a:t>the question with its context is too long</a:t>
            </a:r>
            <a:endParaRPr lang="en-US" b="0" dirty="0">
              <a:solidFill>
                <a:srgbClr val="D4D4D4"/>
              </a:solidFill>
              <a:effectLst/>
              <a:latin typeface="Menlo" panose="020B0609030804020204" pitchFamily="49" charset="0"/>
            </a:endParaRPr>
          </a:p>
          <a:p>
            <a:pPr>
              <a:lnSpc>
                <a:spcPts val="1350"/>
              </a:lnSpc>
            </a:pPr>
            <a:r>
              <a:rPr lang="en-US" b="0" dirty="0">
                <a:solidFill>
                  <a:srgbClr val="CE9178"/>
                </a:solidFill>
                <a:effectLst/>
                <a:latin typeface="Menlo" panose="020B0609030804020204" pitchFamily="49" charset="0"/>
              </a:rPr>
              <a:t>stride to set the number of overlapping tokens between two successive chunks (here 50)</a:t>
            </a:r>
            <a:endParaRPr lang="en-US" b="0" dirty="0">
              <a:solidFill>
                <a:srgbClr val="D4D4D4"/>
              </a:solidFill>
              <a:effectLst/>
              <a:latin typeface="Menlo" panose="020B0609030804020204" pitchFamily="49" charset="0"/>
            </a:endParaRPr>
          </a:p>
          <a:p>
            <a:pPr>
              <a:lnSpc>
                <a:spcPts val="1350"/>
              </a:lnSpc>
            </a:pPr>
            <a:r>
              <a:rPr lang="en-US" b="0" dirty="0" err="1">
                <a:solidFill>
                  <a:srgbClr val="CE9178"/>
                </a:solidFill>
                <a:effectLst/>
                <a:latin typeface="Menlo" panose="020B0609030804020204" pitchFamily="49" charset="0"/>
              </a:rPr>
              <a:t>return_overflowing_tokens</a:t>
            </a:r>
            <a:r>
              <a:rPr lang="en-US" b="0" dirty="0">
                <a:solidFill>
                  <a:srgbClr val="CE9178"/>
                </a:solidFill>
                <a:effectLst/>
                <a:latin typeface="Menlo" panose="020B0609030804020204" pitchFamily="49" charset="0"/>
              </a:rPr>
              <a:t>=True to let the tokenizer know we want the overflowing tokens</a:t>
            </a:r>
            <a:endParaRPr lang="en-US" dirty="0">
              <a:solidFill>
                <a:srgbClr val="D4D4D4"/>
              </a:solidFill>
              <a:latin typeface="Menlo" panose="020B0609030804020204" pitchFamily="49" charset="0"/>
            </a:endParaRPr>
          </a:p>
          <a:p>
            <a:pPr>
              <a:lnSpc>
                <a:spcPts val="1350"/>
              </a:lnSpc>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Model Output Screenshot:</a:t>
            </a: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a:spcAft>
                <a:spcPts val="600"/>
              </a:spcAft>
              <a:defRPr/>
            </a:pPr>
            <a:r>
              <a:rPr lang="en-US" dirty="0">
                <a:latin typeface="Consolas" panose="020B0609020204030204" pitchFamily="49" charset="0"/>
              </a:rPr>
              <a:t>RAG Output Screenshot:</a:t>
            </a:r>
            <a:endParaRPr lang="en-US" sz="1600" dirty="0">
              <a:latin typeface="Segoe UI" panose="020B0502040204020203" pitchFamily="34" charset="0"/>
              <a:cs typeface="Segoe UI" panose="020B0502040204020203" pitchFamily="34" charset="0"/>
            </a:endParaRP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Comment on Both Model’s </a:t>
            </a:r>
            <a:r>
              <a:rPr lang="en-US" dirty="0" err="1">
                <a:latin typeface="Consolas" panose="020B0609020204030204" pitchFamily="49" charset="0"/>
              </a:rPr>
              <a:t>Answer:</a:t>
            </a:r>
            <a:r>
              <a:rPr lang="en-US" sz="1600" dirty="0" err="1">
                <a:latin typeface="Segoe UI" panose="020B0502040204020203" pitchFamily="34" charset="0"/>
                <a:cs typeface="Segoe UI" panose="020B0502040204020203" pitchFamily="34" charset="0"/>
              </a:rPr>
              <a:t>The</a:t>
            </a:r>
            <a:r>
              <a:rPr lang="en-US" sz="1600" dirty="0">
                <a:latin typeface="Segoe UI" panose="020B0502040204020203" pitchFamily="34" charset="0"/>
                <a:cs typeface="Segoe UI" panose="020B0502040204020203" pitchFamily="34" charset="0"/>
              </a:rPr>
              <a:t> previously mentioned patterns hold here. With the increased context afforded by processing the entire PDF, the RAG is able to draw on more data than the model, creating a better response. However, the model still does a decent job of extracting the best answer from the information given.  </a:t>
            </a:r>
            <a:endParaRPr lang="en-US" dirty="0">
              <a:latin typeface="Consolas" panose="020B0609020204030204" pitchFamily="49" charset="0"/>
            </a:endParaRPr>
          </a:p>
        </p:txBody>
      </p:sp>
      <p:pic>
        <p:nvPicPr>
          <p:cNvPr id="3" name="Picture 2">
            <a:extLst>
              <a:ext uri="{FF2B5EF4-FFF2-40B4-BE49-F238E27FC236}">
                <a16:creationId xmlns:a16="http://schemas.microsoft.com/office/drawing/2014/main" id="{7831F6E5-076F-DD14-DD55-C0DB8C4B2435}"/>
              </a:ext>
            </a:extLst>
          </p:cNvPr>
          <p:cNvPicPr>
            <a:picLocks noChangeAspect="1"/>
          </p:cNvPicPr>
          <p:nvPr/>
        </p:nvPicPr>
        <p:blipFill>
          <a:blip r:embed="rId2"/>
          <a:stretch>
            <a:fillRect/>
          </a:stretch>
        </p:blipFill>
        <p:spPr>
          <a:xfrm>
            <a:off x="3896015" y="3616035"/>
            <a:ext cx="5783447" cy="876877"/>
          </a:xfrm>
          <a:prstGeom prst="rect">
            <a:avLst/>
          </a:prstGeom>
        </p:spPr>
      </p:pic>
      <p:pic>
        <p:nvPicPr>
          <p:cNvPr id="4" name="Picture 3">
            <a:extLst>
              <a:ext uri="{FF2B5EF4-FFF2-40B4-BE49-F238E27FC236}">
                <a16:creationId xmlns:a16="http://schemas.microsoft.com/office/drawing/2014/main" id="{1051DC2C-C6EC-A54E-70BE-3C52F511DFE2}"/>
              </a:ext>
            </a:extLst>
          </p:cNvPr>
          <p:cNvPicPr>
            <a:picLocks noChangeAspect="1"/>
          </p:cNvPicPr>
          <p:nvPr/>
        </p:nvPicPr>
        <p:blipFill>
          <a:blip r:embed="rId3"/>
          <a:stretch>
            <a:fillRect/>
          </a:stretch>
        </p:blipFill>
        <p:spPr>
          <a:xfrm>
            <a:off x="4655127" y="4492912"/>
            <a:ext cx="4025735" cy="1303295"/>
          </a:xfrm>
          <a:prstGeom prst="rect">
            <a:avLst/>
          </a:prstGeom>
        </p:spPr>
      </p:pic>
    </p:spTree>
    <p:extLst>
      <p:ext uri="{BB962C8B-B14F-4D97-AF65-F5344CB8AC3E}">
        <p14:creationId xmlns:p14="http://schemas.microsoft.com/office/powerpoint/2010/main" val="8870226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10612231" cy="640080"/>
          </a:xfrm>
        </p:spPr>
        <p:txBody>
          <a:bodyPr>
            <a:noAutofit/>
          </a:bodyPr>
          <a:lstStyle/>
          <a:p>
            <a:r>
              <a:rPr lang="en-US" sz="2100" dirty="0">
                <a:latin typeface="Segoe UI Light" panose="020B0502040204020203" pitchFamily="34" charset="0"/>
                <a:cs typeface="Segoe UI Light" panose="020B0502040204020203" pitchFamily="34" charset="0"/>
              </a:rPr>
              <a:t>🤗 QA Tasks – “</a:t>
            </a:r>
            <a:r>
              <a:rPr lang="en-US" sz="2100" dirty="0"/>
              <a:t>What will be the label if the answer got truncated in the splitting process?”</a:t>
            </a:r>
            <a:endParaRPr lang="en-US" sz="2100" dirty="0">
              <a:latin typeface="Segoe UI Light" panose="020B0502040204020203" pitchFamily="34" charset="0"/>
              <a:cs typeface="Segoe UI Light" panose="020B0502040204020203" pitchFamily="34" charset="0"/>
            </a:endParaRPr>
          </a:p>
        </p:txBody>
      </p:sp>
      <p:sp>
        <p:nvSpPr>
          <p:cNvPr id="2" name="TextBox 1">
            <a:extLst>
              <a:ext uri="{FF2B5EF4-FFF2-40B4-BE49-F238E27FC236}">
                <a16:creationId xmlns:a16="http://schemas.microsoft.com/office/drawing/2014/main" id="{C1825C0F-831A-0BFB-DAF0-F04A04618F1F}"/>
              </a:ext>
            </a:extLst>
          </p:cNvPr>
          <p:cNvSpPr txBox="1"/>
          <p:nvPr/>
        </p:nvSpPr>
        <p:spPr>
          <a:xfrm>
            <a:off x="623455" y="1413164"/>
            <a:ext cx="11239994" cy="6124754"/>
          </a:xfrm>
          <a:prstGeom prst="rect">
            <a:avLst/>
          </a:prstGeom>
          <a:noFill/>
        </p:spPr>
        <p:txBody>
          <a:bodyPr wrap="square" rtlCol="0">
            <a:spAutoFit/>
          </a:bodyPr>
          <a:lstStyle/>
          <a:p>
            <a:pPr lvl="0">
              <a:spcAft>
                <a:spcPts val="600"/>
              </a:spcAft>
              <a:defRPr/>
            </a:pPr>
            <a:r>
              <a:rPr lang="en-US" dirty="0">
                <a:latin typeface="Segoe UI" panose="020B0502040204020203" pitchFamily="34" charset="0"/>
                <a:cs typeface="Segoe UI" panose="020B0502040204020203" pitchFamily="34" charset="0"/>
              </a:rPr>
              <a:t>My answer: </a:t>
            </a:r>
            <a:r>
              <a:rPr lang="en-US" b="0" i="0" dirty="0" err="1">
                <a:solidFill>
                  <a:srgbClr val="D4D4D4"/>
                </a:solidFill>
                <a:effectLst/>
                <a:latin typeface="Menlo" panose="020B0609030804020204" pitchFamily="49" charset="0"/>
              </a:rPr>
              <a:t>theindex</a:t>
            </a:r>
            <a:endParaRPr lang="en-US" dirty="0">
              <a:latin typeface="Segoe UI" panose="020B0502040204020203" pitchFamily="34" charset="0"/>
              <a:cs typeface="Segoe UI" panose="020B0502040204020203" pitchFamily="34" charset="0"/>
            </a:endParaRPr>
          </a:p>
          <a:p>
            <a:pPr>
              <a:spcAft>
                <a:spcPts val="600"/>
              </a:spcAft>
              <a:defRPr/>
            </a:pPr>
            <a:r>
              <a:rPr lang="en-US" sz="1000" dirty="0">
                <a:latin typeface="Consolas" panose="020B0609020204030204" pitchFamily="49" charset="0"/>
              </a:rPr>
              <a:t>Context: </a:t>
            </a:r>
            <a:r>
              <a:rPr lang="en-US" sz="1000" b="0" dirty="0">
                <a:solidFill>
                  <a:srgbClr val="CE9178"/>
                </a:solidFill>
                <a:effectLst/>
                <a:latin typeface="Menlo" panose="020B0609030804020204" pitchFamily="49" charset="0"/>
              </a:rPr>
              <a:t>As we can see, our example has been in split into four inputs, each of them containing the </a:t>
            </a:r>
            <a:r>
              <a:rPr lang="en-US" sz="1000" b="0" dirty="0" err="1">
                <a:solidFill>
                  <a:srgbClr val="CE9178"/>
                </a:solidFill>
                <a:effectLst/>
                <a:latin typeface="Menlo" panose="020B0609030804020204" pitchFamily="49" charset="0"/>
              </a:rPr>
              <a:t>questionand</a:t>
            </a:r>
            <a:r>
              <a:rPr lang="en-US" sz="1000" b="0" dirty="0">
                <a:solidFill>
                  <a:srgbClr val="CE9178"/>
                </a:solidFill>
                <a:effectLst/>
                <a:latin typeface="Menlo" panose="020B0609030804020204" pitchFamily="49" charset="0"/>
              </a:rPr>
              <a:t> some part of the context. Note that the answer to the question (“Bernadette Soubirous”) </a:t>
            </a:r>
            <a:r>
              <a:rPr lang="en-US" sz="1000" b="0" dirty="0" err="1">
                <a:solidFill>
                  <a:srgbClr val="CE9178"/>
                </a:solidFill>
                <a:effectLst/>
                <a:latin typeface="Menlo" panose="020B0609030804020204" pitchFamily="49" charset="0"/>
              </a:rPr>
              <a:t>onlyappears</a:t>
            </a:r>
            <a:r>
              <a:rPr lang="en-US" sz="1000" b="0" dirty="0">
                <a:solidFill>
                  <a:srgbClr val="CE9178"/>
                </a:solidFill>
                <a:effectLst/>
                <a:latin typeface="Menlo" panose="020B0609030804020204" pitchFamily="49" charset="0"/>
              </a:rPr>
              <a:t> in the third and last inputs, so by dealing with long contexts in this way we will create </a:t>
            </a:r>
            <a:r>
              <a:rPr lang="en-US" sz="1000" b="0" dirty="0" err="1">
                <a:solidFill>
                  <a:srgbClr val="CE9178"/>
                </a:solidFill>
                <a:effectLst/>
                <a:latin typeface="Menlo" panose="020B0609030804020204" pitchFamily="49" charset="0"/>
              </a:rPr>
              <a:t>sometraining</a:t>
            </a:r>
            <a:r>
              <a:rPr lang="en-US" sz="1000" b="0" dirty="0">
                <a:solidFill>
                  <a:srgbClr val="CE9178"/>
                </a:solidFill>
                <a:effectLst/>
                <a:latin typeface="Menlo" panose="020B0609030804020204" pitchFamily="49" charset="0"/>
              </a:rPr>
              <a:t> examples where the answer is not included in the context. For those examples, the </a:t>
            </a:r>
            <a:r>
              <a:rPr lang="en-US" sz="1000" b="0" dirty="0" err="1">
                <a:solidFill>
                  <a:srgbClr val="CE9178"/>
                </a:solidFill>
                <a:effectLst/>
                <a:latin typeface="Menlo" panose="020B0609030804020204" pitchFamily="49" charset="0"/>
              </a:rPr>
              <a:t>labelswill</a:t>
            </a:r>
            <a:r>
              <a:rPr lang="en-US" sz="1000" b="0" dirty="0">
                <a:solidFill>
                  <a:srgbClr val="CE9178"/>
                </a:solidFill>
                <a:effectLst/>
                <a:latin typeface="Menlo" panose="020B0609030804020204" pitchFamily="49" charset="0"/>
              </a:rPr>
              <a:t> be </a:t>
            </a:r>
            <a:r>
              <a:rPr lang="en-US" sz="1000" b="0" dirty="0" err="1">
                <a:solidFill>
                  <a:srgbClr val="CE9178"/>
                </a:solidFill>
                <a:effectLst/>
                <a:latin typeface="Menlo" panose="020B0609030804020204" pitchFamily="49" charset="0"/>
              </a:rPr>
              <a:t>start_position</a:t>
            </a:r>
            <a:r>
              <a:rPr lang="en-US" sz="1000" b="0" dirty="0">
                <a:solidFill>
                  <a:srgbClr val="CE9178"/>
                </a:solidFill>
                <a:effectLst/>
                <a:latin typeface="Menlo" panose="020B0609030804020204" pitchFamily="49" charset="0"/>
              </a:rPr>
              <a:t> = </a:t>
            </a:r>
            <a:r>
              <a:rPr lang="en-US" sz="1000" b="0" dirty="0" err="1">
                <a:solidFill>
                  <a:srgbClr val="CE9178"/>
                </a:solidFill>
                <a:effectLst/>
                <a:latin typeface="Menlo" panose="020B0609030804020204" pitchFamily="49" charset="0"/>
              </a:rPr>
              <a:t>end_position</a:t>
            </a:r>
            <a:r>
              <a:rPr lang="en-US" sz="1000" b="0" dirty="0">
                <a:solidFill>
                  <a:srgbClr val="CE9178"/>
                </a:solidFill>
                <a:effectLst/>
                <a:latin typeface="Menlo" panose="020B0609030804020204" pitchFamily="49" charset="0"/>
              </a:rPr>
              <a:t> = 0 (so we predict the [CLS] token). We will also </a:t>
            </a:r>
            <a:r>
              <a:rPr lang="en-US" sz="1000" b="0" dirty="0" err="1">
                <a:solidFill>
                  <a:srgbClr val="CE9178"/>
                </a:solidFill>
                <a:effectLst/>
                <a:latin typeface="Menlo" panose="020B0609030804020204" pitchFamily="49" charset="0"/>
              </a:rPr>
              <a:t>setthose</a:t>
            </a:r>
            <a:r>
              <a:rPr lang="en-US" sz="1000" b="0" dirty="0">
                <a:solidFill>
                  <a:srgbClr val="CE9178"/>
                </a:solidFill>
                <a:effectLst/>
                <a:latin typeface="Menlo" panose="020B0609030804020204" pitchFamily="49" charset="0"/>
              </a:rPr>
              <a:t> labels in the unfortunate case where the answer has been truncated so that we only have </a:t>
            </a:r>
            <a:r>
              <a:rPr lang="en-US" sz="1000" b="0" dirty="0" err="1">
                <a:solidFill>
                  <a:srgbClr val="CE9178"/>
                </a:solidFill>
                <a:effectLst/>
                <a:latin typeface="Menlo" panose="020B0609030804020204" pitchFamily="49" charset="0"/>
              </a:rPr>
              <a:t>thestart</a:t>
            </a:r>
            <a:r>
              <a:rPr lang="en-US" sz="1000" b="0" dirty="0">
                <a:solidFill>
                  <a:srgbClr val="CE9178"/>
                </a:solidFill>
                <a:effectLst/>
                <a:latin typeface="Menlo" panose="020B0609030804020204" pitchFamily="49" charset="0"/>
              </a:rPr>
              <a:t> (or end) of it. For the examples where the answer is fully in the context, the labels will be </a:t>
            </a:r>
            <a:r>
              <a:rPr lang="en-US" sz="1000" b="0" dirty="0" err="1">
                <a:solidFill>
                  <a:srgbClr val="CE9178"/>
                </a:solidFill>
                <a:effectLst/>
                <a:latin typeface="Menlo" panose="020B0609030804020204" pitchFamily="49" charset="0"/>
              </a:rPr>
              <a:t>theindex</a:t>
            </a:r>
            <a:r>
              <a:rPr lang="en-US" sz="1000" b="0" dirty="0">
                <a:solidFill>
                  <a:srgbClr val="CE9178"/>
                </a:solidFill>
                <a:effectLst/>
                <a:latin typeface="Menlo" panose="020B0609030804020204" pitchFamily="49" charset="0"/>
              </a:rPr>
              <a:t> of the token where the answer starts and the index of the token where the answer ends.</a:t>
            </a:r>
            <a:endParaRPr lang="en-US" sz="1000" dirty="0">
              <a:latin typeface="Consolas" panose="020B0609020204030204" pitchFamily="49" charset="0"/>
            </a:endParaRPr>
          </a:p>
          <a:p>
            <a:pPr lvl="0">
              <a:spcAft>
                <a:spcPts val="600"/>
              </a:spcAft>
              <a:defRPr/>
            </a:pPr>
            <a:r>
              <a:rPr lang="en-US" dirty="0">
                <a:latin typeface="Consolas" panose="020B0609020204030204" pitchFamily="49" charset="0"/>
              </a:rPr>
              <a:t>Model Output Screenshot:</a:t>
            </a:r>
          </a:p>
          <a:p>
            <a:pPr lvl="0">
              <a:spcAft>
                <a:spcPts val="600"/>
              </a:spcAft>
              <a:defRPr/>
            </a:pPr>
            <a:endParaRPr lang="en-US" dirty="0">
              <a:latin typeface="Consolas" panose="020B0609020204030204" pitchFamily="49" charset="0"/>
            </a:endParaRPr>
          </a:p>
          <a:p>
            <a:pPr>
              <a:spcAft>
                <a:spcPts val="600"/>
              </a:spcAft>
              <a:defRPr/>
            </a:pPr>
            <a:r>
              <a:rPr lang="en-US" dirty="0">
                <a:latin typeface="Consolas" panose="020B0609020204030204" pitchFamily="49" charset="0"/>
              </a:rPr>
              <a:t>RAG Output Screenshot:</a:t>
            </a:r>
            <a:endParaRPr lang="en-US" sz="1600" dirty="0">
              <a:latin typeface="Segoe UI" panose="020B0502040204020203" pitchFamily="34" charset="0"/>
              <a:cs typeface="Segoe UI" panose="020B0502040204020203" pitchFamily="34" charset="0"/>
            </a:endParaRP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Comment on Both Model’s Answer: This question was difficult for both me and the ML models to understand. We see that the </a:t>
            </a:r>
            <a:r>
              <a:rPr lang="en-US" dirty="0" err="1">
                <a:latin typeface="Consolas" panose="020B0609020204030204" pitchFamily="49" charset="0"/>
              </a:rPr>
              <a:t>modle</a:t>
            </a:r>
            <a:r>
              <a:rPr lang="en-US" dirty="0">
                <a:latin typeface="Consolas" panose="020B0609020204030204" pitchFamily="49" charset="0"/>
              </a:rPr>
              <a:t> actually does a little better here, as with a vague question having too much contexts confuses the RAG model a little bit. It writes a lot of stuff that is either not very correct or not very relevant. The Model we trained could use a slightly longer answer to explain that the ‘</a:t>
            </a:r>
            <a:r>
              <a:rPr lang="en-US" dirty="0" err="1">
                <a:latin typeface="Consolas" panose="020B0609020204030204" pitchFamily="49" charset="0"/>
              </a:rPr>
              <a:t>theindex</a:t>
            </a:r>
            <a:r>
              <a:rPr lang="en-US" dirty="0">
                <a:latin typeface="Consolas" panose="020B0609020204030204" pitchFamily="49" charset="0"/>
              </a:rPr>
              <a:t>’ refers to the index of the token where the answer starts and the index of the token where the answer ends. </a:t>
            </a: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622EBC9D-2BF5-3484-BE73-2444FF6E7E64}"/>
              </a:ext>
            </a:extLst>
          </p:cNvPr>
          <p:cNvPicPr>
            <a:picLocks noChangeAspect="1"/>
          </p:cNvPicPr>
          <p:nvPr/>
        </p:nvPicPr>
        <p:blipFill>
          <a:blip r:embed="rId2"/>
          <a:stretch>
            <a:fillRect/>
          </a:stretch>
        </p:blipFill>
        <p:spPr>
          <a:xfrm>
            <a:off x="623455" y="3096078"/>
            <a:ext cx="7404100" cy="469900"/>
          </a:xfrm>
          <a:prstGeom prst="rect">
            <a:avLst/>
          </a:prstGeom>
        </p:spPr>
      </p:pic>
      <p:pic>
        <p:nvPicPr>
          <p:cNvPr id="4" name="Picture 3">
            <a:extLst>
              <a:ext uri="{FF2B5EF4-FFF2-40B4-BE49-F238E27FC236}">
                <a16:creationId xmlns:a16="http://schemas.microsoft.com/office/drawing/2014/main" id="{0AC79CEE-08B7-164E-F991-349647440C32}"/>
              </a:ext>
            </a:extLst>
          </p:cNvPr>
          <p:cNvPicPr>
            <a:picLocks noChangeAspect="1"/>
          </p:cNvPicPr>
          <p:nvPr/>
        </p:nvPicPr>
        <p:blipFill>
          <a:blip r:embed="rId3"/>
          <a:stretch>
            <a:fillRect/>
          </a:stretch>
        </p:blipFill>
        <p:spPr>
          <a:xfrm>
            <a:off x="3527961" y="3509460"/>
            <a:ext cx="6554190" cy="950735"/>
          </a:xfrm>
          <a:prstGeom prst="rect">
            <a:avLst/>
          </a:prstGeom>
        </p:spPr>
      </p:pic>
    </p:spTree>
    <p:extLst>
      <p:ext uri="{BB962C8B-B14F-4D97-AF65-F5344CB8AC3E}">
        <p14:creationId xmlns:p14="http://schemas.microsoft.com/office/powerpoint/2010/main" val="18826403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10612231" cy="640080"/>
          </a:xfrm>
        </p:spPr>
        <p:txBody>
          <a:bodyPr>
            <a:noAutofit/>
          </a:bodyPr>
          <a:lstStyle/>
          <a:p>
            <a:r>
              <a:rPr lang="en-US" sz="2400" dirty="0">
                <a:latin typeface="Segoe UI Light" panose="020B0502040204020203" pitchFamily="34" charset="0"/>
                <a:cs typeface="Segoe UI Light" panose="020B0502040204020203" pitchFamily="34" charset="0"/>
              </a:rPr>
              <a:t>🤗 QA Tasks – “</a:t>
            </a:r>
            <a:r>
              <a:rPr lang="en-US" sz="2400" dirty="0"/>
              <a:t>What is the purpose of </a:t>
            </a:r>
            <a:r>
              <a:rPr lang="en-US" sz="2400" dirty="0" err="1"/>
              <a:t>overflow_to_sample_mapping</a:t>
            </a:r>
            <a:r>
              <a:rPr lang="en-US" sz="2400" dirty="0"/>
              <a:t>?”</a:t>
            </a:r>
            <a:endParaRPr lang="en-US" sz="2400" dirty="0">
              <a:latin typeface="Segoe UI Light" panose="020B0502040204020203" pitchFamily="34" charset="0"/>
              <a:cs typeface="Segoe UI Light" panose="020B0502040204020203" pitchFamily="34" charset="0"/>
            </a:endParaRPr>
          </a:p>
        </p:txBody>
      </p:sp>
      <p:sp>
        <p:nvSpPr>
          <p:cNvPr id="2" name="TextBox 1">
            <a:extLst>
              <a:ext uri="{FF2B5EF4-FFF2-40B4-BE49-F238E27FC236}">
                <a16:creationId xmlns:a16="http://schemas.microsoft.com/office/drawing/2014/main" id="{9514F6C5-9639-129D-F0C4-544EE44A08A0}"/>
              </a:ext>
            </a:extLst>
          </p:cNvPr>
          <p:cNvSpPr txBox="1"/>
          <p:nvPr/>
        </p:nvSpPr>
        <p:spPr>
          <a:xfrm>
            <a:off x="623455" y="1413164"/>
            <a:ext cx="11239994" cy="5786199"/>
          </a:xfrm>
          <a:prstGeom prst="rect">
            <a:avLst/>
          </a:prstGeom>
          <a:noFill/>
        </p:spPr>
        <p:txBody>
          <a:bodyPr wrap="square" rtlCol="0">
            <a:spAutoFit/>
          </a:bodyPr>
          <a:lstStyle/>
          <a:p>
            <a:pPr lvl="0">
              <a:spcAft>
                <a:spcPts val="600"/>
              </a:spcAft>
              <a:defRPr/>
            </a:pPr>
            <a:r>
              <a:rPr lang="en-US" dirty="0">
                <a:latin typeface="Segoe UI" panose="020B0502040204020203" pitchFamily="34" charset="0"/>
                <a:cs typeface="Segoe UI" panose="020B0502040204020203" pitchFamily="34" charset="0"/>
              </a:rPr>
              <a:t>My answer: </a:t>
            </a:r>
            <a:r>
              <a:rPr lang="en-US" b="0" i="0" dirty="0">
                <a:solidFill>
                  <a:srgbClr val="D4D4D4"/>
                </a:solidFill>
                <a:effectLst/>
                <a:latin typeface="Menlo" panose="020B0609030804020204" pitchFamily="49" charset="0"/>
              </a:rPr>
              <a:t>tokenize several texts at the same time</a:t>
            </a:r>
            <a:endParaRPr lang="en-US" dirty="0">
              <a:latin typeface="Segoe UI" panose="020B0502040204020203" pitchFamily="34" charset="0"/>
              <a:cs typeface="Segoe UI" panose="020B0502040204020203" pitchFamily="34" charset="0"/>
            </a:endParaRPr>
          </a:p>
          <a:p>
            <a:pPr>
              <a:spcAft>
                <a:spcPts val="600"/>
              </a:spcAft>
              <a:defRPr/>
            </a:pPr>
            <a:r>
              <a:rPr lang="en-US" dirty="0">
                <a:latin typeface="Consolas" panose="020B0609020204030204" pitchFamily="49" charset="0"/>
              </a:rPr>
              <a:t>Context: </a:t>
            </a:r>
            <a:r>
              <a:rPr lang="en-US" b="0" dirty="0">
                <a:solidFill>
                  <a:srgbClr val="CE9178"/>
                </a:solidFill>
                <a:effectLst/>
                <a:latin typeface="Menlo" panose="020B0609030804020204" pitchFamily="49" charset="0"/>
              </a:rPr>
              <a:t>As we can see, we get back the usual input IDs, token type IDs, and attention mask, as well as </a:t>
            </a:r>
            <a:r>
              <a:rPr lang="en-US" b="0" dirty="0" err="1">
                <a:solidFill>
                  <a:srgbClr val="CE9178"/>
                </a:solidFill>
                <a:effectLst/>
                <a:latin typeface="Menlo" panose="020B0609030804020204" pitchFamily="49" charset="0"/>
              </a:rPr>
              <a:t>theoset</a:t>
            </a:r>
            <a:r>
              <a:rPr lang="en-US" b="0" dirty="0">
                <a:solidFill>
                  <a:srgbClr val="CE9178"/>
                </a:solidFill>
                <a:effectLst/>
                <a:latin typeface="Menlo" panose="020B0609030804020204" pitchFamily="49" charset="0"/>
              </a:rPr>
              <a:t> mapping we required and an extra key, </a:t>
            </a:r>
            <a:r>
              <a:rPr lang="en-US" b="0" dirty="0" err="1">
                <a:solidFill>
                  <a:srgbClr val="CE9178"/>
                </a:solidFill>
                <a:effectLst/>
                <a:latin typeface="Menlo" panose="020B0609030804020204" pitchFamily="49" charset="0"/>
              </a:rPr>
              <a:t>overflow_to_sample_mapping</a:t>
            </a:r>
            <a:r>
              <a:rPr lang="en-US" b="0" dirty="0">
                <a:solidFill>
                  <a:srgbClr val="CE9178"/>
                </a:solidFill>
                <a:effectLst/>
                <a:latin typeface="Menlo" panose="020B0609030804020204" pitchFamily="49" charset="0"/>
              </a:rPr>
              <a:t>. The </a:t>
            </a:r>
            <a:r>
              <a:rPr lang="en-US" b="0" dirty="0" err="1">
                <a:solidFill>
                  <a:srgbClr val="CE9178"/>
                </a:solidFill>
                <a:effectLst/>
                <a:latin typeface="Menlo" panose="020B0609030804020204" pitchFamily="49" charset="0"/>
              </a:rPr>
              <a:t>correspondingvalue</a:t>
            </a:r>
            <a:r>
              <a:rPr lang="en-US" b="0" dirty="0">
                <a:solidFill>
                  <a:srgbClr val="CE9178"/>
                </a:solidFill>
                <a:effectLst/>
                <a:latin typeface="Menlo" panose="020B0609030804020204" pitchFamily="49" charset="0"/>
              </a:rPr>
              <a:t> will be of use to us when we tokenize several texts at the same time (which we should do </a:t>
            </a:r>
            <a:r>
              <a:rPr lang="en-US" b="0" dirty="0" err="1">
                <a:solidFill>
                  <a:srgbClr val="CE9178"/>
                </a:solidFill>
                <a:effectLst/>
                <a:latin typeface="Menlo" panose="020B0609030804020204" pitchFamily="49" charset="0"/>
              </a:rPr>
              <a:t>tobenefit</a:t>
            </a:r>
            <a:r>
              <a:rPr lang="en-US" b="0" dirty="0">
                <a:solidFill>
                  <a:srgbClr val="CE9178"/>
                </a:solidFill>
                <a:effectLst/>
                <a:latin typeface="Menlo" panose="020B0609030804020204" pitchFamily="49" charset="0"/>
              </a:rPr>
              <a:t> from the fact that our tokenizer is backed by Rust). Since one sample can give </a:t>
            </a:r>
            <a:r>
              <a:rPr lang="en-US" b="0" dirty="0" err="1">
                <a:solidFill>
                  <a:srgbClr val="CE9178"/>
                </a:solidFill>
                <a:effectLst/>
                <a:latin typeface="Menlo" panose="020B0609030804020204" pitchFamily="49" charset="0"/>
              </a:rPr>
              <a:t>severalfeatures</a:t>
            </a:r>
            <a:r>
              <a:rPr lang="en-US" b="0" dirty="0">
                <a:solidFill>
                  <a:srgbClr val="CE9178"/>
                </a:solidFill>
                <a:effectLst/>
                <a:latin typeface="Menlo" panose="020B0609030804020204" pitchFamily="49" charset="0"/>
              </a:rPr>
              <a:t>, it maps each feature to the example it originated from. Because here we only </a:t>
            </a:r>
            <a:r>
              <a:rPr lang="en-US" b="0" dirty="0" err="1">
                <a:solidFill>
                  <a:srgbClr val="CE9178"/>
                </a:solidFill>
                <a:effectLst/>
                <a:latin typeface="Menlo" panose="020B0609030804020204" pitchFamily="49" charset="0"/>
              </a:rPr>
              <a:t>tokenizedone</a:t>
            </a:r>
            <a:r>
              <a:rPr lang="en-US" b="0" dirty="0">
                <a:solidFill>
                  <a:srgbClr val="CE9178"/>
                </a:solidFill>
                <a:effectLst/>
                <a:latin typeface="Menlo" panose="020B0609030804020204" pitchFamily="49" charset="0"/>
              </a:rPr>
              <a:t> example, we get a list of 0s:</a:t>
            </a: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Model Output Screenshot:</a:t>
            </a: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a:spcAft>
                <a:spcPts val="600"/>
              </a:spcAft>
              <a:defRPr/>
            </a:pPr>
            <a:r>
              <a:rPr lang="en-US" dirty="0">
                <a:latin typeface="Consolas" panose="020B0609020204030204" pitchFamily="49" charset="0"/>
              </a:rPr>
              <a:t>RAG Output Screenshot:</a:t>
            </a:r>
            <a:endParaRPr lang="en-US" sz="1600" dirty="0">
              <a:latin typeface="Segoe UI" panose="020B0502040204020203" pitchFamily="34" charset="0"/>
              <a:cs typeface="Segoe UI" panose="020B0502040204020203" pitchFamily="34" charset="0"/>
            </a:endParaRP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Comment on Both Model’s Answer: This one is where both models had the same answer(</a:t>
            </a:r>
            <a:r>
              <a:rPr lang="en-US" dirty="0" err="1">
                <a:latin typeface="Consolas" panose="020B0609020204030204" pitchFamily="49" charset="0"/>
              </a:rPr>
              <a:t>ish</a:t>
            </a:r>
            <a:r>
              <a:rPr lang="en-US" dirty="0">
                <a:latin typeface="Consolas" panose="020B0609020204030204" pitchFamily="49" charset="0"/>
              </a:rPr>
              <a:t>) but interestingly the RAG start talking about how the tokenizer is </a:t>
            </a: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9274E908-D525-A82D-A381-59B4375D946F}"/>
              </a:ext>
            </a:extLst>
          </p:cNvPr>
          <p:cNvPicPr>
            <a:picLocks noChangeAspect="1"/>
          </p:cNvPicPr>
          <p:nvPr/>
        </p:nvPicPr>
        <p:blipFill>
          <a:blip r:embed="rId2"/>
          <a:stretch>
            <a:fillRect/>
          </a:stretch>
        </p:blipFill>
        <p:spPr>
          <a:xfrm>
            <a:off x="3853652" y="3823854"/>
            <a:ext cx="4836611" cy="938447"/>
          </a:xfrm>
          <a:prstGeom prst="rect">
            <a:avLst/>
          </a:prstGeom>
        </p:spPr>
      </p:pic>
      <p:pic>
        <p:nvPicPr>
          <p:cNvPr id="4" name="Picture 3">
            <a:extLst>
              <a:ext uri="{FF2B5EF4-FFF2-40B4-BE49-F238E27FC236}">
                <a16:creationId xmlns:a16="http://schemas.microsoft.com/office/drawing/2014/main" id="{27DD31FF-3F57-F247-3CE6-09A6F65F6717}"/>
              </a:ext>
            </a:extLst>
          </p:cNvPr>
          <p:cNvPicPr>
            <a:picLocks noChangeAspect="1"/>
          </p:cNvPicPr>
          <p:nvPr/>
        </p:nvPicPr>
        <p:blipFill>
          <a:blip r:embed="rId3"/>
          <a:stretch>
            <a:fillRect/>
          </a:stretch>
        </p:blipFill>
        <p:spPr>
          <a:xfrm>
            <a:off x="2209800" y="5087329"/>
            <a:ext cx="7772400" cy="732182"/>
          </a:xfrm>
          <a:prstGeom prst="rect">
            <a:avLst/>
          </a:prstGeom>
        </p:spPr>
      </p:pic>
    </p:spTree>
    <p:extLst>
      <p:ext uri="{BB962C8B-B14F-4D97-AF65-F5344CB8AC3E}">
        <p14:creationId xmlns:p14="http://schemas.microsoft.com/office/powerpoint/2010/main" val="24196432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10612231" cy="640080"/>
          </a:xfrm>
        </p:spPr>
        <p:txBody>
          <a:bodyPr>
            <a:noAutofit/>
          </a:bodyPr>
          <a:lstStyle/>
          <a:p>
            <a:r>
              <a:rPr lang="en-US" dirty="0">
                <a:latin typeface="Segoe UI Light" panose="020B0502040204020203" pitchFamily="34" charset="0"/>
                <a:cs typeface="Segoe UI Light" panose="020B0502040204020203" pitchFamily="34" charset="0"/>
              </a:rPr>
              <a:t>🤗 QA Tasks – “</a:t>
            </a:r>
            <a:r>
              <a:rPr lang="en-US" dirty="0"/>
              <a:t>What is the post-process trying to do?”</a:t>
            </a:r>
            <a:endParaRPr lang="en-US" dirty="0">
              <a:latin typeface="Segoe UI Light" panose="020B0502040204020203" pitchFamily="34" charset="0"/>
              <a:cs typeface="Segoe UI Light" panose="020B0502040204020203" pitchFamily="34" charset="0"/>
            </a:endParaRPr>
          </a:p>
        </p:txBody>
      </p:sp>
      <p:sp>
        <p:nvSpPr>
          <p:cNvPr id="2" name="TextBox 1">
            <a:extLst>
              <a:ext uri="{FF2B5EF4-FFF2-40B4-BE49-F238E27FC236}">
                <a16:creationId xmlns:a16="http://schemas.microsoft.com/office/drawing/2014/main" id="{994EEAE9-57AA-371F-A338-3ACD81871E1B}"/>
              </a:ext>
            </a:extLst>
          </p:cNvPr>
          <p:cNvSpPr txBox="1"/>
          <p:nvPr/>
        </p:nvSpPr>
        <p:spPr>
          <a:xfrm>
            <a:off x="623455" y="1413164"/>
            <a:ext cx="11239994" cy="6355586"/>
          </a:xfrm>
          <a:prstGeom prst="rect">
            <a:avLst/>
          </a:prstGeom>
          <a:noFill/>
        </p:spPr>
        <p:txBody>
          <a:bodyPr wrap="square" rtlCol="0">
            <a:spAutoFit/>
          </a:bodyPr>
          <a:lstStyle/>
          <a:p>
            <a:pPr lvl="0">
              <a:spcAft>
                <a:spcPts val="600"/>
              </a:spcAft>
              <a:defRPr/>
            </a:pPr>
            <a:r>
              <a:rPr lang="en-US" dirty="0">
                <a:latin typeface="Segoe UI" panose="020B0502040204020203" pitchFamily="34" charset="0"/>
                <a:cs typeface="Segoe UI" panose="020B0502040204020203" pitchFamily="34" charset="0"/>
              </a:rPr>
              <a:t>My answer: </a:t>
            </a:r>
            <a:r>
              <a:rPr lang="en-US" b="0" i="0" dirty="0" err="1">
                <a:solidFill>
                  <a:srgbClr val="D4D4D4"/>
                </a:solidFill>
                <a:effectLst/>
                <a:latin typeface="Menlo" panose="020B0609030804020204" pitchFamily="49" charset="0"/>
              </a:rPr>
              <a:t>modelpredictions</a:t>
            </a:r>
            <a:r>
              <a:rPr lang="en-US" b="0" i="0" dirty="0">
                <a:solidFill>
                  <a:srgbClr val="D4D4D4"/>
                </a:solidFill>
                <a:effectLst/>
                <a:latin typeface="Menlo" panose="020B0609030804020204" pitchFamily="49" charset="0"/>
              </a:rPr>
              <a:t> into spans of text in the original examples</a:t>
            </a:r>
            <a:endParaRPr lang="en-US" dirty="0">
              <a:solidFill>
                <a:schemeClr val="accent1"/>
              </a:solidFill>
              <a:latin typeface="Segoe UI" panose="020B0502040204020203" pitchFamily="34" charset="0"/>
              <a:cs typeface="Segoe UI" panose="020B0502040204020203" pitchFamily="34" charset="0"/>
            </a:endParaRPr>
          </a:p>
          <a:p>
            <a:pPr lvl="0">
              <a:spcAft>
                <a:spcPts val="600"/>
              </a:spcAft>
              <a:defRPr/>
            </a:pPr>
            <a:endParaRPr lang="en-US" dirty="0">
              <a:latin typeface="Segoe UI" panose="020B0502040204020203" pitchFamily="34" charset="0"/>
              <a:cs typeface="Segoe UI" panose="020B0502040204020203" pitchFamily="34" charset="0"/>
            </a:endParaRPr>
          </a:p>
          <a:p>
            <a:pPr>
              <a:lnSpc>
                <a:spcPts val="1350"/>
              </a:lnSpc>
            </a:pPr>
            <a:r>
              <a:rPr lang="en-US" sz="1200" dirty="0">
                <a:latin typeface="Consolas" panose="020B0609020204030204" pitchFamily="49" charset="0"/>
              </a:rPr>
              <a:t>Context: </a:t>
            </a:r>
            <a:r>
              <a:rPr lang="en-US" sz="1200" b="0" dirty="0">
                <a:solidFill>
                  <a:srgbClr val="CE9178"/>
                </a:solidFill>
                <a:effectLst/>
                <a:latin typeface="Menlo" panose="020B0609030804020204" pitchFamily="49" charset="0"/>
              </a:rPr>
              <a:t>The training code for this example will look a lot like the code in the previous sections — the hardest thing will be to write the </a:t>
            </a:r>
            <a:r>
              <a:rPr lang="en-US" sz="1200" b="0" dirty="0" err="1">
                <a:solidFill>
                  <a:srgbClr val="CE9178"/>
                </a:solidFill>
                <a:effectLst/>
                <a:latin typeface="Menlo" panose="020B0609030804020204" pitchFamily="49" charset="0"/>
              </a:rPr>
              <a:t>compute_metrics</a:t>
            </a:r>
            <a:r>
              <a:rPr lang="en-US" sz="1200" b="0" dirty="0">
                <a:solidFill>
                  <a:srgbClr val="CE9178"/>
                </a:solidFill>
                <a:effectLst/>
                <a:latin typeface="Menlo" panose="020B0609030804020204" pitchFamily="49" charset="0"/>
              </a:rPr>
              <a:t>() function. Since we padded all the samples to the maximum length we set, there is no data collator to define, so this metric computation is really the only thing we have to worry about. The difficult part will be to post-process the model predictions into spans of text in the original examples; once we have done that, the metric from the</a:t>
            </a:r>
            <a:r>
              <a:rPr lang="en-US" sz="1200" dirty="0">
                <a:solidFill>
                  <a:srgbClr val="D4D4D4"/>
                </a:solidFill>
                <a:latin typeface="Menlo" panose="020B0609030804020204" pitchFamily="49" charset="0"/>
              </a:rPr>
              <a:t> </a:t>
            </a:r>
            <a:r>
              <a:rPr lang="en-US" sz="1200" b="0" dirty="0">
                <a:solidFill>
                  <a:srgbClr val="CE9178"/>
                </a:solidFill>
                <a:effectLst/>
                <a:latin typeface="Menlo" panose="020B0609030804020204" pitchFamily="49" charset="0"/>
              </a:rPr>
              <a:t>🤗 Datasets library will do most of the work for us.</a:t>
            </a:r>
            <a:endParaRPr lang="en-US" sz="1200" b="0" dirty="0">
              <a:solidFill>
                <a:srgbClr val="D4D4D4"/>
              </a:solidFill>
              <a:effectLst/>
              <a:latin typeface="Menlo" panose="020B0609030804020204" pitchFamily="49" charset="0"/>
            </a:endParaRPr>
          </a:p>
          <a:p>
            <a:pPr>
              <a:lnSpc>
                <a:spcPts val="1350"/>
              </a:lnSpc>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Model Output Screenshot:</a:t>
            </a: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a:spcAft>
                <a:spcPts val="600"/>
              </a:spcAft>
              <a:defRPr/>
            </a:pPr>
            <a:r>
              <a:rPr lang="en-US" dirty="0">
                <a:latin typeface="Consolas" panose="020B0609020204030204" pitchFamily="49" charset="0"/>
              </a:rPr>
              <a:t>RAG Output Screenshot:</a:t>
            </a:r>
            <a:endParaRPr lang="en-US" sz="1600" dirty="0">
              <a:latin typeface="Segoe UI" panose="020B0502040204020203" pitchFamily="34" charset="0"/>
              <a:cs typeface="Segoe UI" panose="020B0502040204020203" pitchFamily="34" charset="0"/>
            </a:endParaRP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Comment on Both Model’s Answer: Here the model is partially correct, the response is vague but it does extract the important segment “predictions into spans of text.” The RAG gives a decent response that summarizes the pdf, with a useful bullet-point format. It doesn’t use the specific phrasing of ”spans of text” but it more or less describes the same thing, the process of finding the pair with the </a:t>
            </a:r>
            <a:r>
              <a:rPr lang="en-US">
                <a:latin typeface="Consolas" panose="020B0609020204030204" pitchFamily="49" charset="0"/>
              </a:rPr>
              <a:t>maximum score.</a:t>
            </a:r>
            <a:endParaRPr lang="en-US" dirty="0">
              <a:latin typeface="Consolas" panose="020B0609020204030204" pitchFamily="49" charset="0"/>
            </a:endParaRP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A0169340-8108-D990-24C1-73A19111896C}"/>
              </a:ext>
            </a:extLst>
          </p:cNvPr>
          <p:cNvPicPr>
            <a:picLocks noChangeAspect="1"/>
          </p:cNvPicPr>
          <p:nvPr/>
        </p:nvPicPr>
        <p:blipFill>
          <a:blip r:embed="rId2"/>
          <a:stretch>
            <a:fillRect/>
          </a:stretch>
        </p:blipFill>
        <p:spPr>
          <a:xfrm>
            <a:off x="3596898" y="4313958"/>
            <a:ext cx="7772400" cy="1044874"/>
          </a:xfrm>
          <a:prstGeom prst="rect">
            <a:avLst/>
          </a:prstGeom>
        </p:spPr>
      </p:pic>
      <p:pic>
        <p:nvPicPr>
          <p:cNvPr id="5" name="Picture 4">
            <a:extLst>
              <a:ext uri="{FF2B5EF4-FFF2-40B4-BE49-F238E27FC236}">
                <a16:creationId xmlns:a16="http://schemas.microsoft.com/office/drawing/2014/main" id="{00D55B8C-EE54-7931-FE0E-2BE8079F8652}"/>
              </a:ext>
            </a:extLst>
          </p:cNvPr>
          <p:cNvPicPr>
            <a:picLocks noChangeAspect="1"/>
          </p:cNvPicPr>
          <p:nvPr/>
        </p:nvPicPr>
        <p:blipFill>
          <a:blip r:embed="rId3"/>
          <a:stretch>
            <a:fillRect/>
          </a:stretch>
        </p:blipFill>
        <p:spPr>
          <a:xfrm>
            <a:off x="3809570" y="3109734"/>
            <a:ext cx="6959600" cy="965200"/>
          </a:xfrm>
          <a:prstGeom prst="rect">
            <a:avLst/>
          </a:prstGeom>
        </p:spPr>
      </p:pic>
    </p:spTree>
    <p:extLst>
      <p:ext uri="{BB962C8B-B14F-4D97-AF65-F5344CB8AC3E}">
        <p14:creationId xmlns:p14="http://schemas.microsoft.com/office/powerpoint/2010/main" val="2078386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10612231" cy="640080"/>
          </a:xfrm>
        </p:spPr>
        <p:txBody>
          <a:bodyPr>
            <a:noAutofit/>
          </a:bodyPr>
          <a:lstStyle/>
          <a:p>
            <a:r>
              <a:rPr lang="en-US" sz="2400" dirty="0">
                <a:latin typeface="Segoe UI Light" panose="020B0502040204020203" pitchFamily="34" charset="0"/>
                <a:cs typeface="Segoe UI Light" panose="020B0502040204020203" pitchFamily="34" charset="0"/>
              </a:rPr>
              <a:t>🤗 QA Tasks – “</a:t>
            </a:r>
            <a:r>
              <a:rPr lang="en-US" sz="2400" dirty="0"/>
              <a:t>What do you need to push the trained model to the Hub?”</a:t>
            </a:r>
            <a:endParaRPr lang="en-US" sz="2400" dirty="0">
              <a:latin typeface="Segoe UI Light" panose="020B0502040204020203" pitchFamily="34" charset="0"/>
              <a:cs typeface="Segoe UI Light" panose="020B0502040204020203" pitchFamily="34" charset="0"/>
            </a:endParaRPr>
          </a:p>
        </p:txBody>
      </p:sp>
      <p:sp>
        <p:nvSpPr>
          <p:cNvPr id="3" name="TextBox 2">
            <a:extLst>
              <a:ext uri="{FF2B5EF4-FFF2-40B4-BE49-F238E27FC236}">
                <a16:creationId xmlns:a16="http://schemas.microsoft.com/office/drawing/2014/main" id="{10FF06AA-81E0-289F-DDB0-05E6DBF6DF54}"/>
              </a:ext>
            </a:extLst>
          </p:cNvPr>
          <p:cNvSpPr txBox="1"/>
          <p:nvPr/>
        </p:nvSpPr>
        <p:spPr>
          <a:xfrm>
            <a:off x="623455" y="1413164"/>
            <a:ext cx="11239994" cy="5539978"/>
          </a:xfrm>
          <a:prstGeom prst="rect">
            <a:avLst/>
          </a:prstGeom>
          <a:noFill/>
        </p:spPr>
        <p:txBody>
          <a:bodyPr wrap="square" rtlCol="0">
            <a:spAutoFit/>
          </a:bodyPr>
          <a:lstStyle/>
          <a:p>
            <a:pPr lvl="0">
              <a:spcAft>
                <a:spcPts val="600"/>
              </a:spcAft>
              <a:defRPr/>
            </a:pPr>
            <a:r>
              <a:rPr lang="en-US" dirty="0">
                <a:latin typeface="Segoe UI" panose="020B0502040204020203" pitchFamily="34" charset="0"/>
                <a:cs typeface="Segoe UI" panose="020B0502040204020203" pitchFamily="34" charset="0"/>
              </a:rPr>
              <a:t>My answer: </a:t>
            </a:r>
            <a:r>
              <a:rPr lang="en-US" b="0" i="0" dirty="0">
                <a:solidFill>
                  <a:srgbClr val="D4D4D4"/>
                </a:solidFill>
                <a:effectLst/>
                <a:latin typeface="Menlo" panose="020B0609030804020204" pitchFamily="49" charset="0"/>
              </a:rPr>
              <a:t>log in to Hugging Face</a:t>
            </a:r>
            <a:endParaRPr lang="en-US" dirty="0">
              <a:solidFill>
                <a:schemeClr val="accent1"/>
              </a:solidFill>
              <a:latin typeface="Segoe UI" panose="020B0502040204020203" pitchFamily="34" charset="0"/>
              <a:cs typeface="Segoe UI" panose="020B0502040204020203" pitchFamily="34" charset="0"/>
            </a:endParaRPr>
          </a:p>
          <a:p>
            <a:pPr lvl="0">
              <a:spcAft>
                <a:spcPts val="600"/>
              </a:spcAft>
              <a:defRPr/>
            </a:pPr>
            <a:endParaRPr lang="en-US" dirty="0">
              <a:latin typeface="Segoe UI" panose="020B0502040204020203" pitchFamily="34" charset="0"/>
              <a:cs typeface="Segoe UI" panose="020B0502040204020203" pitchFamily="34" charset="0"/>
            </a:endParaRPr>
          </a:p>
          <a:p>
            <a:pPr>
              <a:spcAft>
                <a:spcPts val="600"/>
              </a:spcAft>
              <a:defRPr/>
            </a:pPr>
            <a:r>
              <a:rPr lang="en-US" dirty="0">
                <a:latin typeface="Consolas" panose="020B0609020204030204" pitchFamily="49" charset="0"/>
              </a:rPr>
              <a:t>Context: </a:t>
            </a:r>
            <a:r>
              <a:rPr lang="en-US" b="0" dirty="0">
                <a:solidFill>
                  <a:srgbClr val="CE9178"/>
                </a:solidFill>
                <a:effectLst/>
                <a:latin typeface="Menlo" panose="020B0609030804020204" pitchFamily="49" charset="0"/>
              </a:rPr>
              <a:t>To be able to push our model to the Hub, </a:t>
            </a:r>
            <a:r>
              <a:rPr lang="en-US" b="0" dirty="0" err="1">
                <a:solidFill>
                  <a:srgbClr val="CE9178"/>
                </a:solidFill>
                <a:effectLst/>
                <a:latin typeface="Menlo" panose="020B0609030804020204" pitchFamily="49" charset="0"/>
              </a:rPr>
              <a:t>weʼll</a:t>
            </a:r>
            <a:r>
              <a:rPr lang="en-US" b="0" dirty="0">
                <a:solidFill>
                  <a:srgbClr val="CE9178"/>
                </a:solidFill>
                <a:effectLst/>
                <a:latin typeface="Menlo" panose="020B0609030804020204" pitchFamily="49" charset="0"/>
              </a:rPr>
              <a:t> need to log in to Hugging Face. If </a:t>
            </a:r>
            <a:r>
              <a:rPr lang="en-US" b="0" dirty="0" err="1">
                <a:solidFill>
                  <a:srgbClr val="CE9178"/>
                </a:solidFill>
                <a:effectLst/>
                <a:latin typeface="Menlo" panose="020B0609030804020204" pitchFamily="49" charset="0"/>
              </a:rPr>
              <a:t>youʼre</a:t>
            </a:r>
            <a:r>
              <a:rPr lang="en-US" b="0" dirty="0">
                <a:solidFill>
                  <a:srgbClr val="CE9178"/>
                </a:solidFill>
                <a:effectLst/>
                <a:latin typeface="Menlo" panose="020B0609030804020204" pitchFamily="49" charset="0"/>
              </a:rPr>
              <a:t> running </a:t>
            </a:r>
            <a:r>
              <a:rPr lang="en-US" b="0" dirty="0" err="1">
                <a:solidFill>
                  <a:srgbClr val="CE9178"/>
                </a:solidFill>
                <a:effectLst/>
                <a:latin typeface="Menlo" panose="020B0609030804020204" pitchFamily="49" charset="0"/>
              </a:rPr>
              <a:t>thiscode</a:t>
            </a:r>
            <a:r>
              <a:rPr lang="en-US" b="0" dirty="0">
                <a:solidFill>
                  <a:srgbClr val="CE9178"/>
                </a:solidFill>
                <a:effectLst/>
                <a:latin typeface="Menlo" panose="020B0609030804020204" pitchFamily="49" charset="0"/>
              </a:rPr>
              <a:t> in a notebook, you can do so with the following utility function, which displays a widget </a:t>
            </a:r>
            <a:r>
              <a:rPr lang="en-US" b="0" dirty="0" err="1">
                <a:solidFill>
                  <a:srgbClr val="CE9178"/>
                </a:solidFill>
                <a:effectLst/>
                <a:latin typeface="Menlo" panose="020B0609030804020204" pitchFamily="49" charset="0"/>
              </a:rPr>
              <a:t>whereyou</a:t>
            </a:r>
            <a:r>
              <a:rPr lang="en-US" b="0" dirty="0">
                <a:solidFill>
                  <a:srgbClr val="CE9178"/>
                </a:solidFill>
                <a:effectLst/>
                <a:latin typeface="Menlo" panose="020B0609030804020204" pitchFamily="49" charset="0"/>
              </a:rPr>
              <a:t> can enter your login credentials:</a:t>
            </a: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Model Output Screenshot:</a:t>
            </a: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a:spcAft>
                <a:spcPts val="600"/>
              </a:spcAft>
              <a:defRPr/>
            </a:pPr>
            <a:r>
              <a:rPr lang="en-US" dirty="0">
                <a:latin typeface="Consolas" panose="020B0609020204030204" pitchFamily="49" charset="0"/>
              </a:rPr>
              <a:t>RAG Output Screenshot: </a:t>
            </a:r>
            <a:endParaRPr lang="en-US" sz="1600" dirty="0">
              <a:latin typeface="Segoe UI" panose="020B0502040204020203" pitchFamily="34" charset="0"/>
              <a:cs typeface="Segoe UI" panose="020B0502040204020203" pitchFamily="34" charset="0"/>
            </a:endParaRPr>
          </a:p>
          <a:p>
            <a:pPr lvl="0">
              <a:spcAft>
                <a:spcPts val="600"/>
              </a:spcAft>
              <a:defRPr/>
            </a:pPr>
            <a:endParaRPr lang="en-US" dirty="0">
              <a:latin typeface="Consolas" panose="020B0609020204030204" pitchFamily="49" charset="0"/>
            </a:endParaRPr>
          </a:p>
          <a:p>
            <a:pPr lvl="0">
              <a:spcAft>
                <a:spcPts val="600"/>
              </a:spcAft>
              <a:defRPr/>
            </a:pPr>
            <a:endParaRPr lang="en-US" dirty="0">
              <a:latin typeface="Consolas" panose="020B0609020204030204" pitchFamily="49" charset="0"/>
            </a:endParaRPr>
          </a:p>
          <a:p>
            <a:pPr lvl="0">
              <a:spcAft>
                <a:spcPts val="600"/>
              </a:spcAft>
              <a:defRPr/>
            </a:pPr>
            <a:r>
              <a:rPr lang="en-US" dirty="0">
                <a:latin typeface="Consolas" panose="020B0609020204030204" pitchFamily="49" charset="0"/>
              </a:rPr>
              <a:t>Comment on Both Model’s Answer: Here the RAG model fails as once again the abundance of context serves as a distraction. The RAG model says a lot that seems right but is definitely wrong, knowing the real answer. However, the model we trained is spot on and very concise, but this might be because of the very clear answer that is in the context. </a:t>
            </a:r>
            <a:endParaRPr lang="en-US" sz="1600" dirty="0">
              <a:latin typeface="Segoe UI" panose="020B0502040204020203" pitchFamily="34" charset="0"/>
              <a:cs typeface="Segoe UI" panose="020B0502040204020203" pitchFamily="34" charset="0"/>
            </a:endParaRPr>
          </a:p>
          <a:p>
            <a:pPr lvl="0">
              <a:spcAft>
                <a:spcPts val="600"/>
              </a:spcAft>
              <a:defRPr/>
            </a:pPr>
            <a:endParaRPr lang="en-US" sz="1600" dirty="0">
              <a:latin typeface="Segoe UI" panose="020B0502040204020203" pitchFamily="34" charset="0"/>
              <a:cs typeface="Segoe UI" panose="020B0502040204020203" pitchFamily="34" charset="0"/>
            </a:endParaRPr>
          </a:p>
        </p:txBody>
      </p:sp>
      <p:pic>
        <p:nvPicPr>
          <p:cNvPr id="2" name="Picture 1">
            <a:extLst>
              <a:ext uri="{FF2B5EF4-FFF2-40B4-BE49-F238E27FC236}">
                <a16:creationId xmlns:a16="http://schemas.microsoft.com/office/drawing/2014/main" id="{0B3A9A4F-BD63-0764-2A7F-FB3E1A730554}"/>
              </a:ext>
            </a:extLst>
          </p:cNvPr>
          <p:cNvPicPr>
            <a:picLocks noChangeAspect="1"/>
          </p:cNvPicPr>
          <p:nvPr/>
        </p:nvPicPr>
        <p:blipFill>
          <a:blip r:embed="rId2"/>
          <a:stretch>
            <a:fillRect/>
          </a:stretch>
        </p:blipFill>
        <p:spPr>
          <a:xfrm>
            <a:off x="3832514" y="3307976"/>
            <a:ext cx="3695700" cy="990600"/>
          </a:xfrm>
          <a:prstGeom prst="rect">
            <a:avLst/>
          </a:prstGeom>
        </p:spPr>
      </p:pic>
      <p:pic>
        <p:nvPicPr>
          <p:cNvPr id="4" name="Picture 3">
            <a:extLst>
              <a:ext uri="{FF2B5EF4-FFF2-40B4-BE49-F238E27FC236}">
                <a16:creationId xmlns:a16="http://schemas.microsoft.com/office/drawing/2014/main" id="{37A72142-8FA9-A206-4430-9016840606C7}"/>
              </a:ext>
            </a:extLst>
          </p:cNvPr>
          <p:cNvPicPr>
            <a:picLocks noChangeAspect="1"/>
          </p:cNvPicPr>
          <p:nvPr/>
        </p:nvPicPr>
        <p:blipFill>
          <a:blip r:embed="rId3"/>
          <a:stretch>
            <a:fillRect/>
          </a:stretch>
        </p:blipFill>
        <p:spPr>
          <a:xfrm>
            <a:off x="3487767" y="4298576"/>
            <a:ext cx="9213320" cy="990599"/>
          </a:xfrm>
          <a:prstGeom prst="rect">
            <a:avLst/>
          </a:prstGeom>
        </p:spPr>
      </p:pic>
    </p:spTree>
    <p:extLst>
      <p:ext uri="{BB962C8B-B14F-4D97-AF65-F5344CB8AC3E}">
        <p14:creationId xmlns:p14="http://schemas.microsoft.com/office/powerpoint/2010/main" val="9507097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DDD2FD-EAF1-8C8B-4466-89FF6DF5A324}"/>
              </a:ext>
            </a:extLst>
          </p:cNvPr>
          <p:cNvSpPr>
            <a:spLocks noGrp="1"/>
          </p:cNvSpPr>
          <p:nvPr>
            <p:ph sz="quarter" idx="10"/>
          </p:nvPr>
        </p:nvSpPr>
        <p:spPr>
          <a:xfrm>
            <a:off x="539496" y="1435608"/>
            <a:ext cx="11188216" cy="4974336"/>
          </a:xfrm>
        </p:spPr>
        <p:txBody>
          <a:bodyPr>
            <a:normAutofit/>
          </a:bodyPr>
          <a:lstStyle/>
          <a:p>
            <a:r>
              <a:rPr lang="en-US" sz="1400" dirty="0"/>
              <a:t>Generally speaking, BERT performs the best in situations where the answer to the problem is in the limited context that we gave it. Situations like the login instructions for Hugging Face, where the question can be encapsulated by a single answer like “log into </a:t>
            </a:r>
            <a:r>
              <a:rPr lang="en-US" sz="1400" dirty="0" err="1"/>
              <a:t>HuggingFace</a:t>
            </a:r>
            <a:r>
              <a:rPr lang="en-US" sz="1400" dirty="0"/>
              <a:t>.” However in most of the cases, the extra context afforded by processing the entire PDF allows the RAG model to generate much better responses in general with greater technical detail. It can even pull together information from different parts of the PDF, as opposed to BERT which can only pull information from the paragraph given. </a:t>
            </a:r>
          </a:p>
          <a:p>
            <a:r>
              <a:rPr lang="en-US" sz="1400" dirty="0"/>
              <a:t>However, it’s worth noting that the playing field isn’t exactly equal here – the BERT model relies on the user copying over the paragraph that contains the information. In essence, a lot of the work is already done by the user instead of the model. The RAG model is forced to look through the entire context to determine what’s important.  It’s also worth nothing that the RAG model didn’t result in uniformly better results as sometimes the extra context appeared to distract the model from the real answer whereas BERT would do a better job zooming into the answer. </a:t>
            </a:r>
          </a:p>
        </p:txBody>
      </p:sp>
      <p:sp>
        <p:nvSpPr>
          <p:cNvPr id="4" name="Title 7">
            <a:extLst>
              <a:ext uri="{FF2B5EF4-FFF2-40B4-BE49-F238E27FC236}">
                <a16:creationId xmlns:a16="http://schemas.microsoft.com/office/drawing/2014/main" id="{F7D9CEBF-7612-D267-FF0E-25B4E63041E8}"/>
              </a:ext>
            </a:extLst>
          </p:cNvPr>
          <p:cNvSpPr>
            <a:spLocks noGrp="1"/>
          </p:cNvSpPr>
          <p:nvPr>
            <p:ph type="title"/>
          </p:nvPr>
        </p:nvSpPr>
        <p:spPr>
          <a:xfrm>
            <a:off x="521207" y="448056"/>
            <a:ext cx="10612231" cy="640080"/>
          </a:xfrm>
        </p:spPr>
        <p:txBody>
          <a:bodyPr>
            <a:noAutofit/>
          </a:bodyPr>
          <a:lstStyle/>
          <a:p>
            <a:r>
              <a:rPr lang="en-US" sz="1600" dirty="0"/>
              <a:t>Compare the precision and relevance of answers provided by the BERT and RAG models. Which model performed better overall, and why do you think that is the case? What are the strengths and weaknesses for both models?</a:t>
            </a:r>
            <a:endParaRPr lang="en-US" sz="24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455109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6D6597-23A6-49B1-AE5E-BA6428456E4F}"/>
              </a:ext>
            </a:extLst>
          </p:cNvPr>
          <p:cNvSpPr txBox="1"/>
          <p:nvPr/>
        </p:nvSpPr>
        <p:spPr>
          <a:xfrm>
            <a:off x="623455" y="1413164"/>
            <a:ext cx="2008534" cy="5509200"/>
          </a:xfrm>
          <a:prstGeom prst="rect">
            <a:avLst/>
          </a:prstGeom>
          <a:noFill/>
        </p:spPr>
        <p:txBody>
          <a:bodyPr wrap="square" rtlCol="0">
            <a:spAutoFit/>
          </a:bodyPr>
          <a:lstStyle/>
          <a:p>
            <a:pPr lvl="0">
              <a:spcAft>
                <a:spcPts val="600"/>
              </a:spcAft>
              <a:defRPr/>
            </a:pPr>
            <a:r>
              <a:rPr lang="en-US" dirty="0">
                <a:latin typeface="Segoe UI" panose="020B0502040204020203" pitchFamily="34" charset="0"/>
                <a:cs typeface="Segoe UI" panose="020B0502040204020203" pitchFamily="34" charset="0"/>
              </a:rPr>
              <a:t>The BERT model that is used: </a:t>
            </a:r>
          </a:p>
          <a:p>
            <a:pPr lvl="0">
              <a:spcAft>
                <a:spcPts val="600"/>
              </a:spcAft>
              <a:defRPr/>
            </a:pPr>
            <a:endParaRPr lang="en-US" sz="1200" dirty="0">
              <a:latin typeface="Segoe UI" panose="020B0502040204020203" pitchFamily="34" charset="0"/>
              <a:cs typeface="Segoe UI" panose="020B0502040204020203" pitchFamily="34" charset="0"/>
            </a:endParaRPr>
          </a:p>
          <a:p>
            <a:pPr>
              <a:lnSpc>
                <a:spcPts val="1350"/>
              </a:lnSpc>
            </a:pPr>
            <a:r>
              <a:rPr lang="en-US" sz="1200" b="0" dirty="0" err="1">
                <a:solidFill>
                  <a:srgbClr val="9CDCFE"/>
                </a:solidFill>
                <a:effectLst/>
                <a:latin typeface="Menlo" panose="020B0609030804020204" pitchFamily="49" charset="0"/>
              </a:rPr>
              <a:t>model_type</a:t>
            </a:r>
            <a:r>
              <a:rPr lang="en-US" sz="1200" b="0" dirty="0">
                <a:solidFill>
                  <a:srgbClr val="D4D4D4"/>
                </a:solidFill>
                <a:effectLst/>
                <a:latin typeface="Menlo" panose="020B0609030804020204" pitchFamily="49" charset="0"/>
              </a:rPr>
              <a:t> = </a:t>
            </a:r>
            <a:r>
              <a:rPr lang="en-US" sz="1200" b="0" dirty="0">
                <a:solidFill>
                  <a:srgbClr val="CE9178"/>
                </a:solidFill>
                <a:effectLst/>
                <a:latin typeface="Menlo" panose="020B0609030804020204" pitchFamily="49" charset="0"/>
              </a:rPr>
              <a:t>'</a:t>
            </a:r>
            <a:r>
              <a:rPr lang="en-US" sz="1200" b="0" dirty="0" err="1">
                <a:solidFill>
                  <a:srgbClr val="CE9178"/>
                </a:solidFill>
                <a:effectLst/>
                <a:latin typeface="Menlo" panose="020B0609030804020204" pitchFamily="49" charset="0"/>
              </a:rPr>
              <a:t>bert</a:t>
            </a:r>
            <a:r>
              <a:rPr lang="en-US" sz="1200" b="0" dirty="0">
                <a:solidFill>
                  <a:srgbClr val="CE9178"/>
                </a:solidFill>
                <a:effectLst/>
                <a:latin typeface="Menlo" panose="020B0609030804020204" pitchFamily="49" charset="0"/>
              </a:rPr>
              <a:t>'</a:t>
            </a:r>
            <a:endParaRPr lang="en-US" sz="1200" b="0" dirty="0">
              <a:solidFill>
                <a:srgbClr val="D4D4D4"/>
              </a:solidFill>
              <a:effectLst/>
              <a:latin typeface="Menlo" panose="020B0609030804020204" pitchFamily="49" charset="0"/>
            </a:endParaRPr>
          </a:p>
          <a:p>
            <a:pPr>
              <a:lnSpc>
                <a:spcPts val="1350"/>
              </a:lnSpc>
            </a:pPr>
            <a:r>
              <a:rPr lang="en-US" sz="1200" b="0" dirty="0" err="1">
                <a:solidFill>
                  <a:srgbClr val="9CDCFE"/>
                </a:solidFill>
                <a:effectLst/>
                <a:latin typeface="Menlo" panose="020B0609030804020204" pitchFamily="49" charset="0"/>
              </a:rPr>
              <a:t>model_version</a:t>
            </a:r>
            <a:r>
              <a:rPr lang="en-US" sz="1200" b="0" dirty="0">
                <a:solidFill>
                  <a:srgbClr val="D4D4D4"/>
                </a:solidFill>
                <a:effectLst/>
                <a:latin typeface="Menlo" panose="020B0609030804020204" pitchFamily="49" charset="0"/>
              </a:rPr>
              <a:t> = </a:t>
            </a:r>
            <a:r>
              <a:rPr lang="en-US" sz="1200" b="0" dirty="0">
                <a:solidFill>
                  <a:srgbClr val="CE9178"/>
                </a:solidFill>
                <a:effectLst/>
                <a:latin typeface="Menlo" panose="020B0609030804020204" pitchFamily="49" charset="0"/>
              </a:rPr>
              <a:t>'</a:t>
            </a:r>
            <a:r>
              <a:rPr lang="en-US" sz="1200" b="0" dirty="0" err="1">
                <a:solidFill>
                  <a:srgbClr val="CE9178"/>
                </a:solidFill>
                <a:effectLst/>
                <a:latin typeface="Menlo" panose="020B0609030804020204" pitchFamily="49" charset="0"/>
              </a:rPr>
              <a:t>bert</a:t>
            </a:r>
            <a:r>
              <a:rPr lang="en-US" sz="1200" b="0" dirty="0">
                <a:solidFill>
                  <a:srgbClr val="CE9178"/>
                </a:solidFill>
                <a:effectLst/>
                <a:latin typeface="Menlo" panose="020B0609030804020204" pitchFamily="49" charset="0"/>
              </a:rPr>
              <a:t>-base-uncased'</a:t>
            </a:r>
            <a:endParaRPr lang="en-US" sz="1200" b="0" dirty="0">
              <a:solidFill>
                <a:srgbClr val="D4D4D4"/>
              </a:solidFill>
              <a:effectLst/>
              <a:latin typeface="Menlo" panose="020B0609030804020204" pitchFamily="49" charset="0"/>
            </a:endParaRPr>
          </a:p>
          <a:p>
            <a:pPr>
              <a:spcAft>
                <a:spcPts val="600"/>
              </a:spcAft>
              <a:defRPr/>
            </a:pPr>
            <a:r>
              <a:rPr lang="en-US" sz="1200" b="0" dirty="0">
                <a:solidFill>
                  <a:srgbClr val="9CDCFE"/>
                </a:solidFill>
                <a:effectLst/>
                <a:latin typeface="Menlo" panose="020B0609030804020204" pitchFamily="49" charset="0"/>
              </a:rPr>
              <a:t>model</a:t>
            </a:r>
            <a:r>
              <a:rPr lang="en-US" sz="1200" b="0" dirty="0">
                <a:solidFill>
                  <a:srgbClr val="D4D4D4"/>
                </a:solidFill>
                <a:effectLst/>
                <a:latin typeface="Menlo" panose="020B0609030804020204" pitchFamily="49" charset="0"/>
              </a:rPr>
              <a:t> = </a:t>
            </a:r>
            <a:r>
              <a:rPr lang="en-US" sz="1200" b="0" dirty="0" err="1">
                <a:solidFill>
                  <a:srgbClr val="4EC9B0"/>
                </a:solidFill>
                <a:effectLst/>
                <a:latin typeface="Menlo" panose="020B0609030804020204" pitchFamily="49" charset="0"/>
              </a:rPr>
              <a:t>BertModel</a:t>
            </a:r>
            <a:r>
              <a:rPr lang="en-US" sz="1200" b="0" dirty="0" err="1">
                <a:solidFill>
                  <a:srgbClr val="D4D4D4"/>
                </a:solidFill>
                <a:effectLst/>
                <a:latin typeface="Menlo" panose="020B0609030804020204" pitchFamily="49" charset="0"/>
              </a:rPr>
              <a:t>.</a:t>
            </a:r>
            <a:r>
              <a:rPr lang="en-US" sz="1200" b="0" dirty="0" err="1">
                <a:solidFill>
                  <a:srgbClr val="DCDCAA"/>
                </a:solidFill>
                <a:effectLst/>
                <a:latin typeface="Menlo" panose="020B0609030804020204" pitchFamily="49" charset="0"/>
              </a:rPr>
              <a:t>from_pretrained</a:t>
            </a:r>
            <a:r>
              <a:rPr lang="en-US" sz="1200" b="0" dirty="0">
                <a:solidFill>
                  <a:srgbClr val="D4D4D4"/>
                </a:solidFill>
                <a:effectLst/>
                <a:latin typeface="Menlo" panose="020B0609030804020204" pitchFamily="49" charset="0"/>
              </a:rPr>
              <a:t>(</a:t>
            </a:r>
            <a:r>
              <a:rPr lang="en-US" sz="1200" b="0" dirty="0" err="1">
                <a:solidFill>
                  <a:srgbClr val="9CDCFE"/>
                </a:solidFill>
                <a:effectLst/>
                <a:latin typeface="Menlo" panose="020B0609030804020204" pitchFamily="49" charset="0"/>
              </a:rPr>
              <a:t>model_version</a:t>
            </a:r>
            <a:r>
              <a:rPr lang="en-US" sz="1200" b="0" dirty="0">
                <a:solidFill>
                  <a:srgbClr val="D4D4D4"/>
                </a:solidFill>
                <a:effectLst/>
                <a:latin typeface="Menlo" panose="020B0609030804020204" pitchFamily="49" charset="0"/>
              </a:rPr>
              <a:t>, </a:t>
            </a:r>
            <a:r>
              <a:rPr lang="en-US" sz="1200" b="0" dirty="0" err="1">
                <a:solidFill>
                  <a:srgbClr val="9CDCFE"/>
                </a:solidFill>
                <a:effectLst/>
                <a:latin typeface="Menlo" panose="020B0609030804020204" pitchFamily="49" charset="0"/>
              </a:rPr>
              <a:t>output_attentions</a:t>
            </a:r>
            <a:r>
              <a:rPr lang="en-US" sz="1200" b="0" dirty="0">
                <a:solidFill>
                  <a:srgbClr val="D4D4D4"/>
                </a:solidFill>
                <a:effectLst/>
                <a:latin typeface="Menlo" panose="020B0609030804020204" pitchFamily="49" charset="0"/>
              </a:rPr>
              <a:t>=</a:t>
            </a:r>
            <a:r>
              <a:rPr lang="en-US" sz="1200" b="0" dirty="0">
                <a:solidFill>
                  <a:srgbClr val="569CD6"/>
                </a:solidFill>
                <a:effectLst/>
                <a:latin typeface="Menlo" panose="020B0609030804020204" pitchFamily="49" charset="0"/>
              </a:rPr>
              <a:t>True</a:t>
            </a:r>
            <a:r>
              <a:rPr lang="en-US" sz="1200" dirty="0">
                <a:solidFill>
                  <a:srgbClr val="D4D4D4"/>
                </a:solidFill>
                <a:latin typeface="Menlo" panose="020B0609030804020204" pitchFamily="49" charset="0"/>
              </a:rPr>
              <a:t>)</a:t>
            </a:r>
            <a:endParaRPr lang="en-US" sz="1200" dirty="0">
              <a:latin typeface="Segoe UI" panose="020B0502040204020203" pitchFamily="34" charset="0"/>
              <a:cs typeface="Segoe UI" panose="020B0502040204020203" pitchFamily="34" charset="0"/>
            </a:endParaRPr>
          </a:p>
          <a:p>
            <a:pPr lvl="0">
              <a:spcAft>
                <a:spcPts val="600"/>
              </a:spcAft>
              <a:defRPr/>
            </a:pPr>
            <a:endParaRPr lang="en-US" dirty="0">
              <a:latin typeface="Segoe UI" panose="020B0502040204020203" pitchFamily="34" charset="0"/>
              <a:cs typeface="Segoe UI" panose="020B0502040204020203" pitchFamily="34" charset="0"/>
            </a:endParaRPr>
          </a:p>
          <a:p>
            <a:pPr lvl="0">
              <a:spcAft>
                <a:spcPts val="600"/>
              </a:spcAft>
              <a:defRPr/>
            </a:pPr>
            <a:endParaRPr lang="en-US" dirty="0">
              <a:latin typeface="Segoe UI" panose="020B0502040204020203" pitchFamily="34" charset="0"/>
              <a:cs typeface="Segoe UI" panose="020B0502040204020203" pitchFamily="34" charset="0"/>
            </a:endParaRPr>
          </a:p>
          <a:p>
            <a:pPr lvl="0">
              <a:spcAft>
                <a:spcPts val="600"/>
              </a:spcAft>
              <a:defRPr/>
            </a:pPr>
            <a:r>
              <a:rPr lang="en-US" dirty="0"/>
              <a:t>The attention layer and head that performs noun modifier:</a:t>
            </a:r>
          </a:p>
          <a:p>
            <a:pPr lvl="0">
              <a:spcAft>
                <a:spcPts val="600"/>
              </a:spcAft>
              <a:defRPr/>
            </a:pPr>
            <a:r>
              <a:rPr lang="en-US" dirty="0">
                <a:solidFill>
                  <a:schemeClr val="accent1"/>
                </a:solidFill>
                <a:latin typeface="Consolas" panose="020B0609020204030204" pitchFamily="49" charset="0"/>
              </a:rPr>
              <a:t>Layer </a:t>
            </a:r>
            <a:r>
              <a:rPr lang="en-US" b="1" dirty="0">
                <a:solidFill>
                  <a:schemeClr val="accent1"/>
                </a:solidFill>
                <a:latin typeface="Consolas" panose="020B0609020204030204" pitchFamily="49" charset="0"/>
              </a:rPr>
              <a:t>7</a:t>
            </a:r>
            <a:r>
              <a:rPr lang="en-US" dirty="0">
                <a:solidFill>
                  <a:schemeClr val="accent1"/>
                </a:solidFill>
                <a:latin typeface="Consolas" panose="020B0609020204030204" pitchFamily="49" charset="0"/>
              </a:rPr>
              <a:t> Head </a:t>
            </a:r>
            <a:r>
              <a:rPr lang="en-US" b="1" dirty="0">
                <a:solidFill>
                  <a:schemeClr val="accent1"/>
                </a:solidFill>
                <a:latin typeface="Consolas" panose="020B0609020204030204" pitchFamily="49" charset="0"/>
              </a:rPr>
              <a:t>10</a:t>
            </a:r>
          </a:p>
          <a:p>
            <a:pPr lvl="0">
              <a:spcAft>
                <a:spcPts val="600"/>
              </a:spcAft>
              <a:defRPr/>
            </a:pPr>
            <a:endParaRPr lang="en-US" dirty="0">
              <a:latin typeface="Consolas" panose="020B0609020204030204" pitchFamily="49" charset="0"/>
            </a:endParaRPr>
          </a:p>
        </p:txBody>
      </p:sp>
      <p:sp>
        <p:nvSpPr>
          <p:cNvPr id="8" name="Title 7"/>
          <p:cNvSpPr>
            <a:spLocks noGrp="1"/>
          </p:cNvSpPr>
          <p:nvPr>
            <p:ph type="title"/>
          </p:nvPr>
        </p:nvSpPr>
        <p:spPr>
          <a:xfrm>
            <a:off x="521207" y="448056"/>
            <a:ext cx="10612231" cy="640080"/>
          </a:xfrm>
        </p:spPr>
        <p:txBody>
          <a:bodyPr>
            <a:noAutofit/>
          </a:bodyPr>
          <a:lstStyle/>
          <a:p>
            <a:r>
              <a:rPr lang="en-US" sz="2400" dirty="0">
                <a:latin typeface="Segoe UI Light" panose="020B0502040204020203" pitchFamily="34" charset="0"/>
                <a:cs typeface="Segoe UI Light" panose="020B0502040204020203" pitchFamily="34" charset="0"/>
              </a:rPr>
              <a:t>BERT Attention Head Visualization Tasks</a:t>
            </a:r>
          </a:p>
        </p:txBody>
      </p:sp>
      <p:sp>
        <p:nvSpPr>
          <p:cNvPr id="2" name="Rectangle 1">
            <a:extLst>
              <a:ext uri="{FF2B5EF4-FFF2-40B4-BE49-F238E27FC236}">
                <a16:creationId xmlns:a16="http://schemas.microsoft.com/office/drawing/2014/main" id="{2A9AF8C5-F6AF-4E04-AD55-C4FB5A50F1D8}"/>
              </a:ext>
            </a:extLst>
          </p:cNvPr>
          <p:cNvSpPr/>
          <p:nvPr/>
        </p:nvSpPr>
        <p:spPr>
          <a:xfrm>
            <a:off x="3048000" y="1413164"/>
            <a:ext cx="3995351" cy="1985159"/>
          </a:xfrm>
          <a:prstGeom prst="rect">
            <a:avLst/>
          </a:prstGeom>
        </p:spPr>
        <p:txBody>
          <a:bodyPr wrap="square">
            <a:spAutoFit/>
          </a:bodyPr>
          <a:lstStyle/>
          <a:p>
            <a:pPr lvl="0">
              <a:spcAft>
                <a:spcPts val="600"/>
              </a:spcAft>
              <a:defRPr/>
            </a:pPr>
            <a:r>
              <a:rPr lang="en-US" dirty="0"/>
              <a:t>Screenshots of the attention for sentence </a:t>
            </a:r>
          </a:p>
          <a:p>
            <a:pPr>
              <a:spcAft>
                <a:spcPts val="600"/>
              </a:spcAft>
              <a:defRPr/>
            </a:pPr>
            <a:r>
              <a:rPr lang="en-US" dirty="0"/>
              <a:t>“The complicated language in the huge new law has muddied the fight.”</a:t>
            </a:r>
          </a:p>
          <a:p>
            <a:pPr>
              <a:spcAft>
                <a:spcPts val="600"/>
              </a:spcAft>
              <a:defRPr/>
            </a:pPr>
            <a:endParaRPr lang="en-US" dirty="0"/>
          </a:p>
          <a:p>
            <a:pPr>
              <a:spcAft>
                <a:spcPts val="600"/>
              </a:spcAft>
              <a:defRPr/>
            </a:pPr>
            <a:endParaRPr lang="en-US" dirty="0"/>
          </a:p>
        </p:txBody>
      </p:sp>
      <p:sp>
        <p:nvSpPr>
          <p:cNvPr id="3" name="Rectangle 2">
            <a:extLst>
              <a:ext uri="{FF2B5EF4-FFF2-40B4-BE49-F238E27FC236}">
                <a16:creationId xmlns:a16="http://schemas.microsoft.com/office/drawing/2014/main" id="{256DD1A5-9DFC-4C8A-A08F-5D861CB76BB2}"/>
              </a:ext>
            </a:extLst>
          </p:cNvPr>
          <p:cNvSpPr/>
          <p:nvPr/>
        </p:nvSpPr>
        <p:spPr>
          <a:xfrm>
            <a:off x="7904206" y="1413164"/>
            <a:ext cx="4193059" cy="1554272"/>
          </a:xfrm>
          <a:prstGeom prst="rect">
            <a:avLst/>
          </a:prstGeom>
        </p:spPr>
        <p:txBody>
          <a:bodyPr wrap="square">
            <a:spAutoFit/>
          </a:bodyPr>
          <a:lstStyle/>
          <a:p>
            <a:pPr lvl="0">
              <a:spcAft>
                <a:spcPts val="600"/>
              </a:spcAft>
              <a:defRPr/>
            </a:pPr>
            <a:r>
              <a:rPr lang="en-US" dirty="0"/>
              <a:t>Screenshots of the attention for sentence </a:t>
            </a:r>
          </a:p>
          <a:p>
            <a:pPr>
              <a:spcAft>
                <a:spcPts val="600"/>
              </a:spcAft>
              <a:defRPr/>
            </a:pPr>
            <a:r>
              <a:rPr lang="en-US" dirty="0"/>
              <a:t>“</a:t>
            </a:r>
            <a:r>
              <a:rPr lang="en-US"/>
              <a:t>The 45-year-old </a:t>
            </a:r>
            <a:r>
              <a:rPr lang="en-US" dirty="0"/>
              <a:t>former General Electric Co. executive figures it will be easier this time.”</a:t>
            </a:r>
          </a:p>
        </p:txBody>
      </p:sp>
      <p:cxnSp>
        <p:nvCxnSpPr>
          <p:cNvPr id="6" name="Straight Connector 5">
            <a:extLst>
              <a:ext uri="{FF2B5EF4-FFF2-40B4-BE49-F238E27FC236}">
                <a16:creationId xmlns:a16="http://schemas.microsoft.com/office/drawing/2014/main" id="{510DAD0C-C3F2-4C73-A23D-F7D69B28CFBE}"/>
              </a:ext>
            </a:extLst>
          </p:cNvPr>
          <p:cNvCxnSpPr/>
          <p:nvPr/>
        </p:nvCxnSpPr>
        <p:spPr>
          <a:xfrm>
            <a:off x="2792628" y="1413164"/>
            <a:ext cx="0" cy="498598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E207B70-1F79-46D5-9847-938A09B29498}"/>
              </a:ext>
            </a:extLst>
          </p:cNvPr>
          <p:cNvCxnSpPr/>
          <p:nvPr/>
        </p:nvCxnSpPr>
        <p:spPr>
          <a:xfrm>
            <a:off x="7455245" y="1413164"/>
            <a:ext cx="0" cy="498598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725B3051-F604-9F6F-A513-BE66293A8D3F}"/>
              </a:ext>
            </a:extLst>
          </p:cNvPr>
          <p:cNvPicPr>
            <a:picLocks noChangeAspect="1"/>
          </p:cNvPicPr>
          <p:nvPr/>
        </p:nvPicPr>
        <p:blipFill>
          <a:blip r:embed="rId2"/>
          <a:stretch>
            <a:fillRect/>
          </a:stretch>
        </p:blipFill>
        <p:spPr>
          <a:xfrm>
            <a:off x="3511549" y="2662516"/>
            <a:ext cx="3070465" cy="3907865"/>
          </a:xfrm>
          <a:prstGeom prst="rect">
            <a:avLst/>
          </a:prstGeom>
        </p:spPr>
      </p:pic>
      <p:pic>
        <p:nvPicPr>
          <p:cNvPr id="7" name="Picture 6">
            <a:extLst>
              <a:ext uri="{FF2B5EF4-FFF2-40B4-BE49-F238E27FC236}">
                <a16:creationId xmlns:a16="http://schemas.microsoft.com/office/drawing/2014/main" id="{3A1531F6-A605-DE50-6421-76897501AC82}"/>
              </a:ext>
            </a:extLst>
          </p:cNvPr>
          <p:cNvPicPr>
            <a:picLocks noChangeAspect="1"/>
          </p:cNvPicPr>
          <p:nvPr/>
        </p:nvPicPr>
        <p:blipFill>
          <a:blip r:embed="rId3"/>
          <a:stretch>
            <a:fillRect/>
          </a:stretch>
        </p:blipFill>
        <p:spPr>
          <a:xfrm>
            <a:off x="8045593" y="2967436"/>
            <a:ext cx="2656519" cy="3602945"/>
          </a:xfrm>
          <a:prstGeom prst="rect">
            <a:avLst/>
          </a:prstGeom>
        </p:spPr>
      </p:pic>
    </p:spTree>
    <p:extLst>
      <p:ext uri="{BB962C8B-B14F-4D97-AF65-F5344CB8AC3E}">
        <p14:creationId xmlns:p14="http://schemas.microsoft.com/office/powerpoint/2010/main" val="21689763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elcome to Powerpoint 2016_CLR_v2" id="{CAB9082A-965C-42BE-8170-C940D3319B60}" vid="{82B84162-888A-4FD2-BEC9-B29B6DB2C7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2.xml><?xml version="1.0" encoding="utf-8"?>
<ds:datastoreItem xmlns:ds="http://schemas.openxmlformats.org/officeDocument/2006/customXml" ds:itemID="{950072C5-DDE0-4258-BA7A-4D4B80DFA632}">
  <ds:schemaRefs>
    <ds:schemaRef ds:uri="http://schemas.microsoft.com/office/infopath/2007/PartnerControls"/>
    <ds:schemaRef ds:uri="http://schemas.microsoft.com/office/2006/documentManagement/types"/>
    <ds:schemaRef ds:uri="http://purl.org/dc/dcmitype/"/>
    <ds:schemaRef ds:uri="http://schemas.microsoft.com/office/2006/metadata/properties"/>
    <ds:schemaRef ds:uri="71af3243-3dd4-4a8d-8c0d-dd76da1f02a5"/>
    <ds:schemaRef ds:uri="http://www.w3.org/XML/1998/namespace"/>
    <ds:schemaRef ds:uri="http://purl.org/dc/elements/1.1/"/>
    <ds:schemaRef ds:uri="http://schemas.openxmlformats.org/package/2006/metadata/core-properties"/>
    <ds:schemaRef ds:uri="16c05727-aa75-4e4a-9b5f-8a80a1165891"/>
    <ds:schemaRef ds:uri="http://purl.org/dc/terms/"/>
  </ds:schemaRefs>
</ds:datastoreItem>
</file>

<file path=customXml/itemProps3.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Welcome to PowerPoint</Template>
  <TotalTime>0</TotalTime>
  <Words>2111</Words>
  <Application>Microsoft Macintosh PowerPoint</Application>
  <PresentationFormat>Widescreen</PresentationFormat>
  <Paragraphs>156</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Consolas</vt:lpstr>
      <vt:lpstr>Menlo</vt:lpstr>
      <vt:lpstr>Segoe UI</vt:lpstr>
      <vt:lpstr>Segoe UI Light</vt:lpstr>
      <vt:lpstr>WelcomeDoc</vt:lpstr>
      <vt:lpstr>ECE 157B/272B Homework 2</vt:lpstr>
      <vt:lpstr>🤗 QA Tasks – “What dataset is used in this tutorial?”</vt:lpstr>
      <vt:lpstr>🤗 QA Tasks – “What is tricky about processing the answer field of the dataset?”</vt:lpstr>
      <vt:lpstr>🤗 QA Tasks – “How are the labels for the answer formatted?”</vt:lpstr>
      <vt:lpstr>🤗 QA Tasks – “What type of tokenizer is needed?”</vt:lpstr>
      <vt:lpstr>🤗 QA Tasks – “How do we deal with long context?”</vt:lpstr>
      <vt:lpstr>🤗 QA Tasks – “What is the stride parameter?”</vt:lpstr>
      <vt:lpstr>🤗 QA Tasks – “What will be the label if the answer got truncated in the splitting process?”</vt:lpstr>
      <vt:lpstr>🤗 QA Tasks – “What is the purpose of overflow_to_sample_mapping?”</vt:lpstr>
      <vt:lpstr>🤗 QA Tasks – “What is the post-process trying to do?”</vt:lpstr>
      <vt:lpstr>🤗 QA Tasks – “What do you need to push the trained model to the Hub?”</vt:lpstr>
      <vt:lpstr>Compare the precision and relevance of answers provided by the BERT and RAG models. Which model performed better overall, and why do you think that is the case? What are the strengths and weaknesses for both models?</vt:lpstr>
      <vt:lpstr>BERT Attention Head Visualization Tasks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2023-01-24T21:25:40Z</dcterms:created>
  <dcterms:modified xsi:type="dcterms:W3CDTF">2025-02-07T02:52:59Z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
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60" r:id="rId4"/>
  </p:sldMasterIdLst>
  <p:notesMasterIdLst>
    <p:notesMasterId r:id="rId18"/>
  </p:notesMasterIdLst>
  <p:handoutMasterIdLst>
    <p:handoutMasterId r:id="rId19"/>
  </p:handoutMasterIdLst>
  <p:sldIdLst>
    <p:sldId id="256" r:id="rId5"/>
    <p:sldId id="271" r:id="rId6"/>
    <p:sldId id="272" r:id="rId7"/>
    <p:sldId id="273" r:id="rId8"/>
    <p:sldId id="274" r:id="rId9"/>
    <p:sldId id="275" r:id="rId10"/>
    <p:sldId id="276" r:id="rId11"/>
    <p:sldId id="277" r:id="rId12"/>
    <p:sldId id="278" r:id="rId13"/>
    <p:sldId id="279" r:id="rId14"/>
    <p:sldId id="280" r:id="rId15"/>
    <p:sldId id="282" r:id="rId16"/>
    <p:sldId id="281"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4726"/>
    <a:srgbClr val="404040"/>
    <a:srgbClr val="FF9B45"/>
    <a:srgbClr val="DD462F"/>
    <a:srgbClr val="F8CFB6"/>
    <a:srgbClr val="F8CAB6"/>
    <a:srgbClr val="923922"/>
    <a:srgbClr val="F5F5F5"/>
    <a:srgbClr val="F2F2F2"/>
    <a:srgbClr val="D2B4A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87" autoAdjust="0"/>
    <p:restoredTop sz="94241" autoAdjust="0"/>
  </p:normalViewPr>
  <p:slideViewPr>
    <p:cSldViewPr snapToGrid="0">
      <p:cViewPr varScale="1">
        <p:scale>
          <a:sx n="120" d="100"/>
          <a:sy n="120" d="100"/>
        </p:scale>
        <p:origin x="416" y="17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84" d="100"/>
          <a:sy n="84" d="100"/>
        </p:scale>
        <p:origin x="3828" y="9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commentAuthors" Target="commen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0680FBE-A8DF-4758-9AC4-3A9E1039168F}" type="datetimeFigureOut">
              <a:rPr lang="en-US" smtClean="0"/>
              <a:t>1/25/25</a:t>
            </a:fld>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C679768-A2FC-4D08-91F6-8DCE6C566B36}" type="slidenum">
              <a:rPr lang="en-US" smtClean="0"/>
              <a:t>‹#›</a:t>
            </a:fld>
            <a:endParaRPr lang="en-US" dirty="0"/>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13577B-6902-467D-A26C-08A0DD5E4E03}" type="datetimeFigureOut">
              <a:rPr lang="en-US" smtClean="0"/>
              <a:t>1/25/25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61EA0F-A667-4B49-8422-0062BC55E249}" type="slidenum">
              <a:rPr lang="en-US" smtClean="0"/>
              <a:t>‹#›</a:t>
            </a:fld>
            <a:endParaRPr lang="en-US" dirty="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F61EA0F-A667-4B49-8422-0062BC55E249}" type="slidenum">
              <a:rPr lang="en-US" smtClean="0"/>
              <a:t>1</a:t>
            </a:fld>
            <a:endParaRPr lang="en-US" dirty="0"/>
          </a:p>
        </p:txBody>
      </p:sp>
    </p:spTree>
    <p:extLst>
      <p:ext uri="{BB962C8B-B14F-4D97-AF65-F5344CB8AC3E}">
        <p14:creationId xmlns:p14="http://schemas.microsoft.com/office/powerpoint/2010/main" val="1011769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Rectangle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 name="Title 1"/>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9" name="Rectangle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cxnSp>
        <p:nvCxnSpPr>
          <p:cNvPr id="12" name="Straight Connector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Title 3"/>
          <p:cNvSpPr>
            <a:spLocks noGrp="1"/>
          </p:cNvSpPr>
          <p:nvPr>
            <p:ph type="title"/>
          </p:nvPr>
        </p:nvSpPr>
        <p:spPr>
          <a:xfrm>
            <a:off x="521207" y="448056"/>
            <a:ext cx="6877119" cy="640080"/>
          </a:xfrm>
        </p:spPr>
        <p:txBody>
          <a:bodyPr anchor="b" anchorCtr="0">
            <a:normAutofit/>
          </a:bodyPr>
          <a:lstStyle>
            <a:lvl1pPr>
              <a:defRPr sz="2800">
                <a:solidFill>
                  <a:schemeClr val="bg2">
                    <a:lumMod val="25000"/>
                  </a:schemeClr>
                </a:solidFill>
              </a:defRPr>
            </a:lvl1pPr>
          </a:lstStyle>
          <a:p>
            <a:r>
              <a:rPr lang="en-US"/>
              <a:t>Click to edit Master title style</a:t>
            </a:r>
            <a:endParaRPr lang="en-US" dirty="0"/>
          </a:p>
        </p:txBody>
      </p:sp>
      <p:sp>
        <p:nvSpPr>
          <p:cNvPr id="3" name="Content Placeholder 2"/>
          <p:cNvSpPr>
            <a:spLocks noGrp="1"/>
          </p:cNvSpPr>
          <p:nvPr>
            <p:ph sz="quarter" idx="10"/>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defRPr>
            </a:lvl1pPr>
            <a:lvl2pPr>
              <a:defRPr lang="en-US" sz="1200" smtClean="0">
                <a:solidFill>
                  <a:schemeClr val="tx1">
                    <a:lumMod val="75000"/>
                    <a:lumOff val="25000"/>
                  </a:schemeClr>
                </a:solidFill>
              </a:defRPr>
            </a:lvl2pPr>
            <a:lvl3pPr>
              <a:defRPr lang="en-US" sz="1200" smtClean="0">
                <a:solidFill>
                  <a:schemeClr val="tx1">
                    <a:lumMod val="75000"/>
                    <a:lumOff val="25000"/>
                  </a:schemeClr>
                </a:solidFill>
              </a:defRPr>
            </a:lvl3pPr>
            <a:lvl4pPr>
              <a:defRPr lang="en-US" sz="1200" smtClean="0">
                <a:solidFill>
                  <a:schemeClr val="tx1">
                    <a:lumMod val="75000"/>
                    <a:lumOff val="25000"/>
                  </a:schemeClr>
                </a:solidFill>
              </a:defRPr>
            </a:lvl4pPr>
            <a:lvl5pPr>
              <a:defRPr lang="en-US" sz="1200">
                <a:solidFill>
                  <a:schemeClr val="tx1">
                    <a:lumMod val="75000"/>
                    <a:lumOff val="25000"/>
                  </a:schemeClr>
                </a:solidFill>
              </a:defRPr>
            </a:lvl5pPr>
          </a:lstStyle>
          <a:p>
            <a:pPr marL="0" lvl="0" indent="0">
              <a:lnSpc>
                <a:spcPct val="150000"/>
              </a:lnSpc>
              <a:spcBef>
                <a:spcPts val="1000"/>
              </a:spcBef>
              <a:spcAft>
                <a:spcPts val="1200"/>
              </a:spcAft>
              <a:buNone/>
            </a:pPr>
            <a:r>
              <a:rPr lang="en-US"/>
              <a:t>Edit Master text styles</a:t>
            </a:r>
          </a:p>
          <a:p>
            <a:pPr marL="0" lvl="1" indent="0">
              <a:lnSpc>
                <a:spcPct val="150000"/>
              </a:lnSpc>
              <a:spcBef>
                <a:spcPts val="1000"/>
              </a:spcBef>
              <a:spcAft>
                <a:spcPts val="1200"/>
              </a:spcAft>
              <a:buNone/>
            </a:pPr>
            <a:r>
              <a:rPr lang="en-US"/>
              <a:t>Second level</a:t>
            </a:r>
          </a:p>
          <a:p>
            <a:pPr marL="0" lvl="2" indent="0">
              <a:lnSpc>
                <a:spcPct val="150000"/>
              </a:lnSpc>
              <a:spcBef>
                <a:spcPts val="1000"/>
              </a:spcBef>
              <a:spcAft>
                <a:spcPts val="1200"/>
              </a:spcAft>
              <a:buNone/>
            </a:pPr>
            <a:r>
              <a:rPr lang="en-US"/>
              <a:t>Third level</a:t>
            </a:r>
          </a:p>
          <a:p>
            <a:pPr marL="0" lvl="3" indent="0">
              <a:lnSpc>
                <a:spcPct val="150000"/>
              </a:lnSpc>
              <a:spcBef>
                <a:spcPts val="1000"/>
              </a:spcBef>
              <a:spcAft>
                <a:spcPts val="1200"/>
              </a:spcAft>
              <a:buNone/>
            </a:pPr>
            <a:r>
              <a:rPr lang="en-US"/>
              <a:t>Fourth level</a:t>
            </a:r>
          </a:p>
          <a:p>
            <a:pPr marL="0" lvl="4" indent="0">
              <a:lnSpc>
                <a:spcPct val="150000"/>
              </a:lnSpc>
              <a:spcBef>
                <a:spcPts val="1000"/>
              </a:spcBef>
              <a:spcAft>
                <a:spcPts val="1200"/>
              </a:spcAft>
              <a:buNone/>
            </a:pPr>
            <a:r>
              <a:rPr lang="en-US"/>
              <a:t>Fifth level</a:t>
            </a:r>
            <a:endParaRPr lang="en-US" dirty="0"/>
          </a:p>
        </p:txBody>
      </p:sp>
      <p:sp>
        <p:nvSpPr>
          <p:cNvPr id="6" name="Date Placeholder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fld id="{8BEEBAAA-29B5-4AF5-BC5F-7E580C29002D}" type="datetimeFigureOut">
              <a:rPr lang="en-US" smtClean="0"/>
              <a:pPr/>
              <a:t>1/25/25</a:t>
            </a:fld>
            <a:endParaRPr lang="en-US" dirty="0"/>
          </a:p>
        </p:txBody>
      </p:sp>
      <p:sp>
        <p:nvSpPr>
          <p:cNvPr id="7" name="Footer Placeholder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endParaRPr lang="en-US" dirty="0"/>
          </a:p>
        </p:txBody>
      </p:sp>
      <p:sp>
        <p:nvSpPr>
          <p:cNvPr id="8" name="Slide Number Placeholder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9" name="Rectangle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0" name="Rectangle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 name="Title 1"/>
          <p:cNvSpPr>
            <a:spLocks noGrp="1"/>
          </p:cNvSpPr>
          <p:nvPr>
            <p:ph type="title"/>
          </p:nvPr>
        </p:nvSpPr>
        <p:spPr>
          <a:xfrm>
            <a:off x="521208" y="1536192"/>
            <a:ext cx="6876288" cy="640080"/>
          </a:xfrm>
        </p:spPr>
        <p:txBody>
          <a:bodyPr>
            <a:normAutofit/>
          </a:bodyPr>
          <a:lstStyle>
            <a:lvl1pPr>
              <a:defRPr sz="3600">
                <a:solidFill>
                  <a:schemeClr val="bg1"/>
                </a:solidFill>
              </a:defRPr>
            </a:lvl1pPr>
          </a:lstStyle>
          <a:p>
            <a:r>
              <a:rPr lang="en-US"/>
              <a:t>Click to edit Master title style</a:t>
            </a:r>
            <a:endParaRPr lang="en-US" dirty="0"/>
          </a:p>
        </p:txBody>
      </p:sp>
      <p:sp>
        <p:nvSpPr>
          <p:cNvPr id="7" name="Content Placeholder 6"/>
          <p:cNvSpPr>
            <a:spLocks noGrp="1"/>
          </p:cNvSpPr>
          <p:nvPr>
            <p:ph sz="quarter" idx="13"/>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mj-lt"/>
              </a:defRPr>
            </a:lvl1pPr>
            <a:lvl2pPr>
              <a:defRPr lang="en-US" sz="1200" dirty="0" smtClean="0">
                <a:solidFill>
                  <a:schemeClr val="tx1">
                    <a:lumMod val="75000"/>
                    <a:lumOff val="25000"/>
                  </a:schemeClr>
                </a:solidFill>
              </a:defRPr>
            </a:lvl2pPr>
            <a:lvl3pPr>
              <a:defRPr lang="en-US" sz="1200" dirty="0" smtClean="0">
                <a:solidFill>
                  <a:schemeClr val="tx1">
                    <a:lumMod val="75000"/>
                    <a:lumOff val="25000"/>
                  </a:schemeClr>
                </a:solidFill>
              </a:defRPr>
            </a:lvl3pPr>
            <a:lvl4pPr>
              <a:defRPr lang="en-US" sz="1200" dirty="0" smtClean="0">
                <a:solidFill>
                  <a:schemeClr val="tx1">
                    <a:lumMod val="75000"/>
                    <a:lumOff val="25000"/>
                  </a:schemeClr>
                </a:solidFill>
              </a:defRPr>
            </a:lvl4pPr>
            <a:lvl5pPr>
              <a:defRPr lang="en-US" sz="1200" dirty="0">
                <a:solidFill>
                  <a:schemeClr val="tx1">
                    <a:lumMod val="75000"/>
                    <a:lumOff val="25000"/>
                  </a:schemeClr>
                </a:solidFill>
              </a:defRPr>
            </a:lvl5pPr>
          </a:lstStyle>
          <a:p>
            <a:pPr marL="0" lvl="0" indent="0">
              <a:lnSpc>
                <a:spcPct val="150000"/>
              </a:lnSpc>
              <a:spcBef>
                <a:spcPts val="1000"/>
              </a:spcBef>
              <a:spcAft>
                <a:spcPts val="1200"/>
              </a:spcAft>
              <a:buNone/>
            </a:pPr>
            <a:r>
              <a:rPr lang="en-US"/>
              <a:t>Edit Master text styles</a:t>
            </a:r>
          </a:p>
          <a:p>
            <a:pPr marL="0" lvl="1" indent="0">
              <a:lnSpc>
                <a:spcPct val="150000"/>
              </a:lnSpc>
              <a:spcBef>
                <a:spcPts val="1000"/>
              </a:spcBef>
              <a:spcAft>
                <a:spcPts val="1200"/>
              </a:spcAft>
              <a:buNone/>
            </a:pPr>
            <a:r>
              <a:rPr lang="en-US"/>
              <a:t>Second level</a:t>
            </a:r>
          </a:p>
          <a:p>
            <a:pPr marL="0" lvl="2" indent="0">
              <a:lnSpc>
                <a:spcPct val="150000"/>
              </a:lnSpc>
              <a:spcBef>
                <a:spcPts val="1000"/>
              </a:spcBef>
              <a:spcAft>
                <a:spcPts val="1200"/>
              </a:spcAft>
              <a:buNone/>
            </a:pPr>
            <a:r>
              <a:rPr lang="en-US"/>
              <a:t>Third level</a:t>
            </a:r>
          </a:p>
          <a:p>
            <a:pPr marL="0" lvl="3" indent="0">
              <a:lnSpc>
                <a:spcPct val="150000"/>
              </a:lnSpc>
              <a:spcBef>
                <a:spcPts val="1000"/>
              </a:spcBef>
              <a:spcAft>
                <a:spcPts val="1200"/>
              </a:spcAft>
              <a:buNone/>
            </a:pPr>
            <a:r>
              <a:rPr lang="en-US"/>
              <a:t>Fourth level</a:t>
            </a:r>
          </a:p>
          <a:p>
            <a:pPr marL="0" lvl="4" indent="0">
              <a:lnSpc>
                <a:spcPct val="150000"/>
              </a:lnSpc>
              <a:spcBef>
                <a:spcPts val="1000"/>
              </a:spcBef>
              <a:spcAft>
                <a:spcPts val="1200"/>
              </a:spcAft>
              <a:buNone/>
            </a:pPr>
            <a:r>
              <a:rPr lang="en-US"/>
              <a:t>Fifth level</a:t>
            </a:r>
            <a:endParaRPr lang="en-US" dirty="0"/>
          </a:p>
        </p:txBody>
      </p:sp>
    </p:spTree>
    <p:extLst>
      <p:ext uri="{BB962C8B-B14F-4D97-AF65-F5344CB8AC3E}">
        <p14:creationId xmlns:p14="http://schemas.microsoft.com/office/powerpoint/2010/main" val="133565553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sp>
        <p:nvSpPr>
          <p:cNvPr id="2" name="Title Placeholder 1"/>
          <p:cNvSpPr>
            <a:spLocks noGrp="1"/>
          </p:cNvSpPr>
          <p:nvPr>
            <p:ph type="title"/>
          </p:nvPr>
        </p:nvSpPr>
        <p:spPr>
          <a:xfrm>
            <a:off x="521208" y="448056"/>
            <a:ext cx="6876288" cy="640080"/>
          </a:xfrm>
          <a:prstGeom prst="rect">
            <a:avLst/>
          </a:prstGeom>
        </p:spPr>
        <p:txBody>
          <a:bodyPr vert="horz" lIns="91440" tIns="45720" rIns="91440" bIns="45720" rtlCol="0" anchor="b" anchorCtr="0">
            <a:normAutofit/>
          </a:bodyPr>
          <a:lstStyle/>
          <a:p>
            <a:r>
              <a:rPr lang="en-US"/>
              <a:t>Click to edit Master title style</a:t>
            </a:r>
            <a:endParaRPr lang="en-US" dirty="0"/>
          </a:p>
        </p:txBody>
      </p:sp>
      <p:sp>
        <p:nvSpPr>
          <p:cNvPr id="3" name="Text Placeholder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fld id="{8BEEBAAA-29B5-4AF5-BC5F-7E580C29002D}" type="datetimeFigureOut">
              <a:rPr lang="en-US" smtClean="0"/>
              <a:pPr/>
              <a:t>1/25/25</a:t>
            </a:fld>
            <a:endParaRPr lang="en-US" dirty="0"/>
          </a:p>
        </p:txBody>
      </p:sp>
      <p:sp>
        <p:nvSpPr>
          <p:cNvPr id="5" name="Footer Placeholder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endParaRPr lang="en-US" dirty="0"/>
          </a:p>
        </p:txBody>
      </p:sp>
      <p:sp>
        <p:nvSpPr>
          <p:cNvPr id="6" name="Slide Number Placeholder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fld id="{9860EDB8-5305-433F-BE41-D7A86D811DB3}" type="slidenum">
              <a:rPr lang="en-US" smtClean="0"/>
              <a:pPr/>
              <a:t>‹#›</a:t>
            </a:fld>
            <a:endParaRPr lang="en-US" dirty="0"/>
          </a:p>
        </p:txBody>
      </p:sp>
      <p:cxnSp>
        <p:nvCxnSpPr>
          <p:cNvPr id="8" name="Straight Connector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txStyles>
    <p:titleStyle>
      <a:lvl1pPr algn="l" defTabSz="914400" rtl="0" eaLnBrk="1" latinLnBrk="0" hangingPunct="1">
        <a:spcBef>
          <a:spcPct val="0"/>
        </a:spcBef>
        <a:buNone/>
        <a:defRPr sz="2800" kern="1200">
          <a:solidFill>
            <a:schemeClr val="tx1"/>
          </a:solidFill>
          <a:latin typeface="+mj-lt"/>
          <a:ea typeface="+mj-ea"/>
          <a:cs typeface="+mj-cs"/>
        </a:defRPr>
      </a:lvl1pPr>
    </p:titleStyle>
    <p:bodyStyle>
      <a:lvl1pPr marL="0" indent="0" algn="l" defTabSz="914400" rtl="0" eaLnBrk="1" latinLnBrk="0" hangingPunct="1">
        <a:lnSpc>
          <a:spcPct val="150000"/>
        </a:lnSpc>
        <a:spcBef>
          <a:spcPts val="1000"/>
        </a:spcBef>
        <a:spcAft>
          <a:spcPts val="1200"/>
        </a:spcAft>
        <a:buFontTx/>
        <a:buNone/>
        <a:defRPr lang="en-US" sz="1200" kern="1200" dirty="0">
          <a:solidFill>
            <a:schemeClr val="tx1"/>
          </a:solidFill>
          <a:latin typeface="+mn-lt"/>
          <a:ea typeface="+mn-ea"/>
          <a:cs typeface="+mn-cs"/>
        </a:defRPr>
      </a:lvl1pPr>
      <a:lvl2pPr marL="228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2pPr>
      <a:lvl3pPr marL="685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3pPr>
      <a:lvl4pPr marL="11430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4pPr>
      <a:lvl5pPr marL="16002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38200" y="1164324"/>
            <a:ext cx="10515600" cy="2387600"/>
          </a:xfrm>
        </p:spPr>
        <p:txBody>
          <a:bodyPr anchor="ctr" anchorCtr="0">
            <a:normAutofit/>
          </a:bodyPr>
          <a:lstStyle/>
          <a:p>
            <a:r>
              <a:rPr lang="en-US" sz="4800" dirty="0">
                <a:solidFill>
                  <a:schemeClr val="bg1"/>
                </a:solidFill>
              </a:rPr>
              <a:t>ECE 157B/272B Homework 2</a:t>
            </a:r>
          </a:p>
        </p:txBody>
      </p:sp>
      <p:sp>
        <p:nvSpPr>
          <p:cNvPr id="3" name="Subtitle 2"/>
          <p:cNvSpPr>
            <a:spLocks noGrp="1"/>
          </p:cNvSpPr>
          <p:nvPr>
            <p:ph type="subTitle" idx="4294967295"/>
          </p:nvPr>
        </p:nvSpPr>
        <p:spPr>
          <a:xfrm>
            <a:off x="855620" y="2933105"/>
            <a:ext cx="9582736" cy="1137793"/>
          </a:xfrm>
        </p:spPr>
        <p:txBody>
          <a:bodyPr>
            <a:normAutofit/>
          </a:bodyPr>
          <a:lstStyle/>
          <a:p>
            <a:pPr marL="0" indent="0">
              <a:buNone/>
            </a:pPr>
            <a:r>
              <a:rPr lang="en-US" sz="2400" dirty="0">
                <a:solidFill>
                  <a:schemeClr val="bg1"/>
                </a:solidFill>
                <a:latin typeface="+mj-lt"/>
              </a:rPr>
              <a:t>YOUR NAME</a:t>
            </a:r>
          </a:p>
        </p:txBody>
      </p:sp>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521207" y="448056"/>
            <a:ext cx="10612231" cy="640080"/>
          </a:xfrm>
        </p:spPr>
        <p:txBody>
          <a:bodyPr>
            <a:noAutofit/>
          </a:bodyPr>
          <a:lstStyle/>
          <a:p>
            <a:r>
              <a:rPr lang="en-US" dirty="0">
                <a:latin typeface="Segoe UI Light" panose="020B0502040204020203" pitchFamily="34" charset="0"/>
                <a:cs typeface="Segoe UI Light" panose="020B0502040204020203" pitchFamily="34" charset="0"/>
              </a:rPr>
              <a:t>🤗 QA Tasks – “</a:t>
            </a:r>
            <a:r>
              <a:rPr lang="en-US" dirty="0"/>
              <a:t>What dataset is used in this tutorial?”</a:t>
            </a:r>
            <a:endParaRPr lang="en-US" dirty="0">
              <a:latin typeface="Segoe UI Light" panose="020B0502040204020203" pitchFamily="34" charset="0"/>
              <a:cs typeface="Segoe UI Light" panose="020B0502040204020203" pitchFamily="34" charset="0"/>
            </a:endParaRPr>
          </a:p>
        </p:txBody>
      </p:sp>
      <p:pic>
        <p:nvPicPr>
          <p:cNvPr id="3" name="Picture 2">
            <a:extLst>
              <a:ext uri="{FF2B5EF4-FFF2-40B4-BE49-F238E27FC236}">
                <a16:creationId xmlns:a16="http://schemas.microsoft.com/office/drawing/2014/main" id="{EC60DD8E-74E0-4350-8220-6C0D217D7929}"/>
              </a:ext>
            </a:extLst>
          </p:cNvPr>
          <p:cNvPicPr>
            <a:picLocks noChangeAspect="1"/>
          </p:cNvPicPr>
          <p:nvPr/>
        </p:nvPicPr>
        <p:blipFill>
          <a:blip r:embed="rId2"/>
          <a:stretch>
            <a:fillRect/>
          </a:stretch>
        </p:blipFill>
        <p:spPr>
          <a:xfrm>
            <a:off x="1928005" y="4094106"/>
            <a:ext cx="5359675" cy="234962"/>
          </a:xfrm>
          <a:prstGeom prst="rect">
            <a:avLst/>
          </a:prstGeom>
        </p:spPr>
      </p:pic>
      <p:pic>
        <p:nvPicPr>
          <p:cNvPr id="4" name="Picture 3">
            <a:extLst>
              <a:ext uri="{FF2B5EF4-FFF2-40B4-BE49-F238E27FC236}">
                <a16:creationId xmlns:a16="http://schemas.microsoft.com/office/drawing/2014/main" id="{6DCE97C6-76E6-49A6-948E-81D1F6D31D54}"/>
              </a:ext>
            </a:extLst>
          </p:cNvPr>
          <p:cNvPicPr>
            <a:picLocks noChangeAspect="1"/>
          </p:cNvPicPr>
          <p:nvPr/>
        </p:nvPicPr>
        <p:blipFill>
          <a:blip r:embed="rId3"/>
          <a:stretch>
            <a:fillRect/>
          </a:stretch>
        </p:blipFill>
        <p:spPr>
          <a:xfrm>
            <a:off x="1927190" y="2245391"/>
            <a:ext cx="6559887" cy="1289116"/>
          </a:xfrm>
          <a:prstGeom prst="rect">
            <a:avLst/>
          </a:prstGeom>
        </p:spPr>
      </p:pic>
      <p:pic>
        <p:nvPicPr>
          <p:cNvPr id="9" name="Picture 8">
            <a:extLst>
              <a:ext uri="{FF2B5EF4-FFF2-40B4-BE49-F238E27FC236}">
                <a16:creationId xmlns:a16="http://schemas.microsoft.com/office/drawing/2014/main" id="{7E603E89-C3D0-DD7C-70AD-C7CE7A13550D}"/>
              </a:ext>
            </a:extLst>
          </p:cNvPr>
          <p:cNvPicPr>
            <a:picLocks noChangeAspect="1"/>
          </p:cNvPicPr>
          <p:nvPr/>
        </p:nvPicPr>
        <p:blipFill>
          <a:blip r:embed="rId4"/>
          <a:stretch>
            <a:fillRect/>
          </a:stretch>
        </p:blipFill>
        <p:spPr>
          <a:xfrm>
            <a:off x="1927190" y="4928962"/>
            <a:ext cx="7772400" cy="490151"/>
          </a:xfrm>
          <a:prstGeom prst="rect">
            <a:avLst/>
          </a:prstGeom>
        </p:spPr>
      </p:pic>
      <p:sp>
        <p:nvSpPr>
          <p:cNvPr id="7" name="TextBox 6">
            <a:extLst>
              <a:ext uri="{FF2B5EF4-FFF2-40B4-BE49-F238E27FC236}">
                <a16:creationId xmlns:a16="http://schemas.microsoft.com/office/drawing/2014/main" id="{B93DE478-9821-4861-96F0-C318AD38750E}"/>
              </a:ext>
            </a:extLst>
          </p:cNvPr>
          <p:cNvSpPr txBox="1"/>
          <p:nvPr/>
        </p:nvSpPr>
        <p:spPr>
          <a:xfrm rot="19787601">
            <a:off x="2553531" y="2431684"/>
            <a:ext cx="5682343" cy="2308324"/>
          </a:xfrm>
          <a:prstGeom prst="rect">
            <a:avLst/>
          </a:prstGeom>
          <a:noFill/>
        </p:spPr>
        <p:txBody>
          <a:bodyPr wrap="square" rtlCol="0">
            <a:spAutoFit/>
          </a:bodyPr>
          <a:lstStyle/>
          <a:p>
            <a:r>
              <a:rPr lang="en-US" sz="4800" b="1" dirty="0">
                <a:solidFill>
                  <a:srgbClr val="FF0000"/>
                </a:solidFill>
              </a:rPr>
              <a:t>Example Slide. Replace with your own content.</a:t>
            </a:r>
          </a:p>
        </p:txBody>
      </p:sp>
      <p:sp>
        <p:nvSpPr>
          <p:cNvPr id="6" name="TextBox 5">
            <a:extLst>
              <a:ext uri="{FF2B5EF4-FFF2-40B4-BE49-F238E27FC236}">
                <a16:creationId xmlns:a16="http://schemas.microsoft.com/office/drawing/2014/main" id="{47E6351A-BDE3-D887-E851-4807CD300FAC}"/>
              </a:ext>
            </a:extLst>
          </p:cNvPr>
          <p:cNvSpPr txBox="1"/>
          <p:nvPr/>
        </p:nvSpPr>
        <p:spPr>
          <a:xfrm>
            <a:off x="623455" y="1413164"/>
            <a:ext cx="11239994" cy="5586145"/>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My answer: </a:t>
            </a:r>
            <a:endParaRPr lang="en-US" dirty="0">
              <a:solidFill>
                <a:schemeClr val="accent1"/>
              </a:solidFill>
              <a:latin typeface="Segoe UI" panose="020B0502040204020203" pitchFamily="34" charset="0"/>
              <a:cs typeface="Segoe UI" panose="020B0502040204020203" pitchFamily="34" charset="0"/>
            </a:endParaRPr>
          </a:p>
          <a:p>
            <a:pPr lvl="0">
              <a:spcAft>
                <a:spcPts val="600"/>
              </a:spcAft>
              <a:defRPr/>
            </a:pPr>
            <a:r>
              <a:rPr lang="en-US" dirty="0">
                <a:latin typeface="Segoe UI" panose="020B0502040204020203" pitchFamily="34" charset="0"/>
                <a:cs typeface="Segoe UI" panose="020B0502040204020203" pitchFamily="34" charset="0"/>
              </a:rPr>
              <a:t>	</a:t>
            </a:r>
            <a:r>
              <a:rPr lang="en-US" dirty="0">
                <a:solidFill>
                  <a:schemeClr val="accent1"/>
                </a:solidFill>
                <a:latin typeface="Segoe UI" panose="020B0502040204020203" pitchFamily="34" charset="0"/>
                <a:cs typeface="Segoe UI" panose="020B0502040204020203" pitchFamily="34" charset="0"/>
              </a:rPr>
              <a:t> </a:t>
            </a:r>
            <a:r>
              <a:rPr lang="en-US" dirty="0" err="1">
                <a:solidFill>
                  <a:schemeClr val="accent1"/>
                </a:solidFill>
                <a:latin typeface="Segoe UI" panose="020B0502040204020203" pitchFamily="34" charset="0"/>
                <a:cs typeface="Segoe UI" panose="020B0502040204020203" pitchFamily="34" charset="0"/>
              </a:rPr>
              <a:t>SQuAD</a:t>
            </a:r>
            <a:endParaRPr lang="en-US" dirty="0">
              <a:latin typeface="Segoe UI" panose="020B0502040204020203" pitchFamily="34" charset="0"/>
              <a:cs typeface="Segoe UI" panose="020B0502040204020203" pitchFamily="34" charset="0"/>
            </a:endParaRPr>
          </a:p>
          <a:p>
            <a:pPr lvl="0">
              <a:spcAft>
                <a:spcPts val="600"/>
              </a:spcAft>
              <a:defRPr/>
            </a:pPr>
            <a:r>
              <a:rPr lang="en-US" dirty="0">
                <a:latin typeface="Consolas" panose="020B0609020204030204" pitchFamily="49" charset="0"/>
              </a:rPr>
              <a:t>Context: </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Model Output Screenshot:</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a:spcAft>
                <a:spcPts val="600"/>
              </a:spcAft>
              <a:defRPr/>
            </a:pPr>
            <a:r>
              <a:rPr lang="en-US" dirty="0">
                <a:latin typeface="Consolas" panose="020B0609020204030204" pitchFamily="49" charset="0"/>
              </a:rPr>
              <a:t>RAG Output Screenshot:</a:t>
            </a:r>
            <a:endParaRPr lang="en-US" sz="1600" dirty="0">
              <a:latin typeface="Segoe UI" panose="020B0502040204020203" pitchFamily="34" charset="0"/>
              <a:cs typeface="Segoe UI" panose="020B0502040204020203" pitchFamily="34"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Comment on Both Model’s Answer:</a:t>
            </a:r>
          </a:p>
          <a:p>
            <a:pPr>
              <a:spcAft>
                <a:spcPts val="600"/>
              </a:spcAft>
              <a:defRPr/>
            </a:pPr>
            <a:r>
              <a:rPr lang="en-US" sz="1600" i="1" dirty="0">
                <a:solidFill>
                  <a:schemeClr val="accent1"/>
                </a:solidFill>
                <a:latin typeface="Segoe UI" panose="020B0502040204020203" pitchFamily="34" charset="0"/>
                <a:cs typeface="Segoe UI" panose="020B0502040204020203" pitchFamily="34" charset="0"/>
              </a:rPr>
              <a:t>	</a:t>
            </a:r>
            <a:r>
              <a:rPr lang="en-US" sz="1600" i="1" dirty="0">
                <a:solidFill>
                  <a:schemeClr val="accent1"/>
                </a:solidFill>
              </a:rPr>
              <a:t>The model’s answer is correct and it’s short and concise.</a:t>
            </a: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4576161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16D6597-23A6-49B1-AE5E-BA6428456E4F}"/>
              </a:ext>
            </a:extLst>
          </p:cNvPr>
          <p:cNvSpPr txBox="1"/>
          <p:nvPr/>
        </p:nvSpPr>
        <p:spPr>
          <a:xfrm>
            <a:off x="623455" y="1413164"/>
            <a:ext cx="11239994" cy="5586145"/>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My answer: </a:t>
            </a:r>
            <a:endParaRPr lang="en-US" dirty="0">
              <a:solidFill>
                <a:schemeClr val="accent1"/>
              </a:solidFill>
              <a:latin typeface="Segoe UI" panose="020B0502040204020203" pitchFamily="34" charset="0"/>
              <a:cs typeface="Segoe UI" panose="020B0502040204020203" pitchFamily="34" charset="0"/>
            </a:endParaRPr>
          </a:p>
          <a:p>
            <a:pPr lvl="0">
              <a:spcAft>
                <a:spcPts val="600"/>
              </a:spcAft>
              <a:defRPr/>
            </a:pPr>
            <a:endParaRPr lang="en-US" dirty="0">
              <a:latin typeface="Segoe UI" panose="020B0502040204020203" pitchFamily="34" charset="0"/>
              <a:cs typeface="Segoe UI" panose="020B0502040204020203" pitchFamily="34" charset="0"/>
            </a:endParaRPr>
          </a:p>
          <a:p>
            <a:pPr lvl="0">
              <a:spcAft>
                <a:spcPts val="600"/>
              </a:spcAft>
              <a:defRPr/>
            </a:pPr>
            <a:r>
              <a:rPr lang="en-US" dirty="0">
                <a:latin typeface="Consolas" panose="020B0609020204030204" pitchFamily="49" charset="0"/>
              </a:rPr>
              <a:t>Context: </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Model Output Screenshot:</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a:spcAft>
                <a:spcPts val="600"/>
              </a:spcAft>
              <a:defRPr/>
            </a:pPr>
            <a:r>
              <a:rPr lang="en-US" dirty="0">
                <a:latin typeface="Consolas" panose="020B0609020204030204" pitchFamily="49" charset="0"/>
              </a:rPr>
              <a:t>RAG Output Screenshot:</a:t>
            </a:r>
            <a:endParaRPr lang="en-US" sz="1600" dirty="0">
              <a:latin typeface="Segoe UI" panose="020B0502040204020203" pitchFamily="34" charset="0"/>
              <a:cs typeface="Segoe UI" panose="020B0502040204020203" pitchFamily="34"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Comment on Both Model’s Answer:</a:t>
            </a: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p:txBody>
      </p:sp>
      <p:sp>
        <p:nvSpPr>
          <p:cNvPr id="8" name="Title 7"/>
          <p:cNvSpPr>
            <a:spLocks noGrp="1"/>
          </p:cNvSpPr>
          <p:nvPr>
            <p:ph type="title"/>
          </p:nvPr>
        </p:nvSpPr>
        <p:spPr>
          <a:xfrm>
            <a:off x="521207" y="448056"/>
            <a:ext cx="10612231" cy="640080"/>
          </a:xfrm>
        </p:spPr>
        <p:txBody>
          <a:bodyPr>
            <a:noAutofit/>
          </a:bodyPr>
          <a:lstStyle/>
          <a:p>
            <a:r>
              <a:rPr lang="en-US" sz="2400" dirty="0">
                <a:latin typeface="Segoe UI Light" panose="020B0502040204020203" pitchFamily="34" charset="0"/>
                <a:cs typeface="Segoe UI Light" panose="020B0502040204020203" pitchFamily="34" charset="0"/>
              </a:rPr>
              <a:t>🤗 QA Tasks – “</a:t>
            </a:r>
            <a:r>
              <a:rPr lang="en-US" sz="2400" dirty="0"/>
              <a:t>What is tricky about processing the answer field of the dataset?”</a:t>
            </a:r>
            <a:endParaRPr lang="en-US" sz="24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65185241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521207" y="448056"/>
            <a:ext cx="10612231" cy="640080"/>
          </a:xfrm>
        </p:spPr>
        <p:txBody>
          <a:bodyPr>
            <a:noAutofit/>
          </a:bodyPr>
          <a:lstStyle/>
          <a:p>
            <a:r>
              <a:rPr lang="en-US" dirty="0">
                <a:latin typeface="Segoe UI Light" panose="020B0502040204020203" pitchFamily="34" charset="0"/>
                <a:cs typeface="Segoe UI Light" panose="020B0502040204020203" pitchFamily="34" charset="0"/>
              </a:rPr>
              <a:t>🤗 QA Tasks – “</a:t>
            </a:r>
            <a:r>
              <a:rPr lang="en-US" dirty="0"/>
              <a:t>How are the labels for the answer formatted?”</a:t>
            </a:r>
            <a:endParaRPr lang="en-US" dirty="0">
              <a:latin typeface="Segoe UI Light" panose="020B0502040204020203" pitchFamily="34" charset="0"/>
              <a:cs typeface="Segoe UI Light" panose="020B0502040204020203" pitchFamily="34" charset="0"/>
            </a:endParaRPr>
          </a:p>
        </p:txBody>
      </p:sp>
      <p:sp>
        <p:nvSpPr>
          <p:cNvPr id="2" name="TextBox 1">
            <a:extLst>
              <a:ext uri="{FF2B5EF4-FFF2-40B4-BE49-F238E27FC236}">
                <a16:creationId xmlns:a16="http://schemas.microsoft.com/office/drawing/2014/main" id="{710A8523-15E1-F56A-5A8C-A5FFA522615E}"/>
              </a:ext>
            </a:extLst>
          </p:cNvPr>
          <p:cNvSpPr txBox="1"/>
          <p:nvPr/>
        </p:nvSpPr>
        <p:spPr>
          <a:xfrm>
            <a:off x="623455" y="1413164"/>
            <a:ext cx="11239994" cy="5586145"/>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My answer: </a:t>
            </a:r>
            <a:endParaRPr lang="en-US" dirty="0">
              <a:solidFill>
                <a:schemeClr val="accent1"/>
              </a:solidFill>
              <a:latin typeface="Segoe UI" panose="020B0502040204020203" pitchFamily="34" charset="0"/>
              <a:cs typeface="Segoe UI" panose="020B0502040204020203" pitchFamily="34" charset="0"/>
            </a:endParaRPr>
          </a:p>
          <a:p>
            <a:pPr lvl="0">
              <a:spcAft>
                <a:spcPts val="600"/>
              </a:spcAft>
              <a:defRPr/>
            </a:pPr>
            <a:endParaRPr lang="en-US" dirty="0">
              <a:latin typeface="Segoe UI" panose="020B0502040204020203" pitchFamily="34" charset="0"/>
              <a:cs typeface="Segoe UI" panose="020B0502040204020203" pitchFamily="34" charset="0"/>
            </a:endParaRPr>
          </a:p>
          <a:p>
            <a:pPr lvl="0">
              <a:spcAft>
                <a:spcPts val="600"/>
              </a:spcAft>
              <a:defRPr/>
            </a:pPr>
            <a:r>
              <a:rPr lang="en-US" dirty="0">
                <a:latin typeface="Consolas" panose="020B0609020204030204" pitchFamily="49" charset="0"/>
              </a:rPr>
              <a:t>Context: </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Model Output Screenshot:</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a:spcAft>
                <a:spcPts val="600"/>
              </a:spcAft>
              <a:defRPr/>
            </a:pPr>
            <a:r>
              <a:rPr lang="en-US" dirty="0">
                <a:latin typeface="Consolas" panose="020B0609020204030204" pitchFamily="49" charset="0"/>
              </a:rPr>
              <a:t>RAG Output Screenshot:</a:t>
            </a:r>
            <a:endParaRPr lang="en-US" sz="1600" dirty="0">
              <a:latin typeface="Segoe UI" panose="020B0502040204020203" pitchFamily="34" charset="0"/>
              <a:cs typeface="Segoe UI" panose="020B0502040204020203" pitchFamily="34"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Comment on Both Model’s Answer:</a:t>
            </a: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40475097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521207" y="448056"/>
            <a:ext cx="10612231" cy="640080"/>
          </a:xfrm>
        </p:spPr>
        <p:txBody>
          <a:bodyPr>
            <a:noAutofit/>
          </a:bodyPr>
          <a:lstStyle/>
          <a:p>
            <a:r>
              <a:rPr lang="en-US" dirty="0">
                <a:latin typeface="Segoe UI Light" panose="020B0502040204020203" pitchFamily="34" charset="0"/>
                <a:cs typeface="Segoe UI Light" panose="020B0502040204020203" pitchFamily="34" charset="0"/>
              </a:rPr>
              <a:t>🤗 QA Tasks – “</a:t>
            </a:r>
            <a:r>
              <a:rPr lang="en-US" dirty="0"/>
              <a:t>What type of tokenizer is needed?”</a:t>
            </a:r>
            <a:endParaRPr lang="en-US" dirty="0">
              <a:latin typeface="Segoe UI Light" panose="020B0502040204020203" pitchFamily="34" charset="0"/>
              <a:cs typeface="Segoe UI Light" panose="020B0502040204020203" pitchFamily="34" charset="0"/>
            </a:endParaRPr>
          </a:p>
        </p:txBody>
      </p:sp>
      <p:sp>
        <p:nvSpPr>
          <p:cNvPr id="2" name="TextBox 1">
            <a:extLst>
              <a:ext uri="{FF2B5EF4-FFF2-40B4-BE49-F238E27FC236}">
                <a16:creationId xmlns:a16="http://schemas.microsoft.com/office/drawing/2014/main" id="{F55E1DFA-8C00-775B-4BC4-1B8EE498751C}"/>
              </a:ext>
            </a:extLst>
          </p:cNvPr>
          <p:cNvSpPr txBox="1"/>
          <p:nvPr/>
        </p:nvSpPr>
        <p:spPr>
          <a:xfrm>
            <a:off x="623455" y="1413164"/>
            <a:ext cx="11239994" cy="5586145"/>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My answer: </a:t>
            </a:r>
            <a:endParaRPr lang="en-US" dirty="0">
              <a:solidFill>
                <a:schemeClr val="accent1"/>
              </a:solidFill>
              <a:latin typeface="Segoe UI" panose="020B0502040204020203" pitchFamily="34" charset="0"/>
              <a:cs typeface="Segoe UI" panose="020B0502040204020203" pitchFamily="34" charset="0"/>
            </a:endParaRPr>
          </a:p>
          <a:p>
            <a:pPr lvl="0">
              <a:spcAft>
                <a:spcPts val="600"/>
              </a:spcAft>
              <a:defRPr/>
            </a:pPr>
            <a:endParaRPr lang="en-US" dirty="0">
              <a:latin typeface="Segoe UI" panose="020B0502040204020203" pitchFamily="34" charset="0"/>
              <a:cs typeface="Segoe UI" panose="020B0502040204020203" pitchFamily="34" charset="0"/>
            </a:endParaRPr>
          </a:p>
          <a:p>
            <a:pPr lvl="0">
              <a:spcAft>
                <a:spcPts val="600"/>
              </a:spcAft>
              <a:defRPr/>
            </a:pPr>
            <a:r>
              <a:rPr lang="en-US" dirty="0">
                <a:latin typeface="Consolas" panose="020B0609020204030204" pitchFamily="49" charset="0"/>
              </a:rPr>
              <a:t>Context: </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Model Output Screenshot:</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a:spcAft>
                <a:spcPts val="600"/>
              </a:spcAft>
              <a:defRPr/>
            </a:pPr>
            <a:r>
              <a:rPr lang="en-US" dirty="0">
                <a:latin typeface="Consolas" panose="020B0609020204030204" pitchFamily="49" charset="0"/>
              </a:rPr>
              <a:t>RAG Output Screenshot:</a:t>
            </a:r>
            <a:endParaRPr lang="en-US" sz="1600" dirty="0">
              <a:latin typeface="Segoe UI" panose="020B0502040204020203" pitchFamily="34" charset="0"/>
              <a:cs typeface="Segoe UI" panose="020B0502040204020203" pitchFamily="34"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Comment on Both Model’s Answer:</a:t>
            </a: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765697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521207" y="448056"/>
            <a:ext cx="10612231" cy="640080"/>
          </a:xfrm>
        </p:spPr>
        <p:txBody>
          <a:bodyPr>
            <a:noAutofit/>
          </a:bodyPr>
          <a:lstStyle/>
          <a:p>
            <a:r>
              <a:rPr lang="en-US" dirty="0">
                <a:latin typeface="Segoe UI Light" panose="020B0502040204020203" pitchFamily="34" charset="0"/>
                <a:cs typeface="Segoe UI Light" panose="020B0502040204020203" pitchFamily="34" charset="0"/>
              </a:rPr>
              <a:t>🤗 QA Tasks – “</a:t>
            </a:r>
            <a:r>
              <a:rPr lang="en-US" dirty="0"/>
              <a:t>How do we deal with long context?”</a:t>
            </a:r>
            <a:endParaRPr lang="en-US" dirty="0">
              <a:latin typeface="Segoe UI Light" panose="020B0502040204020203" pitchFamily="34" charset="0"/>
              <a:cs typeface="Segoe UI Light" panose="020B0502040204020203" pitchFamily="34" charset="0"/>
            </a:endParaRPr>
          </a:p>
        </p:txBody>
      </p:sp>
      <p:sp>
        <p:nvSpPr>
          <p:cNvPr id="2" name="TextBox 1">
            <a:extLst>
              <a:ext uri="{FF2B5EF4-FFF2-40B4-BE49-F238E27FC236}">
                <a16:creationId xmlns:a16="http://schemas.microsoft.com/office/drawing/2014/main" id="{9FE87209-AA51-DBDA-3CE0-47BFBAC79C6F}"/>
              </a:ext>
            </a:extLst>
          </p:cNvPr>
          <p:cNvSpPr txBox="1"/>
          <p:nvPr/>
        </p:nvSpPr>
        <p:spPr>
          <a:xfrm>
            <a:off x="623455" y="1413164"/>
            <a:ext cx="11239994" cy="5586145"/>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My answer: </a:t>
            </a:r>
            <a:endParaRPr lang="en-US" dirty="0">
              <a:solidFill>
                <a:schemeClr val="accent1"/>
              </a:solidFill>
              <a:latin typeface="Segoe UI" panose="020B0502040204020203" pitchFamily="34" charset="0"/>
              <a:cs typeface="Segoe UI" panose="020B0502040204020203" pitchFamily="34" charset="0"/>
            </a:endParaRPr>
          </a:p>
          <a:p>
            <a:pPr lvl="0">
              <a:spcAft>
                <a:spcPts val="600"/>
              </a:spcAft>
              <a:defRPr/>
            </a:pPr>
            <a:endParaRPr lang="en-US" dirty="0">
              <a:latin typeface="Segoe UI" panose="020B0502040204020203" pitchFamily="34" charset="0"/>
              <a:cs typeface="Segoe UI" panose="020B0502040204020203" pitchFamily="34" charset="0"/>
            </a:endParaRPr>
          </a:p>
          <a:p>
            <a:pPr lvl="0">
              <a:spcAft>
                <a:spcPts val="600"/>
              </a:spcAft>
              <a:defRPr/>
            </a:pPr>
            <a:r>
              <a:rPr lang="en-US" dirty="0">
                <a:latin typeface="Consolas" panose="020B0609020204030204" pitchFamily="49" charset="0"/>
              </a:rPr>
              <a:t>Context: </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Model Output Screenshot:</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a:spcAft>
                <a:spcPts val="600"/>
              </a:spcAft>
              <a:defRPr/>
            </a:pPr>
            <a:r>
              <a:rPr lang="en-US" dirty="0">
                <a:latin typeface="Consolas" panose="020B0609020204030204" pitchFamily="49" charset="0"/>
              </a:rPr>
              <a:t>RAG Output Screenshot:</a:t>
            </a:r>
            <a:endParaRPr lang="en-US" sz="1600" dirty="0">
              <a:latin typeface="Segoe UI" panose="020B0502040204020203" pitchFamily="34" charset="0"/>
              <a:cs typeface="Segoe UI" panose="020B0502040204020203" pitchFamily="34"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Comment on Both Model’s Answer:</a:t>
            </a: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89580164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521207" y="448056"/>
            <a:ext cx="10612231" cy="640080"/>
          </a:xfrm>
        </p:spPr>
        <p:txBody>
          <a:bodyPr>
            <a:noAutofit/>
          </a:bodyPr>
          <a:lstStyle/>
          <a:p>
            <a:r>
              <a:rPr lang="en-US" dirty="0">
                <a:latin typeface="Segoe UI Light" panose="020B0502040204020203" pitchFamily="34" charset="0"/>
                <a:cs typeface="Segoe UI Light" panose="020B0502040204020203" pitchFamily="34" charset="0"/>
              </a:rPr>
              <a:t>🤗 QA Tasks – “</a:t>
            </a:r>
            <a:r>
              <a:rPr lang="en-US" dirty="0"/>
              <a:t>What is the stride parameter?”</a:t>
            </a:r>
            <a:endParaRPr lang="en-US" dirty="0">
              <a:latin typeface="Segoe UI Light" panose="020B0502040204020203" pitchFamily="34" charset="0"/>
              <a:cs typeface="Segoe UI Light" panose="020B0502040204020203" pitchFamily="34" charset="0"/>
            </a:endParaRPr>
          </a:p>
        </p:txBody>
      </p:sp>
      <p:sp>
        <p:nvSpPr>
          <p:cNvPr id="2" name="TextBox 1">
            <a:extLst>
              <a:ext uri="{FF2B5EF4-FFF2-40B4-BE49-F238E27FC236}">
                <a16:creationId xmlns:a16="http://schemas.microsoft.com/office/drawing/2014/main" id="{EE3F6529-EF66-7062-5CD1-B4B9E3B8DE49}"/>
              </a:ext>
            </a:extLst>
          </p:cNvPr>
          <p:cNvSpPr txBox="1"/>
          <p:nvPr/>
        </p:nvSpPr>
        <p:spPr>
          <a:xfrm>
            <a:off x="623455" y="1413164"/>
            <a:ext cx="11239994" cy="5586145"/>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My answer: </a:t>
            </a:r>
            <a:endParaRPr lang="en-US" dirty="0">
              <a:solidFill>
                <a:schemeClr val="accent1"/>
              </a:solidFill>
              <a:latin typeface="Segoe UI" panose="020B0502040204020203" pitchFamily="34" charset="0"/>
              <a:cs typeface="Segoe UI" panose="020B0502040204020203" pitchFamily="34" charset="0"/>
            </a:endParaRPr>
          </a:p>
          <a:p>
            <a:pPr lvl="0">
              <a:spcAft>
                <a:spcPts val="600"/>
              </a:spcAft>
              <a:defRPr/>
            </a:pPr>
            <a:endParaRPr lang="en-US" dirty="0">
              <a:latin typeface="Segoe UI" panose="020B0502040204020203" pitchFamily="34" charset="0"/>
              <a:cs typeface="Segoe UI" panose="020B0502040204020203" pitchFamily="34" charset="0"/>
            </a:endParaRPr>
          </a:p>
          <a:p>
            <a:pPr lvl="0">
              <a:spcAft>
                <a:spcPts val="600"/>
              </a:spcAft>
              <a:defRPr/>
            </a:pPr>
            <a:r>
              <a:rPr lang="en-US" dirty="0">
                <a:latin typeface="Consolas" panose="020B0609020204030204" pitchFamily="49" charset="0"/>
              </a:rPr>
              <a:t>Context: </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Model Output Screenshot:</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a:spcAft>
                <a:spcPts val="600"/>
              </a:spcAft>
              <a:defRPr/>
            </a:pPr>
            <a:r>
              <a:rPr lang="en-US" dirty="0">
                <a:latin typeface="Consolas" panose="020B0609020204030204" pitchFamily="49" charset="0"/>
              </a:rPr>
              <a:t>RAG Output Screenshot:</a:t>
            </a:r>
            <a:endParaRPr lang="en-US" sz="1600" dirty="0">
              <a:latin typeface="Segoe UI" panose="020B0502040204020203" pitchFamily="34" charset="0"/>
              <a:cs typeface="Segoe UI" panose="020B0502040204020203" pitchFamily="34"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Comment on Both Model’s Answer:</a:t>
            </a: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8870226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521207" y="448056"/>
            <a:ext cx="10612231" cy="640080"/>
          </a:xfrm>
        </p:spPr>
        <p:txBody>
          <a:bodyPr>
            <a:noAutofit/>
          </a:bodyPr>
          <a:lstStyle/>
          <a:p>
            <a:r>
              <a:rPr lang="en-US" sz="2100" dirty="0">
                <a:latin typeface="Segoe UI Light" panose="020B0502040204020203" pitchFamily="34" charset="0"/>
                <a:cs typeface="Segoe UI Light" panose="020B0502040204020203" pitchFamily="34" charset="0"/>
              </a:rPr>
              <a:t>🤗 QA Tasks – “</a:t>
            </a:r>
            <a:r>
              <a:rPr lang="en-US" sz="2100" dirty="0"/>
              <a:t>What will be the label if the answer got truncated in the splitting process?”</a:t>
            </a:r>
            <a:endParaRPr lang="en-US" sz="2100" dirty="0">
              <a:latin typeface="Segoe UI Light" panose="020B0502040204020203" pitchFamily="34" charset="0"/>
              <a:cs typeface="Segoe UI Light" panose="020B0502040204020203" pitchFamily="34" charset="0"/>
            </a:endParaRPr>
          </a:p>
        </p:txBody>
      </p:sp>
      <p:sp>
        <p:nvSpPr>
          <p:cNvPr id="2" name="TextBox 1">
            <a:extLst>
              <a:ext uri="{FF2B5EF4-FFF2-40B4-BE49-F238E27FC236}">
                <a16:creationId xmlns:a16="http://schemas.microsoft.com/office/drawing/2014/main" id="{C1825C0F-831A-0BFB-DAF0-F04A04618F1F}"/>
              </a:ext>
            </a:extLst>
          </p:cNvPr>
          <p:cNvSpPr txBox="1"/>
          <p:nvPr/>
        </p:nvSpPr>
        <p:spPr>
          <a:xfrm>
            <a:off x="623455" y="1413164"/>
            <a:ext cx="11239994" cy="5586145"/>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My answer: </a:t>
            </a:r>
            <a:endParaRPr lang="en-US" dirty="0">
              <a:solidFill>
                <a:schemeClr val="accent1"/>
              </a:solidFill>
              <a:latin typeface="Segoe UI" panose="020B0502040204020203" pitchFamily="34" charset="0"/>
              <a:cs typeface="Segoe UI" panose="020B0502040204020203" pitchFamily="34" charset="0"/>
            </a:endParaRPr>
          </a:p>
          <a:p>
            <a:pPr lvl="0">
              <a:spcAft>
                <a:spcPts val="600"/>
              </a:spcAft>
              <a:defRPr/>
            </a:pPr>
            <a:endParaRPr lang="en-US" dirty="0">
              <a:latin typeface="Segoe UI" panose="020B0502040204020203" pitchFamily="34" charset="0"/>
              <a:cs typeface="Segoe UI" panose="020B0502040204020203" pitchFamily="34" charset="0"/>
            </a:endParaRPr>
          </a:p>
          <a:p>
            <a:pPr lvl="0">
              <a:spcAft>
                <a:spcPts val="600"/>
              </a:spcAft>
              <a:defRPr/>
            </a:pPr>
            <a:r>
              <a:rPr lang="en-US" dirty="0">
                <a:latin typeface="Consolas" panose="020B0609020204030204" pitchFamily="49" charset="0"/>
              </a:rPr>
              <a:t>Context: </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Model Output Screenshot:</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a:spcAft>
                <a:spcPts val="600"/>
              </a:spcAft>
              <a:defRPr/>
            </a:pPr>
            <a:r>
              <a:rPr lang="en-US" dirty="0">
                <a:latin typeface="Consolas" panose="020B0609020204030204" pitchFamily="49" charset="0"/>
              </a:rPr>
              <a:t>RAG Output Screenshot:</a:t>
            </a:r>
            <a:endParaRPr lang="en-US" sz="1600" dirty="0">
              <a:latin typeface="Segoe UI" panose="020B0502040204020203" pitchFamily="34" charset="0"/>
              <a:cs typeface="Segoe UI" panose="020B0502040204020203" pitchFamily="34"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Comment on Both Model’s Answer:</a:t>
            </a: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88264036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521207" y="448056"/>
            <a:ext cx="10612231" cy="640080"/>
          </a:xfrm>
        </p:spPr>
        <p:txBody>
          <a:bodyPr>
            <a:noAutofit/>
          </a:bodyPr>
          <a:lstStyle/>
          <a:p>
            <a:r>
              <a:rPr lang="en-US" sz="2400" dirty="0">
                <a:latin typeface="Segoe UI Light" panose="020B0502040204020203" pitchFamily="34" charset="0"/>
                <a:cs typeface="Segoe UI Light" panose="020B0502040204020203" pitchFamily="34" charset="0"/>
              </a:rPr>
              <a:t>🤗 QA Tasks – “</a:t>
            </a:r>
            <a:r>
              <a:rPr lang="en-US" sz="2400" dirty="0"/>
              <a:t>What is the purpose of </a:t>
            </a:r>
            <a:r>
              <a:rPr lang="en-US" sz="2400" dirty="0" err="1"/>
              <a:t>overflow_to_sample_mapping</a:t>
            </a:r>
            <a:r>
              <a:rPr lang="en-US" sz="2400" dirty="0"/>
              <a:t>?”</a:t>
            </a:r>
            <a:endParaRPr lang="en-US" sz="2400" dirty="0">
              <a:latin typeface="Segoe UI Light" panose="020B0502040204020203" pitchFamily="34" charset="0"/>
              <a:cs typeface="Segoe UI Light" panose="020B0502040204020203" pitchFamily="34" charset="0"/>
            </a:endParaRPr>
          </a:p>
        </p:txBody>
      </p:sp>
      <p:sp>
        <p:nvSpPr>
          <p:cNvPr id="2" name="TextBox 1">
            <a:extLst>
              <a:ext uri="{FF2B5EF4-FFF2-40B4-BE49-F238E27FC236}">
                <a16:creationId xmlns:a16="http://schemas.microsoft.com/office/drawing/2014/main" id="{9514F6C5-9639-129D-F0C4-544EE44A08A0}"/>
              </a:ext>
            </a:extLst>
          </p:cNvPr>
          <p:cNvSpPr txBox="1"/>
          <p:nvPr/>
        </p:nvSpPr>
        <p:spPr>
          <a:xfrm>
            <a:off x="623455" y="1413164"/>
            <a:ext cx="11239994" cy="5586145"/>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My answer: </a:t>
            </a:r>
            <a:endParaRPr lang="en-US" dirty="0">
              <a:solidFill>
                <a:schemeClr val="accent1"/>
              </a:solidFill>
              <a:latin typeface="Segoe UI" panose="020B0502040204020203" pitchFamily="34" charset="0"/>
              <a:cs typeface="Segoe UI" panose="020B0502040204020203" pitchFamily="34" charset="0"/>
            </a:endParaRPr>
          </a:p>
          <a:p>
            <a:pPr lvl="0">
              <a:spcAft>
                <a:spcPts val="600"/>
              </a:spcAft>
              <a:defRPr/>
            </a:pPr>
            <a:endParaRPr lang="en-US" dirty="0">
              <a:latin typeface="Segoe UI" panose="020B0502040204020203" pitchFamily="34" charset="0"/>
              <a:cs typeface="Segoe UI" panose="020B0502040204020203" pitchFamily="34" charset="0"/>
            </a:endParaRPr>
          </a:p>
          <a:p>
            <a:pPr lvl="0">
              <a:spcAft>
                <a:spcPts val="600"/>
              </a:spcAft>
              <a:defRPr/>
            </a:pPr>
            <a:r>
              <a:rPr lang="en-US" dirty="0">
                <a:latin typeface="Consolas" panose="020B0609020204030204" pitchFamily="49" charset="0"/>
              </a:rPr>
              <a:t>Context: </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Model Output Screenshot:</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a:spcAft>
                <a:spcPts val="600"/>
              </a:spcAft>
              <a:defRPr/>
            </a:pPr>
            <a:r>
              <a:rPr lang="en-US" dirty="0">
                <a:latin typeface="Consolas" panose="020B0609020204030204" pitchFamily="49" charset="0"/>
              </a:rPr>
              <a:t>RAG Output Screenshot:</a:t>
            </a:r>
            <a:endParaRPr lang="en-US" sz="1600" dirty="0">
              <a:latin typeface="Segoe UI" panose="020B0502040204020203" pitchFamily="34" charset="0"/>
              <a:cs typeface="Segoe UI" panose="020B0502040204020203" pitchFamily="34"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Comment on Both Model’s Answer:</a:t>
            </a: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4196432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521207" y="448056"/>
            <a:ext cx="10612231" cy="640080"/>
          </a:xfrm>
        </p:spPr>
        <p:txBody>
          <a:bodyPr>
            <a:noAutofit/>
          </a:bodyPr>
          <a:lstStyle/>
          <a:p>
            <a:r>
              <a:rPr lang="en-US" dirty="0">
                <a:latin typeface="Segoe UI Light" panose="020B0502040204020203" pitchFamily="34" charset="0"/>
                <a:cs typeface="Segoe UI Light" panose="020B0502040204020203" pitchFamily="34" charset="0"/>
              </a:rPr>
              <a:t>🤗 QA Tasks – “</a:t>
            </a:r>
            <a:r>
              <a:rPr lang="en-US" dirty="0"/>
              <a:t>What is the post-process trying to do?”</a:t>
            </a:r>
            <a:endParaRPr lang="en-US" dirty="0">
              <a:latin typeface="Segoe UI Light" panose="020B0502040204020203" pitchFamily="34" charset="0"/>
              <a:cs typeface="Segoe UI Light" panose="020B0502040204020203" pitchFamily="34" charset="0"/>
            </a:endParaRPr>
          </a:p>
        </p:txBody>
      </p:sp>
      <p:sp>
        <p:nvSpPr>
          <p:cNvPr id="2" name="TextBox 1">
            <a:extLst>
              <a:ext uri="{FF2B5EF4-FFF2-40B4-BE49-F238E27FC236}">
                <a16:creationId xmlns:a16="http://schemas.microsoft.com/office/drawing/2014/main" id="{994EEAE9-57AA-371F-A338-3ACD81871E1B}"/>
              </a:ext>
            </a:extLst>
          </p:cNvPr>
          <p:cNvSpPr txBox="1"/>
          <p:nvPr/>
        </p:nvSpPr>
        <p:spPr>
          <a:xfrm>
            <a:off x="623455" y="1413164"/>
            <a:ext cx="11239994" cy="5586145"/>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My answer: </a:t>
            </a:r>
            <a:endParaRPr lang="en-US" dirty="0">
              <a:solidFill>
                <a:schemeClr val="accent1"/>
              </a:solidFill>
              <a:latin typeface="Segoe UI" panose="020B0502040204020203" pitchFamily="34" charset="0"/>
              <a:cs typeface="Segoe UI" panose="020B0502040204020203" pitchFamily="34" charset="0"/>
            </a:endParaRPr>
          </a:p>
          <a:p>
            <a:pPr lvl="0">
              <a:spcAft>
                <a:spcPts val="600"/>
              </a:spcAft>
              <a:defRPr/>
            </a:pPr>
            <a:endParaRPr lang="en-US" dirty="0">
              <a:latin typeface="Segoe UI" panose="020B0502040204020203" pitchFamily="34" charset="0"/>
              <a:cs typeface="Segoe UI" panose="020B0502040204020203" pitchFamily="34" charset="0"/>
            </a:endParaRPr>
          </a:p>
          <a:p>
            <a:pPr lvl="0">
              <a:spcAft>
                <a:spcPts val="600"/>
              </a:spcAft>
              <a:defRPr/>
            </a:pPr>
            <a:r>
              <a:rPr lang="en-US" dirty="0">
                <a:latin typeface="Consolas" panose="020B0609020204030204" pitchFamily="49" charset="0"/>
              </a:rPr>
              <a:t>Context: </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Model Output Screenshot:</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a:spcAft>
                <a:spcPts val="600"/>
              </a:spcAft>
              <a:defRPr/>
            </a:pPr>
            <a:r>
              <a:rPr lang="en-US" dirty="0">
                <a:latin typeface="Consolas" panose="020B0609020204030204" pitchFamily="49" charset="0"/>
              </a:rPr>
              <a:t>RAG Output Screenshot:</a:t>
            </a:r>
            <a:endParaRPr lang="en-US" sz="1600" dirty="0">
              <a:latin typeface="Segoe UI" panose="020B0502040204020203" pitchFamily="34" charset="0"/>
              <a:cs typeface="Segoe UI" panose="020B0502040204020203" pitchFamily="34"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Comment on Both Model’s Answer:</a:t>
            </a: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0783863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521207" y="448056"/>
            <a:ext cx="10612231" cy="640080"/>
          </a:xfrm>
        </p:spPr>
        <p:txBody>
          <a:bodyPr>
            <a:noAutofit/>
          </a:bodyPr>
          <a:lstStyle/>
          <a:p>
            <a:r>
              <a:rPr lang="en-US" sz="2400" dirty="0">
                <a:latin typeface="Segoe UI Light" panose="020B0502040204020203" pitchFamily="34" charset="0"/>
                <a:cs typeface="Segoe UI Light" panose="020B0502040204020203" pitchFamily="34" charset="0"/>
              </a:rPr>
              <a:t>🤗 QA Tasks – “</a:t>
            </a:r>
            <a:r>
              <a:rPr lang="en-US" sz="2400" dirty="0"/>
              <a:t>What do you need to push the trained model to the Hub?”</a:t>
            </a:r>
            <a:endParaRPr lang="en-US" sz="2400" dirty="0">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10FF06AA-81E0-289F-DDB0-05E6DBF6DF54}"/>
              </a:ext>
            </a:extLst>
          </p:cNvPr>
          <p:cNvSpPr txBox="1"/>
          <p:nvPr/>
        </p:nvSpPr>
        <p:spPr>
          <a:xfrm>
            <a:off x="623455" y="1413164"/>
            <a:ext cx="11239994" cy="5586145"/>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My answer: </a:t>
            </a:r>
            <a:endParaRPr lang="en-US" dirty="0">
              <a:solidFill>
                <a:schemeClr val="accent1"/>
              </a:solidFill>
              <a:latin typeface="Segoe UI" panose="020B0502040204020203" pitchFamily="34" charset="0"/>
              <a:cs typeface="Segoe UI" panose="020B0502040204020203" pitchFamily="34" charset="0"/>
            </a:endParaRPr>
          </a:p>
          <a:p>
            <a:pPr lvl="0">
              <a:spcAft>
                <a:spcPts val="600"/>
              </a:spcAft>
              <a:defRPr/>
            </a:pPr>
            <a:endParaRPr lang="en-US" dirty="0">
              <a:latin typeface="Segoe UI" panose="020B0502040204020203" pitchFamily="34" charset="0"/>
              <a:cs typeface="Segoe UI" panose="020B0502040204020203" pitchFamily="34" charset="0"/>
            </a:endParaRPr>
          </a:p>
          <a:p>
            <a:pPr lvl="0">
              <a:spcAft>
                <a:spcPts val="600"/>
              </a:spcAft>
              <a:defRPr/>
            </a:pPr>
            <a:r>
              <a:rPr lang="en-US" dirty="0">
                <a:latin typeface="Consolas" panose="020B0609020204030204" pitchFamily="49" charset="0"/>
              </a:rPr>
              <a:t>Context: </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Model Output Screenshot:</a:t>
            </a: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a:spcAft>
                <a:spcPts val="600"/>
              </a:spcAft>
              <a:defRPr/>
            </a:pPr>
            <a:r>
              <a:rPr lang="en-US" dirty="0">
                <a:latin typeface="Consolas" panose="020B0609020204030204" pitchFamily="49" charset="0"/>
              </a:rPr>
              <a:t>RAG Output Screenshot:</a:t>
            </a:r>
            <a:endParaRPr lang="en-US" sz="1600" dirty="0">
              <a:latin typeface="Segoe UI" panose="020B0502040204020203" pitchFamily="34" charset="0"/>
              <a:cs typeface="Segoe UI" panose="020B0502040204020203" pitchFamily="34" charset="0"/>
            </a:endParaRPr>
          </a:p>
          <a:p>
            <a:pPr lvl="0">
              <a:spcAft>
                <a:spcPts val="600"/>
              </a:spcAft>
              <a:defRPr/>
            </a:pPr>
            <a:endParaRPr lang="en-US" dirty="0">
              <a:latin typeface="Consolas" panose="020B0609020204030204" pitchFamily="49" charset="0"/>
            </a:endParaRPr>
          </a:p>
          <a:p>
            <a:pPr lvl="0">
              <a:spcAft>
                <a:spcPts val="600"/>
              </a:spcAft>
              <a:defRPr/>
            </a:pPr>
            <a:endParaRPr lang="en-US" dirty="0">
              <a:latin typeface="Consolas" panose="020B0609020204030204" pitchFamily="49" charset="0"/>
            </a:endParaRPr>
          </a:p>
          <a:p>
            <a:pPr lvl="0">
              <a:spcAft>
                <a:spcPts val="600"/>
              </a:spcAft>
              <a:defRPr/>
            </a:pPr>
            <a:r>
              <a:rPr lang="en-US" dirty="0">
                <a:latin typeface="Consolas" panose="020B0609020204030204" pitchFamily="49" charset="0"/>
              </a:rPr>
              <a:t>Comment on Both Model’s Answer:</a:t>
            </a: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a:p>
            <a:pPr lvl="0">
              <a:spcAft>
                <a:spcPts val="600"/>
              </a:spcAft>
              <a:defRPr/>
            </a:pPr>
            <a:endParaRPr lang="en-US" sz="16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9507097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BDDD2FD-EAF1-8C8B-4466-89FF6DF5A324}"/>
              </a:ext>
            </a:extLst>
          </p:cNvPr>
          <p:cNvSpPr>
            <a:spLocks noGrp="1"/>
          </p:cNvSpPr>
          <p:nvPr>
            <p:ph sz="quarter" idx="10"/>
          </p:nvPr>
        </p:nvSpPr>
        <p:spPr>
          <a:xfrm>
            <a:off x="539496" y="1435608"/>
            <a:ext cx="11188216" cy="4974336"/>
          </a:xfrm>
        </p:spPr>
        <p:txBody>
          <a:bodyPr/>
          <a:lstStyle/>
          <a:p>
            <a:endParaRPr lang="en-US" dirty="0"/>
          </a:p>
        </p:txBody>
      </p:sp>
      <p:sp>
        <p:nvSpPr>
          <p:cNvPr id="4" name="Title 7">
            <a:extLst>
              <a:ext uri="{FF2B5EF4-FFF2-40B4-BE49-F238E27FC236}">
                <a16:creationId xmlns:a16="http://schemas.microsoft.com/office/drawing/2014/main" id="{F7D9CEBF-7612-D267-FF0E-25B4E63041E8}"/>
              </a:ext>
            </a:extLst>
          </p:cNvPr>
          <p:cNvSpPr>
            <a:spLocks noGrp="1"/>
          </p:cNvSpPr>
          <p:nvPr>
            <p:ph type="title"/>
          </p:nvPr>
        </p:nvSpPr>
        <p:spPr>
          <a:xfrm>
            <a:off x="521207" y="448056"/>
            <a:ext cx="10612231" cy="640080"/>
          </a:xfrm>
        </p:spPr>
        <p:txBody>
          <a:bodyPr>
            <a:noAutofit/>
          </a:bodyPr>
          <a:lstStyle/>
          <a:p>
            <a:r>
              <a:rPr lang="en-US" sz="1600" dirty="0"/>
              <a:t>Compare the precision and relevance of answers provided by the BERT and RAG models. Which model performed better overall, and why do you think that is the case? What are the strengths and weaknesses for both models?</a:t>
            </a:r>
            <a:endParaRPr lang="en-US" sz="24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4551090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16D6597-23A6-49B1-AE5E-BA6428456E4F}"/>
              </a:ext>
            </a:extLst>
          </p:cNvPr>
          <p:cNvSpPr txBox="1"/>
          <p:nvPr/>
        </p:nvSpPr>
        <p:spPr>
          <a:xfrm>
            <a:off x="623455" y="1413164"/>
            <a:ext cx="2008534" cy="5016758"/>
          </a:xfrm>
          <a:prstGeom prst="rect">
            <a:avLst/>
          </a:prstGeom>
          <a:noFill/>
        </p:spPr>
        <p:txBody>
          <a:bodyPr wrap="square" rtlCol="0">
            <a:spAutoFit/>
          </a:bodyPr>
          <a:lstStyle/>
          <a:p>
            <a:pPr lvl="0">
              <a:spcAft>
                <a:spcPts val="600"/>
              </a:spcAft>
              <a:defRPr/>
            </a:pPr>
            <a:r>
              <a:rPr lang="en-US" dirty="0">
                <a:latin typeface="Segoe UI" panose="020B0502040204020203" pitchFamily="34" charset="0"/>
                <a:cs typeface="Segoe UI" panose="020B0502040204020203" pitchFamily="34" charset="0"/>
              </a:rPr>
              <a:t>The BERT model that is used: </a:t>
            </a:r>
          </a:p>
          <a:p>
            <a:pPr lvl="0">
              <a:spcAft>
                <a:spcPts val="600"/>
              </a:spcAft>
              <a:defRPr/>
            </a:pPr>
            <a:r>
              <a:rPr lang="en-US" dirty="0">
                <a:latin typeface="Segoe UI" panose="020B0502040204020203" pitchFamily="34" charset="0"/>
                <a:cs typeface="Segoe UI" panose="020B0502040204020203" pitchFamily="34" charset="0"/>
              </a:rPr>
              <a:t>	</a:t>
            </a:r>
            <a:endParaRPr lang="en-US" dirty="0">
              <a:solidFill>
                <a:schemeClr val="accent1"/>
              </a:solidFill>
              <a:latin typeface="Segoe UI" panose="020B0502040204020203" pitchFamily="34" charset="0"/>
              <a:cs typeface="Segoe UI" panose="020B0502040204020203" pitchFamily="34" charset="0"/>
            </a:endParaRPr>
          </a:p>
          <a:p>
            <a:pPr lvl="0">
              <a:spcAft>
                <a:spcPts val="600"/>
              </a:spcAft>
              <a:defRPr/>
            </a:pPr>
            <a:endParaRPr lang="en-US" dirty="0">
              <a:latin typeface="Segoe UI" panose="020B0502040204020203" pitchFamily="34" charset="0"/>
              <a:cs typeface="Segoe UI" panose="020B0502040204020203" pitchFamily="34" charset="0"/>
            </a:endParaRPr>
          </a:p>
          <a:p>
            <a:pPr lvl="0">
              <a:spcAft>
                <a:spcPts val="600"/>
              </a:spcAft>
              <a:defRPr/>
            </a:pPr>
            <a:endParaRPr lang="en-US" dirty="0">
              <a:latin typeface="Segoe UI" panose="020B0502040204020203" pitchFamily="34" charset="0"/>
              <a:cs typeface="Segoe UI" panose="020B0502040204020203" pitchFamily="34" charset="0"/>
            </a:endParaRPr>
          </a:p>
          <a:p>
            <a:pPr lvl="0">
              <a:spcAft>
                <a:spcPts val="600"/>
              </a:spcAft>
              <a:defRPr/>
            </a:pPr>
            <a:endParaRPr lang="en-US" dirty="0">
              <a:latin typeface="Segoe UI" panose="020B0502040204020203" pitchFamily="34" charset="0"/>
              <a:cs typeface="Segoe UI" panose="020B0502040204020203" pitchFamily="34" charset="0"/>
            </a:endParaRPr>
          </a:p>
          <a:p>
            <a:pPr lvl="0">
              <a:spcAft>
                <a:spcPts val="600"/>
              </a:spcAft>
              <a:defRPr/>
            </a:pPr>
            <a:endParaRPr lang="en-US" dirty="0">
              <a:latin typeface="Segoe UI" panose="020B0502040204020203" pitchFamily="34" charset="0"/>
              <a:cs typeface="Segoe UI" panose="020B0502040204020203" pitchFamily="34" charset="0"/>
            </a:endParaRPr>
          </a:p>
          <a:p>
            <a:pPr lvl="0">
              <a:spcAft>
                <a:spcPts val="600"/>
              </a:spcAft>
              <a:defRPr/>
            </a:pPr>
            <a:endParaRPr lang="en-US" dirty="0">
              <a:latin typeface="Segoe UI" panose="020B0502040204020203" pitchFamily="34" charset="0"/>
              <a:cs typeface="Segoe UI" panose="020B0502040204020203" pitchFamily="34" charset="0"/>
            </a:endParaRPr>
          </a:p>
          <a:p>
            <a:pPr lvl="0">
              <a:spcAft>
                <a:spcPts val="600"/>
              </a:spcAft>
              <a:defRPr/>
            </a:pPr>
            <a:endParaRPr lang="en-US" dirty="0">
              <a:latin typeface="Segoe UI" panose="020B0502040204020203" pitchFamily="34" charset="0"/>
              <a:cs typeface="Segoe UI" panose="020B0502040204020203" pitchFamily="34" charset="0"/>
            </a:endParaRPr>
          </a:p>
          <a:p>
            <a:pPr lvl="0">
              <a:spcAft>
                <a:spcPts val="600"/>
              </a:spcAft>
              <a:defRPr/>
            </a:pPr>
            <a:r>
              <a:rPr lang="en-US" dirty="0"/>
              <a:t>The attention layer and head that performs noun modifier:</a:t>
            </a:r>
          </a:p>
          <a:p>
            <a:pPr lvl="0">
              <a:spcAft>
                <a:spcPts val="600"/>
              </a:spcAft>
              <a:defRPr/>
            </a:pPr>
            <a:r>
              <a:rPr lang="en-US" dirty="0">
                <a:solidFill>
                  <a:schemeClr val="accent1"/>
                </a:solidFill>
                <a:latin typeface="Consolas" panose="020B0609020204030204" pitchFamily="49" charset="0"/>
              </a:rPr>
              <a:t>Layer </a:t>
            </a:r>
            <a:r>
              <a:rPr lang="en-US" b="1" dirty="0">
                <a:solidFill>
                  <a:schemeClr val="accent1"/>
                </a:solidFill>
                <a:latin typeface="Consolas" panose="020B0609020204030204" pitchFamily="49" charset="0"/>
              </a:rPr>
              <a:t>X</a:t>
            </a:r>
            <a:r>
              <a:rPr lang="en-US" dirty="0">
                <a:solidFill>
                  <a:schemeClr val="accent1"/>
                </a:solidFill>
                <a:latin typeface="Consolas" panose="020B0609020204030204" pitchFamily="49" charset="0"/>
              </a:rPr>
              <a:t> Head </a:t>
            </a:r>
            <a:r>
              <a:rPr lang="en-US" b="1" dirty="0">
                <a:solidFill>
                  <a:schemeClr val="accent1"/>
                </a:solidFill>
                <a:latin typeface="Consolas" panose="020B0609020204030204" pitchFamily="49" charset="0"/>
              </a:rPr>
              <a:t>A</a:t>
            </a:r>
          </a:p>
          <a:p>
            <a:pPr lvl="0">
              <a:spcAft>
                <a:spcPts val="600"/>
              </a:spcAft>
              <a:defRPr/>
            </a:pPr>
            <a:endParaRPr lang="en-US" dirty="0">
              <a:latin typeface="Consolas" panose="020B0609020204030204" pitchFamily="49" charset="0"/>
            </a:endParaRPr>
          </a:p>
        </p:txBody>
      </p:sp>
      <p:sp>
        <p:nvSpPr>
          <p:cNvPr id="8" name="Title 7"/>
          <p:cNvSpPr>
            <a:spLocks noGrp="1"/>
          </p:cNvSpPr>
          <p:nvPr>
            <p:ph type="title"/>
          </p:nvPr>
        </p:nvSpPr>
        <p:spPr>
          <a:xfrm>
            <a:off x="521207" y="448056"/>
            <a:ext cx="10612231" cy="640080"/>
          </a:xfrm>
        </p:spPr>
        <p:txBody>
          <a:bodyPr>
            <a:noAutofit/>
          </a:bodyPr>
          <a:lstStyle/>
          <a:p>
            <a:r>
              <a:rPr lang="en-US" sz="2400" dirty="0">
                <a:latin typeface="Segoe UI Light" panose="020B0502040204020203" pitchFamily="34" charset="0"/>
                <a:cs typeface="Segoe UI Light" panose="020B0502040204020203" pitchFamily="34" charset="0"/>
              </a:rPr>
              <a:t>BERT Attention Head Visualization Tasks</a:t>
            </a:r>
          </a:p>
        </p:txBody>
      </p:sp>
      <p:sp>
        <p:nvSpPr>
          <p:cNvPr id="2" name="Rectangle 1">
            <a:extLst>
              <a:ext uri="{FF2B5EF4-FFF2-40B4-BE49-F238E27FC236}">
                <a16:creationId xmlns:a16="http://schemas.microsoft.com/office/drawing/2014/main" id="{2A9AF8C5-F6AF-4E04-AD55-C4FB5A50F1D8}"/>
              </a:ext>
            </a:extLst>
          </p:cNvPr>
          <p:cNvSpPr/>
          <p:nvPr/>
        </p:nvSpPr>
        <p:spPr>
          <a:xfrm>
            <a:off x="3048000" y="1413164"/>
            <a:ext cx="3995351" cy="1985159"/>
          </a:xfrm>
          <a:prstGeom prst="rect">
            <a:avLst/>
          </a:prstGeom>
        </p:spPr>
        <p:txBody>
          <a:bodyPr wrap="square">
            <a:spAutoFit/>
          </a:bodyPr>
          <a:lstStyle/>
          <a:p>
            <a:pPr lvl="0">
              <a:spcAft>
                <a:spcPts val="600"/>
              </a:spcAft>
              <a:defRPr/>
            </a:pPr>
            <a:r>
              <a:rPr lang="en-US" dirty="0"/>
              <a:t>Screenshots of the attention for sentence </a:t>
            </a:r>
          </a:p>
          <a:p>
            <a:pPr>
              <a:spcAft>
                <a:spcPts val="600"/>
              </a:spcAft>
              <a:defRPr/>
            </a:pPr>
            <a:r>
              <a:rPr lang="en-US" dirty="0"/>
              <a:t>“The complicated language in the huge new law has muddied the fight.”</a:t>
            </a:r>
          </a:p>
          <a:p>
            <a:pPr>
              <a:spcAft>
                <a:spcPts val="600"/>
              </a:spcAft>
              <a:defRPr/>
            </a:pPr>
            <a:endParaRPr lang="en-US" dirty="0"/>
          </a:p>
          <a:p>
            <a:pPr>
              <a:spcAft>
                <a:spcPts val="600"/>
              </a:spcAft>
              <a:defRPr/>
            </a:pPr>
            <a:endParaRPr lang="en-US" dirty="0"/>
          </a:p>
        </p:txBody>
      </p:sp>
      <p:sp>
        <p:nvSpPr>
          <p:cNvPr id="3" name="Rectangle 2">
            <a:extLst>
              <a:ext uri="{FF2B5EF4-FFF2-40B4-BE49-F238E27FC236}">
                <a16:creationId xmlns:a16="http://schemas.microsoft.com/office/drawing/2014/main" id="{256DD1A5-9DFC-4C8A-A08F-5D861CB76BB2}"/>
              </a:ext>
            </a:extLst>
          </p:cNvPr>
          <p:cNvSpPr/>
          <p:nvPr/>
        </p:nvSpPr>
        <p:spPr>
          <a:xfrm>
            <a:off x="7904206" y="1413164"/>
            <a:ext cx="4193059" cy="1554272"/>
          </a:xfrm>
          <a:prstGeom prst="rect">
            <a:avLst/>
          </a:prstGeom>
        </p:spPr>
        <p:txBody>
          <a:bodyPr wrap="square">
            <a:spAutoFit/>
          </a:bodyPr>
          <a:lstStyle/>
          <a:p>
            <a:pPr lvl="0">
              <a:spcAft>
                <a:spcPts val="600"/>
              </a:spcAft>
              <a:defRPr/>
            </a:pPr>
            <a:r>
              <a:rPr lang="en-US" dirty="0"/>
              <a:t>Screenshots of the attention for sentence </a:t>
            </a:r>
          </a:p>
          <a:p>
            <a:pPr>
              <a:spcAft>
                <a:spcPts val="600"/>
              </a:spcAft>
              <a:defRPr/>
            </a:pPr>
            <a:r>
              <a:rPr lang="en-US" dirty="0"/>
              <a:t>“</a:t>
            </a:r>
            <a:r>
              <a:rPr lang="en-US"/>
              <a:t>The 45-year-old </a:t>
            </a:r>
            <a:r>
              <a:rPr lang="en-US" dirty="0"/>
              <a:t>former General Electric Co. executive figures it will be easier this time.”</a:t>
            </a:r>
          </a:p>
        </p:txBody>
      </p:sp>
      <p:cxnSp>
        <p:nvCxnSpPr>
          <p:cNvPr id="6" name="Straight Connector 5">
            <a:extLst>
              <a:ext uri="{FF2B5EF4-FFF2-40B4-BE49-F238E27FC236}">
                <a16:creationId xmlns:a16="http://schemas.microsoft.com/office/drawing/2014/main" id="{510DAD0C-C3F2-4C73-A23D-F7D69B28CFBE}"/>
              </a:ext>
            </a:extLst>
          </p:cNvPr>
          <p:cNvCxnSpPr/>
          <p:nvPr/>
        </p:nvCxnSpPr>
        <p:spPr>
          <a:xfrm>
            <a:off x="2792628" y="1413164"/>
            <a:ext cx="0" cy="4985980"/>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2E207B70-1F79-46D5-9847-938A09B29498}"/>
              </a:ext>
            </a:extLst>
          </p:cNvPr>
          <p:cNvCxnSpPr/>
          <p:nvPr/>
        </p:nvCxnSpPr>
        <p:spPr>
          <a:xfrm>
            <a:off x="7455245" y="1413164"/>
            <a:ext cx="0" cy="498598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6897631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F10001108_Welcome to Powerpoint 2016_CLR_v2" id="{CAB9082A-965C-42BE-8170-C940D3319B60}" vid="{82B84162-888A-4FD2-BEC9-B29B6DB2C73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a8a52e8c320b9a064ae3583ae3861c9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88020cb39231a0945110f9cd888b521a"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0072C5-DDE0-4258-BA7A-4D4B80DFA632}">
  <ds:schemaRefs>
    <ds:schemaRef ds:uri="http://schemas.microsoft.com/office/infopath/2007/PartnerControls"/>
    <ds:schemaRef ds:uri="http://schemas.microsoft.com/office/2006/documentManagement/types"/>
    <ds:schemaRef ds:uri="http://purl.org/dc/dcmitype/"/>
    <ds:schemaRef ds:uri="http://schemas.microsoft.com/office/2006/metadata/properties"/>
    <ds:schemaRef ds:uri="71af3243-3dd4-4a8d-8c0d-dd76da1f02a5"/>
    <ds:schemaRef ds:uri="http://www.w3.org/XML/1998/namespace"/>
    <ds:schemaRef ds:uri="http://purl.org/dc/elements/1.1/"/>
    <ds:schemaRef ds:uri="http://schemas.openxmlformats.org/package/2006/metadata/core-properties"/>
    <ds:schemaRef ds:uri="16c05727-aa75-4e4a-9b5f-8a80a1165891"/>
    <ds:schemaRef ds:uri="http://purl.org/dc/terms/"/>
  </ds:schemaRefs>
</ds:datastoreItem>
</file>

<file path=customXml/itemProps2.xml><?xml version="1.0" encoding="utf-8"?>
<ds:datastoreItem xmlns:ds="http://schemas.openxmlformats.org/officeDocument/2006/customXml" ds:itemID="{FD7FC771-7DFE-49DA-B577-71181BFBCB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EE8C63A-4744-4DE4-BB49-0FF0B5375C6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Welcome to PowerPoint</Template>
  <TotalTime>0</TotalTime>
  <Words>483</Words>
  <Application>Microsoft Macintosh PowerPoint</Application>
  <PresentationFormat>Widescreen</PresentationFormat>
  <Paragraphs>170</Paragraphs>
  <Slides>13</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Arial</vt:lpstr>
      <vt:lpstr>Calibri</vt:lpstr>
      <vt:lpstr>Consolas</vt:lpstr>
      <vt:lpstr>Segoe UI</vt:lpstr>
      <vt:lpstr>Segoe UI Light</vt:lpstr>
      <vt:lpstr>WelcomeDoc</vt:lpstr>
      <vt:lpstr>ECE 157B/272B Homework 2</vt:lpstr>
      <vt:lpstr>🤗 QA Tasks – “What dataset is used in this tutorial?”</vt:lpstr>
      <vt:lpstr>🤗 QA Tasks – “What is tricky about processing the answer field of the dataset?”</vt:lpstr>
      <vt:lpstr>🤗 QA Tasks – “How are the labels for the answer formatted?”</vt:lpstr>
      <vt:lpstr>🤗 QA Tasks – “What type of tokenizer is needed?”</vt:lpstr>
      <vt:lpstr>🤗 QA Tasks – “How do we deal with long context?”</vt:lpstr>
      <vt:lpstr>🤗 QA Tasks – “What is the stride parameter?”</vt:lpstr>
      <vt:lpstr>🤗 QA Tasks – “What will be the label if the answer got truncated in the splitting process?”</vt:lpstr>
      <vt:lpstr>🤗 QA Tasks – “What is the purpose of overflow_to_sample_mapping?”</vt:lpstr>
      <vt:lpstr>🤗 QA Tasks – “What is the post-process trying to do?”</vt:lpstr>
      <vt:lpstr>🤗 QA Tasks – “What do you need to push the trained model to the Hub?”</vt:lpstr>
      <vt:lpstr>Compare the precision and relevance of answers provided by the BERT and RAG models. Which model performed better overall, and why do you think that is the case? What are the strengths and weaknesses for both models?</vt:lpstr>
      <vt:lpstr>BERT Attention Head Visualization Tasks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cp:lastModifiedBy/>
  <cp:revision>1</cp:revision>
  <dcterms:created xsi:type="dcterms:W3CDTF">2023-01-24T21:25:40Z</dcterms:created>
  <dcterms:modified xsi:type="dcterms:W3CDTF">2025-01-26T06:55:00Z</dcterms:modified>
  <cp:vers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